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8A7F72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937760"/>
            <a:ext cx="3291840" cy="3291840"/>
          </a:xfrm>
          <a:prstGeom prst="ellipse">
            <a:avLst/>
          </a:prstGeom>
          <a:solidFill>
            <a:srgbClr val="5F7268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FA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ROVE  ·  INTERNAL / INVESTOR REVIEW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233172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Cycle Sync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548640" y="32461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F6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tracking to formulation — the D2C opportunity inside the Rove ecosystem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48640" y="5989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7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internal / investor review  ·  Rove Health  ·  16 August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F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supplement aisle gets wrong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457200" cy="457200"/>
          </a:xfrm>
          <a:prstGeom prst="ellipse">
            <a:avLst/>
          </a:prstGeom>
          <a:solidFill>
            <a:srgbClr val="8A7F7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25880" y="187452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formula, every day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943600" y="1874520"/>
            <a:ext cx="5577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5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Taken regardless of what phase her cycle is actually in.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154680"/>
            <a:ext cx="457200" cy="457200"/>
          </a:xfrm>
          <a:prstGeom prst="ellipse">
            <a:avLst/>
          </a:prstGeom>
          <a:solidFill>
            <a:srgbClr val="8FA396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25880" y="310896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Doses chosen for the label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943600" y="3108960"/>
            <a:ext cx="5577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5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for the research being cited on it.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389120"/>
            <a:ext cx="457200" cy="457200"/>
          </a:xfrm>
          <a:prstGeom prst="ellipse">
            <a:avLst/>
          </a:prstGeom>
          <a:solidFill>
            <a:srgbClr val="8A7F72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389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25880" y="434340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feedback loop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943600" y="4343400"/>
            <a:ext cx="5577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5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has no way to know whether it actually worked for her.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F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products for the two states a cycle can be in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52044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E4E0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1488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22960" y="28346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F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1–14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324612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5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Follicular / energy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25112" y="1874520"/>
            <a:ext cx="352044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E4E0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99432" y="21488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Restore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599432" y="28346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F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15–28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99432" y="324612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5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Luteal / PMS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01584" y="1874520"/>
            <a:ext cx="352044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E4E0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75904" y="21488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Balance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375904" y="28346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F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375904" y="324612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5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Cycles without a predictable rhythm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50749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7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Rise and Restore build and wind down with the cycle. Balance is for when there isn’t a predictable cycle to build or wind down.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F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DETAIL, CURRENT STATUS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What’s live, and what isn’t — yet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F6F4EE"/>
          </a:solidFill>
          <a:ln w="12700">
            <a:solidFill>
              <a:srgbClr val="E4E0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4767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24048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5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₹1,499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22960" y="2788920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B8895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78892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LAUNCHED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880360" y="1947672"/>
            <a:ext cx="8503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5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Ferrous bisglycinate iron (29mg elemental / ~100mg bisglycinate) — meaningfully less nausea/constipation than standard ferrous sulfate, at comparable absorption.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38328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F6F4EE"/>
          </a:solidFill>
          <a:ln w="12700">
            <a:solidFill>
              <a:srgbClr val="E4E0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54787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Restore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2960" y="40050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5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₹1,499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" y="4389120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B8895A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38912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LAUNCHED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880360" y="3547872"/>
            <a:ext cx="8503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5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Vitex Agnus Castus standardised to 0.5% agnusides (75mg elemental / ~500mg bisglycinate) — not a crude, unstandardised extract.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98348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9050">
            <a:solidFill>
              <a:srgbClr val="8FA3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514807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Balance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22960" y="56052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5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₹1,599 · 60 tablets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22960" y="5989320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8FA396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598932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880360" y="5148072"/>
            <a:ext cx="8503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5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40:1 myo- to D-chiro-inositol ratio — the strongest result (5 of 8 women resumed menstruation) of seven ratios compared head-to-head.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1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A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THAT'S LIVE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Balance's headline result — stated with its own limits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212080" cy="2834640"/>
          </a:xfrm>
          <a:prstGeom prst="roundRect">
            <a:avLst>
              <a:gd name="adj" fmla="val 3226"/>
            </a:avLst>
          </a:prstGeom>
          <a:solidFill>
            <a:srgbClr val="26261F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14884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8FA3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/ 8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868680" y="320040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6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resumed menstruation at the 40:1 ratio — the strongest result of seven ratios tested head-to-head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035040" y="1920240"/>
            <a:ext cx="5577840" cy="2834640"/>
          </a:xfrm>
          <a:prstGeom prst="roundRect">
            <a:avLst>
              <a:gd name="adj" fmla="val 3226"/>
            </a:avLst>
          </a:prstGeom>
          <a:solidFill>
            <a:srgbClr val="26261F"/>
          </a:solidFill>
          <a:ln w="12700">
            <a:solidFill>
              <a:srgbClr val="B889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55080" y="21488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88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Stated on the product page, not hidden: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355080" y="2560320"/>
            <a:ext cx="4937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comparison study, not a guarantee: 8 women per arm, open-label, and about 4x this tablet’s total inositol dose.”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5029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FA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moat: a competitor whose model runs on unfalsifiable claims cannot copy a page that states its own weakness.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F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 SINGLE LAYER IS DEFENSIBLE ALONE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flywheel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6060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0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1945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" y="269748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5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cycle and symptom logging makes a recommendation specific to her.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154680" y="28803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A7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429000" y="2011680"/>
            <a:ext cx="26060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0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0" y="21945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657600" y="269748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5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intelligence turns raw logs into a pattern she can act on.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035040" y="28803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A7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309360" y="2011680"/>
            <a:ext cx="2606040" cy="2286000"/>
          </a:xfrm>
          <a:prstGeom prst="roundRect">
            <a:avLst>
              <a:gd name="adj" fmla="val 4000"/>
            </a:avLst>
          </a:prstGeom>
          <a:solidFill>
            <a:srgbClr val="8FA396"/>
          </a:solidFill>
          <a:ln w="12700">
            <a:solidFill>
              <a:srgbClr val="8FA3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37960" y="21945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537960" y="269748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Sync gives her a reason to keep tracking — and something to track against.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915400" y="28803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A7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9189720" y="2011680"/>
            <a:ext cx="26060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E0D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418320" y="21945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418320" y="269748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5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at-home hormone strips turn inference into measurement.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46634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A7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Sync is the “Act” layer — it exists because Track and Understand already exist, and it strengthens both by giving her a reason to keep using them.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F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Convert existing app users first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9496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E4E0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0574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B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pitch to an existing user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60604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F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“You’re already tracking this — here’s the formula that matches it.”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356616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53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own logged phase and symptoms pre-qualify and personalize the offer before she ever sees an ad.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72200" y="1828800"/>
            <a:ext cx="5440680" cy="3108960"/>
          </a:xfrm>
          <a:prstGeom prst="roundRect">
            <a:avLst>
              <a:gd name="adj" fmla="val 2941"/>
            </a:avLst>
          </a:prstGeom>
          <a:solidFill>
            <a:srgbClr val="1B1B18"/>
          </a:solidFill>
          <a:ln/>
        </p:spPr>
      </p:sp>
      <p:sp>
        <p:nvSpPr>
          <p:cNvPr id="9" name="Text 7"/>
          <p:cNvSpPr/>
          <p:nvPr/>
        </p:nvSpPr>
        <p:spPr>
          <a:xfrm>
            <a:off x="6446520" y="20574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vs. a cold D2C customer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46520" y="260604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FA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Near-zero incremental CAC on the existing base, ahead of any spend on broad paid acquisition.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46520" y="356616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6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acquisition is the next motion once the base is converted — not the first one.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1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89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SAID PLAINLY, BEFORE THIS GOES FURTHER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open items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1064240" cy="1737360"/>
          </a:xfrm>
          <a:prstGeom prst="roundRect">
            <a:avLst>
              <a:gd name="adj" fmla="val 5263"/>
            </a:avLst>
          </a:prstGeom>
          <a:solidFill>
            <a:srgbClr val="26261F"/>
          </a:solidFill>
          <a:ln w="12700">
            <a:solidFill>
              <a:srgbClr val="B889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05740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89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 “PMOS” vs. “PCOS”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423160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6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Balance’s live product copy uses “PMOS” throughout (phase label, description, FAQs), where “PCOS” is the standard clinical term. Needs a decision — typo or intentional — and a fix before wider circulation.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3794760"/>
            <a:ext cx="11064240" cy="1737360"/>
          </a:xfrm>
          <a:prstGeom prst="roundRect">
            <a:avLst>
              <a:gd name="adj" fmla="val 5263"/>
            </a:avLst>
          </a:prstGeom>
          <a:solidFill>
            <a:srgbClr val="26261F"/>
          </a:solidFill>
          <a:ln w="12700">
            <a:solidFill>
              <a:srgbClr val="B889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397764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89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 Rise and Restore aren't live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4343400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6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formulated and priced, but no live Shopify listing yet. Launching them to the existing tracked-user base is the nearest-term unlock described in this deck.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1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645920"/>
            <a:ext cx="5029200" cy="5029200"/>
          </a:xfrm>
          <a:prstGeom prst="ellipse">
            <a:avLst/>
          </a:prstGeom>
          <a:solidFill>
            <a:srgbClr val="5F7268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A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need to move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566160" cy="2651760"/>
          </a:xfrm>
          <a:prstGeom prst="roundRect">
            <a:avLst>
              <a:gd name="adj" fmla="val 3448"/>
            </a:avLst>
          </a:prstGeom>
          <a:solidFill>
            <a:srgbClr val="26261F"/>
          </a:solidFill>
          <a:ln w="12700">
            <a:solidFill>
              <a:srgbClr val="8A7F7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2402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FA3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Launch Rise + Restore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292608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6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Shopify listing, inventory, and a committed timeline.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43400" y="1965960"/>
            <a:ext cx="3566160" cy="2651760"/>
          </a:xfrm>
          <a:prstGeom prst="roundRect">
            <a:avLst>
              <a:gd name="adj" fmla="val 3448"/>
            </a:avLst>
          </a:prstGeom>
          <a:solidFill>
            <a:srgbClr val="26261F"/>
          </a:solidFill>
          <a:ln w="12700">
            <a:solidFill>
              <a:srgbClr val="8A7F7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17720" y="22402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FA3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Resolve PMOS / PCOS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617720" y="292608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6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decision on the product copy before any wider circulation.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138160" y="1965960"/>
            <a:ext cx="3566160" cy="2651760"/>
          </a:xfrm>
          <a:prstGeom prst="roundRect">
            <a:avLst>
              <a:gd name="adj" fmla="val 3448"/>
            </a:avLst>
          </a:prstGeom>
          <a:solidFill>
            <a:srgbClr val="26261F"/>
          </a:solidFill>
          <a:ln w="12700">
            <a:solidFill>
              <a:srgbClr val="8A7F7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0" y="22402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FA3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Sequence the GTM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412480" y="292608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6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existing-user conversion runs before paid acquisition spend.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62636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7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Rove Health  ·  Internal / investor review  ·  team@rovehealth.in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Rove Health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Cycle Sync — D2C GTM (Internal)</dc:title>
  <dc:subject>PptxGenJS Presentation</dc:subject>
  <dc:creator>Rove Health</dc:creator>
  <cp:lastModifiedBy>Rove Health</cp:lastModifiedBy>
  <cp:revision>1</cp:revision>
  <dcterms:created xsi:type="dcterms:W3CDTF">2026-08-16T11:48:35Z</dcterms:created>
  <dcterms:modified xsi:type="dcterms:W3CDTF">2026-08-16T11:48:35Z</dcterms:modified>
</cp:coreProperties>
</file>