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BBT confirmed ovulation</c:v>
                </c:pt>
              </c:strCache>
            </c:strRef>
          </c:tx>
          <c:spPr>
            <a:solidFill>
              <a:srgbClr val="3F8A76"/>
            </a:solidFill>
            <a:effectLst/>
          </c:spPr>
          <c:invertIfNegative val="0"/>
          <c:dLbls>
            <c:numFmt formatCode="0&quot;%&quot;" sourceLinked="0"/>
            <c:txPr>
              <a:bodyPr/>
              <a:lstStyle/>
              <a:p>
                <a:pPr>
                  <a:defRPr b="0" i="0" strike="noStrike" sz="1000" u="none">
                    <a:solidFill>
                      <a:srgbClr val="17140F"/>
                    </a:solidFill>
                    <a:latin typeface="Arial"/>
                  </a:defRPr>
                </a:pPr>
              </a:p>
            </c:txPr>
            <c:showLegendKey val="0"/>
            <c:showVal val="1"/>
            <c:showCatName val="0"/>
            <c:showSerName val="0"/>
            <c:showPercent val="0"/>
            <c:showBubbleSize val="0"/>
            <c:showLeaderLines val="0"/>
          </c:dLbls>
          <c:cat>
            <c:multiLvlStrRef>
              <c:f>Sheet1!$A$2:$A$5</c:f>
              <c:multiLvlStrCache>
                <c:ptCount val="4"/>
                <c:lvl>
                  <c:pt idx="0">
                    <c:v>Diligent
logger</c:v>
                  </c:pt>
                  <c:pt idx="1">
                    <c:v>Irregular
cycles</c:v>
                  </c:pt>
                  <c:pt idx="2">
                    <c:v>New
user</c:v>
                  </c:pt>
                  <c:pt idx="3">
                    <c:v>Sparse
logger</c:v>
                  </c:pt>
                </c:lvl>
              </c:multiLvlStrCache>
            </c:multiLvlStrRef>
          </c:cat>
          <c:val>
            <c:numRef>
              <c:f>Sheet1!$B$2:$B$5</c:f>
              <c:numCache>
                <c:formatCode>General</c:formatCode>
                <c:ptCount val="4"/>
                <c:pt idx="0">
                  <c:v>89</c:v>
                </c:pt>
                <c:pt idx="1">
                  <c:v>89</c:v>
                </c:pt>
                <c:pt idx="2">
                  <c:v>94</c:v>
                </c:pt>
                <c:pt idx="3">
                  <c:v>77</c:v>
                </c:pt>
              </c:numCache>
            </c:numRef>
          </c:val>
        </c:ser>
        <c:ser>
          <c:idx val="1"/>
          <c:order val="1"/>
          <c:tx>
            <c:strRef>
              <c:f>Sheet1!$C$1</c:f>
              <c:strCache>
                <c:ptCount val="1"/>
                <c:pt idx="0">
                  <c:v>OPK/LH predicted ovulation</c:v>
                </c:pt>
              </c:strCache>
            </c:strRef>
          </c:tx>
          <c:spPr>
            <a:solidFill>
              <a:srgbClr val="C6862A"/>
            </a:solidFill>
            <a:effectLst/>
          </c:spPr>
          <c:invertIfNegative val="0"/>
          <c:dLbls>
            <c:numFmt formatCode="0&quot;%&quot;" sourceLinked="0"/>
            <c:txPr>
              <a:bodyPr/>
              <a:lstStyle/>
              <a:p>
                <a:pPr>
                  <a:defRPr b="0" i="0" strike="noStrike" sz="1000" u="none">
                    <a:solidFill>
                      <a:srgbClr val="17140F"/>
                    </a:solidFill>
                    <a:latin typeface="Arial"/>
                  </a:defRPr>
                </a:pPr>
              </a:p>
            </c:txPr>
            <c:showLegendKey val="0"/>
            <c:showVal val="1"/>
            <c:showCatName val="0"/>
            <c:showSerName val="0"/>
            <c:showPercent val="0"/>
            <c:showBubbleSize val="0"/>
            <c:showLeaderLines val="0"/>
          </c:dLbls>
          <c:cat>
            <c:multiLvlStrRef>
              <c:f>Sheet1!$A$2:$A$5</c:f>
              <c:multiLvlStrCache>
                <c:ptCount val="4"/>
                <c:lvl>
                  <c:pt idx="0">
                    <c:v>Diligent
logger</c:v>
                  </c:pt>
                  <c:pt idx="1">
                    <c:v>Irregular
cycles</c:v>
                  </c:pt>
                  <c:pt idx="2">
                    <c:v>New
user</c:v>
                  </c:pt>
                  <c:pt idx="3">
                    <c:v>Sparse
logger</c:v>
                  </c:pt>
                </c:lvl>
              </c:multiLvlStrCache>
            </c:multiLvlStrRef>
          </c:cat>
          <c:val>
            <c:numRef>
              <c:f>Sheet1!$C$2:$C$5</c:f>
              <c:numCache>
                <c:formatCode>General</c:formatCode>
                <c:ptCount val="4"/>
                <c:pt idx="0">
                  <c:v>98</c:v>
                </c:pt>
                <c:pt idx="1">
                  <c:v>96</c:v>
                </c:pt>
                <c:pt idx="2">
                  <c:v>97</c:v>
                </c:pt>
                <c:pt idx="3">
                  <c:v>78</c:v>
                </c:pt>
              </c:numCache>
            </c:numRef>
          </c:val>
        </c:ser>
        <c:dLbls>
          <c:numFmt formatCode="0&quot;%&quot;" sourceLinked="0"/>
          <c:txPr>
            <a:bodyPr/>
            <a:lstStyle/>
            <a:p>
              <a:pPr>
                <a:defRPr b="0" i="0" strike="noStrike" sz="1000" u="none">
                  <a:solidFill>
                    <a:srgbClr val="17140F"/>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50" b="0" i="0" u="none" strike="noStrike">
                <a:solidFill>
                  <a:srgbClr val="7D6E5C"/>
                </a:solidFill>
                <a:latin typeface="Arial"/>
              </a:defRPr>
            </a:pPr>
            <a:endParaRPr lang="en-US"/>
          </a:p>
        </c:txPr>
        <c:crossAx val="2094734552"/>
        <c:crosses val="autoZero"/>
        <c:auto val="1"/>
        <c:lblAlgn val="ctr"/>
        <c:noMultiLvlLbl val="1"/>
      </c:catAx>
      <c:valAx>
        <c:axId val="2094734552"/>
        <c:scaling>
          <c:orientation val="minMax"/>
          <c:max val="115"/>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7140F"/>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submission: confirm company incorporation date falls within the last 2 years (GENESIS EIR eligibility), and confirm AIC-SMU TBI as the selected preferred incubator on the application form per the program listing. These are eligibility facts not present in the repo and should be verified by the founders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40F"/>
        </a:solidFill>
      </p:bgPr>
    </p:bg>
    <p:spTree>
      <p:nvGrpSpPr>
        <p:cNvPr id="1" name=""/>
        <p:cNvGrpSpPr/>
        <p:nvPr/>
      </p:nvGrpSpPr>
      <p:grpSpPr>
        <a:xfrm>
          <a:off x="0" y="0"/>
          <a:ext cx="0" cy="0"/>
          <a:chOff x="0" y="0"/>
          <a:chExt cx="0" cy="0"/>
        </a:xfrm>
      </p:grpSpPr>
      <p:sp>
        <p:nvSpPr>
          <p:cNvPr id="2" name="Shape 0"/>
          <p:cNvSpPr/>
          <p:nvPr/>
        </p:nvSpPr>
        <p:spPr>
          <a:xfrm>
            <a:off x="822960" y="777240"/>
            <a:ext cx="457200" cy="457200"/>
          </a:xfrm>
          <a:prstGeom prst="ellipse">
            <a:avLst/>
          </a:prstGeom>
          <a:solidFill>
            <a:srgbClr val="3F8A76"/>
          </a:solidFill>
          <a:ln/>
        </p:spPr>
      </p:sp>
      <p:sp>
        <p:nvSpPr>
          <p:cNvPr id="3" name="Shape 1"/>
          <p:cNvSpPr/>
          <p:nvPr/>
        </p:nvSpPr>
        <p:spPr>
          <a:xfrm rot="10800000">
            <a:off x="896112" y="1170432"/>
            <a:ext cx="310896" cy="384048"/>
          </a:xfrm>
          <a:prstGeom prst="triangle">
            <a:avLst/>
          </a:prstGeom>
          <a:solidFill>
            <a:srgbClr val="3F8A76"/>
          </a:solidFill>
          <a:ln/>
        </p:spPr>
      </p:sp>
      <p:sp>
        <p:nvSpPr>
          <p:cNvPr id="4" name="Text 2"/>
          <p:cNvSpPr/>
          <p:nvPr/>
        </p:nvSpPr>
        <p:spPr>
          <a:xfrm>
            <a:off x="822960" y="1783080"/>
            <a:ext cx="9144000" cy="365760"/>
          </a:xfrm>
          <a:prstGeom prst="rect">
            <a:avLst/>
          </a:prstGeom>
          <a:noFill/>
          <a:ln/>
        </p:spPr>
        <p:txBody>
          <a:bodyPr wrap="square" lIns="0" tIns="0" rIns="0" bIns="0" rtlCol="0" anchor="ctr"/>
          <a:lstStyle/>
          <a:p>
            <a:pPr indent="0" marL="0">
              <a:buNone/>
            </a:pPr>
            <a:r>
              <a:rPr lang="en-US" sz="1300" b="1" spc="150" kern="0" dirty="0">
                <a:solidFill>
                  <a:srgbClr val="C6862A"/>
                </a:solidFill>
                <a:latin typeface="Calibri" pitchFamily="34" charset="0"/>
                <a:ea typeface="Calibri" pitchFamily="34" charset="-122"/>
                <a:cs typeface="Calibri" pitchFamily="34" charset="-120"/>
              </a:rPr>
              <a:t>GENESIS EIR 3.0  ·  MeitY Startup Hub  ·  Deep Tech Track</a:t>
            </a:r>
            <a:endParaRPr lang="en-US" sz="1300" dirty="0"/>
          </a:p>
        </p:txBody>
      </p:sp>
      <p:sp>
        <p:nvSpPr>
          <p:cNvPr id="5" name="Text 3"/>
          <p:cNvSpPr/>
          <p:nvPr/>
        </p:nvSpPr>
        <p:spPr>
          <a:xfrm>
            <a:off x="822960" y="2286000"/>
            <a:ext cx="10332720" cy="1554480"/>
          </a:xfrm>
          <a:prstGeom prst="rect">
            <a:avLst/>
          </a:prstGeom>
          <a:noFill/>
          <a:ln/>
        </p:spPr>
        <p:txBody>
          <a:bodyPr wrap="square" lIns="0" tIns="0" rIns="0" bIns="0" rtlCol="0" anchor="t"/>
          <a:lstStyle/>
          <a:p>
            <a:pPr indent="0" marL="0">
              <a:lnSpc>
                <a:spcPct val="102000"/>
              </a:lnSpc>
              <a:buNone/>
            </a:pPr>
            <a:r>
              <a:rPr lang="en-US" sz="4400" b="1" dirty="0">
                <a:solidFill>
                  <a:srgbClr val="FAF9F6"/>
                </a:solidFill>
                <a:latin typeface="Calibri" pitchFamily="34" charset="0"/>
                <a:ea typeface="Calibri" pitchFamily="34" charset="-122"/>
                <a:cs typeface="Calibri" pitchFamily="34" charset="-120"/>
              </a:rPr>
              <a:t>Semi-Quantitative Ovulation Diagnostics</a:t>
            </a:r>
            <a:endParaRPr lang="en-US" sz="4400" dirty="0"/>
          </a:p>
        </p:txBody>
      </p:sp>
      <p:sp>
        <p:nvSpPr>
          <p:cNvPr id="6" name="Text 4"/>
          <p:cNvSpPr/>
          <p:nvPr/>
        </p:nvSpPr>
        <p:spPr>
          <a:xfrm>
            <a:off x="822960" y="3703320"/>
            <a:ext cx="8778240" cy="822960"/>
          </a:xfrm>
          <a:prstGeom prst="rect">
            <a:avLst/>
          </a:prstGeom>
          <a:noFill/>
          <a:ln/>
        </p:spPr>
        <p:txBody>
          <a:bodyPr wrap="square" lIns="0" tIns="0" rIns="0" bIns="0" rtlCol="0" anchor="t"/>
          <a:lstStyle/>
          <a:p>
            <a:pPr indent="0" marL="0">
              <a:lnSpc>
                <a:spcPct val="125000"/>
              </a:lnSpc>
              <a:buNone/>
            </a:pPr>
            <a:r>
              <a:rPr lang="en-US" sz="1600" dirty="0">
                <a:solidFill>
                  <a:srgbClr val="CABAA9"/>
                </a:solidFill>
                <a:latin typeface="Cambria" pitchFamily="34" charset="0"/>
                <a:ea typeface="Cambria" pitchFamily="34" charset="-122"/>
                <a:cs typeface="Cambria" pitchFamily="34" charset="-120"/>
              </a:rPr>
              <a:t>A personalized, multi-signal fertility algorithm — from a graded diagnostic strip read on her phone, to a confidence-graded ovulation estimate she can trust.</a:t>
            </a:r>
            <a:endParaRPr lang="en-US" sz="1600" dirty="0"/>
          </a:p>
        </p:txBody>
      </p:sp>
      <p:sp>
        <p:nvSpPr>
          <p:cNvPr id="7" name="Shape 5"/>
          <p:cNvSpPr/>
          <p:nvPr/>
        </p:nvSpPr>
        <p:spPr>
          <a:xfrm>
            <a:off x="822960" y="4892040"/>
            <a:ext cx="5486400" cy="0"/>
          </a:xfrm>
          <a:prstGeom prst="line">
            <a:avLst/>
          </a:prstGeom>
          <a:noFill/>
          <a:ln w="12700">
            <a:solidFill>
              <a:srgbClr val="332D22"/>
            </a:solidFill>
            <a:prstDash val="solid"/>
          </a:ln>
        </p:spPr>
      </p:sp>
      <p:sp>
        <p:nvSpPr>
          <p:cNvPr id="8" name="Text 6"/>
          <p:cNvSpPr/>
          <p:nvPr/>
        </p:nvSpPr>
        <p:spPr>
          <a:xfrm>
            <a:off x="822960" y="5074920"/>
            <a:ext cx="4572000" cy="320040"/>
          </a:xfrm>
          <a:prstGeom prst="rect">
            <a:avLst/>
          </a:prstGeom>
          <a:noFill/>
          <a:ln/>
        </p:spPr>
        <p:txBody>
          <a:bodyPr wrap="square" lIns="0" tIns="0" rIns="0" bIns="0" rtlCol="0" anchor="ctr"/>
          <a:lstStyle/>
          <a:p>
            <a:pPr indent="0" marL="0">
              <a:buNone/>
            </a:pPr>
            <a:r>
              <a:rPr lang="en-US" sz="1300" b="1" dirty="0">
                <a:solidFill>
                  <a:srgbClr val="FAF9F6"/>
                </a:solidFill>
                <a:latin typeface="Calibri" pitchFamily="34" charset="0"/>
                <a:ea typeface="Calibri" pitchFamily="34" charset="-122"/>
                <a:cs typeface="Calibri" pitchFamily="34" charset="-120"/>
              </a:rPr>
              <a:t>Rove Health</a:t>
            </a:r>
            <a:endParaRPr lang="en-US" sz="1300" dirty="0"/>
          </a:p>
        </p:txBody>
      </p:sp>
      <p:sp>
        <p:nvSpPr>
          <p:cNvPr id="9" name="Text 7"/>
          <p:cNvSpPr/>
          <p:nvPr/>
        </p:nvSpPr>
        <p:spPr>
          <a:xfrm>
            <a:off x="822960" y="5394960"/>
            <a:ext cx="7315200" cy="320040"/>
          </a:xfrm>
          <a:prstGeom prst="rect">
            <a:avLst/>
          </a:prstGeom>
          <a:noFill/>
          <a:ln/>
        </p:spPr>
        <p:txBody>
          <a:bodyPr wrap="square" lIns="0" tIns="0" rIns="0" bIns="0" rtlCol="0" anchor="ctr"/>
          <a:lstStyle/>
          <a:p>
            <a:pPr indent="0" marL="0">
              <a:buNone/>
            </a:pPr>
            <a:r>
              <a:rPr lang="en-US" sz="1250" dirty="0">
                <a:solidFill>
                  <a:srgbClr val="CABAA9"/>
                </a:solidFill>
                <a:latin typeface="Cambria" pitchFamily="34" charset="0"/>
                <a:ea typeface="Cambria" pitchFamily="34" charset="-122"/>
                <a:cs typeface="Cambria" pitchFamily="34" charset="-120"/>
              </a:rPr>
              <a:t>Dr. Aditya Oswal  ·  Dr. Chaitanya Kalra  —  Mumbai</a:t>
            </a:r>
            <a:endParaRPr lang="en-US" sz="1250" dirty="0"/>
          </a:p>
        </p:txBody>
      </p:sp>
      <p:sp>
        <p:nvSpPr>
          <p:cNvPr id="10" name="Text 8"/>
          <p:cNvSpPr/>
          <p:nvPr/>
        </p:nvSpPr>
        <p:spPr>
          <a:xfrm>
            <a:off x="822960" y="6309360"/>
            <a:ext cx="5486400" cy="274320"/>
          </a:xfrm>
          <a:prstGeom prst="rect">
            <a:avLst/>
          </a:prstGeom>
          <a:noFill/>
          <a:ln/>
        </p:spPr>
        <p:txBody>
          <a:bodyPr wrap="square" lIns="0" tIns="0" rIns="0" bIns="0" rtlCol="0" anchor="ctr"/>
          <a:lstStyle/>
          <a:p>
            <a:pPr indent="0" marL="0">
              <a:buNone/>
            </a:pPr>
            <a:r>
              <a:rPr lang="en-US" sz="1000" dirty="0">
                <a:solidFill>
                  <a:srgbClr val="7D6E5C"/>
                </a:solidFill>
                <a:latin typeface="Courier New" pitchFamily="34" charset="0"/>
                <a:ea typeface="Courier New" pitchFamily="34" charset="-122"/>
                <a:cs typeface="Courier New" pitchFamily="34" charset="-120"/>
              </a:rPr>
              <a:t>rovehealth.in  ·  team@rovehealth.in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200" kern="0" dirty="0">
                <a:solidFill>
                  <a:srgbClr val="7D6E5C"/>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02920" y="786384"/>
            <a:ext cx="11185855" cy="777240"/>
          </a:xfrm>
          <a:prstGeom prst="rect">
            <a:avLst/>
          </a:prstGeom>
          <a:noFill/>
          <a:ln/>
        </p:spPr>
        <p:txBody>
          <a:bodyPr wrap="square" lIns="0" tIns="0" rIns="0" bIns="0" rtlCol="0" anchor="t"/>
          <a:lstStyle/>
          <a:p>
            <a:pPr indent="0" marL="0">
              <a:buNone/>
            </a:pPr>
            <a:r>
              <a:rPr lang="en-US" sz="3000" b="1" dirty="0">
                <a:solidFill>
                  <a:srgbClr val="17140F"/>
                </a:solidFill>
                <a:latin typeface="Calibri" pitchFamily="34" charset="0"/>
                <a:ea typeface="Calibri" pitchFamily="34" charset="-122"/>
                <a:cs typeface="Calibri" pitchFamily="34" charset="-120"/>
              </a:rPr>
              <a:t>A diagnosis without an instruction — and no way to measure at home</a:t>
            </a:r>
            <a:endParaRPr lang="en-US" sz="3000" dirty="0"/>
          </a:p>
        </p:txBody>
      </p:sp>
      <p:sp>
        <p:nvSpPr>
          <p:cNvPr id="4" name="Shape 2"/>
          <p:cNvSpPr/>
          <p:nvPr/>
        </p:nvSpPr>
        <p:spPr>
          <a:xfrm>
            <a:off x="502920" y="1828800"/>
            <a:ext cx="2743200" cy="1737360"/>
          </a:xfrm>
          <a:prstGeom prst="roundRect">
            <a:avLst>
              <a:gd name="adj" fmla="val 4211"/>
            </a:avLst>
          </a:prstGeom>
          <a:solidFill>
            <a:srgbClr val="FDFCFB"/>
          </a:solidFill>
          <a:ln w="12700">
            <a:solidFill>
              <a:srgbClr val="DDD0C1"/>
            </a:solidFill>
            <a:prstDash val="solid"/>
          </a:ln>
          <a:effectLst>
            <a:outerShdw sx="100000" sy="100000" kx="0" ky="0" algn="bl" rotWithShape="0" blurRad="76200" dist="25400" dir="5400000">
              <a:srgbClr val="17140F">
                <a:alpha val="12000"/>
              </a:srgbClr>
            </a:outerShdw>
          </a:effectLst>
        </p:spPr>
      </p:sp>
      <p:sp>
        <p:nvSpPr>
          <p:cNvPr id="5" name="Text 3"/>
          <p:cNvSpPr/>
          <p:nvPr/>
        </p:nvSpPr>
        <p:spPr>
          <a:xfrm>
            <a:off x="704088" y="1993392"/>
            <a:ext cx="2340864" cy="729691"/>
          </a:xfrm>
          <a:prstGeom prst="rect">
            <a:avLst/>
          </a:prstGeom>
          <a:noFill/>
          <a:ln/>
        </p:spPr>
        <p:txBody>
          <a:bodyPr wrap="square" lIns="0" tIns="0" rIns="0" bIns="0" rtlCol="0" anchor="ctr"/>
          <a:lstStyle/>
          <a:p>
            <a:pPr indent="0" marL="0">
              <a:buNone/>
            </a:pPr>
            <a:r>
              <a:rPr lang="en-US" sz="3000" b="1" dirty="0">
                <a:solidFill>
                  <a:srgbClr val="234840"/>
                </a:solidFill>
                <a:latin typeface="Calibri" pitchFamily="34" charset="0"/>
                <a:ea typeface="Calibri" pitchFamily="34" charset="-122"/>
                <a:cs typeface="Calibri" pitchFamily="34" charset="-120"/>
              </a:rPr>
              <a:t>~1 in 5</a:t>
            </a:r>
            <a:endParaRPr lang="en-US" sz="3000" dirty="0"/>
          </a:p>
        </p:txBody>
      </p:sp>
      <p:sp>
        <p:nvSpPr>
          <p:cNvPr id="6" name="Text 4"/>
          <p:cNvSpPr/>
          <p:nvPr/>
        </p:nvSpPr>
        <p:spPr>
          <a:xfrm>
            <a:off x="704088" y="2784348"/>
            <a:ext cx="2340864" cy="694944"/>
          </a:xfrm>
          <a:prstGeom prst="rect">
            <a:avLst/>
          </a:prstGeom>
          <a:noFill/>
          <a:ln/>
        </p:spPr>
        <p:txBody>
          <a:bodyPr wrap="square" lIns="0" tIns="0" rIns="0" bIns="0" rtlCol="0" anchor="t"/>
          <a:lstStyle/>
          <a:p>
            <a:pPr indent="0" marL="0">
              <a:lnSpc>
                <a:spcPct val="108000"/>
              </a:lnSpc>
              <a:buNone/>
            </a:pPr>
            <a:r>
              <a:rPr lang="en-US" sz="1150" dirty="0">
                <a:solidFill>
                  <a:srgbClr val="17140F"/>
                </a:solidFill>
                <a:latin typeface="Cambria" pitchFamily="34" charset="0"/>
                <a:ea typeface="Cambria" pitchFamily="34" charset="-122"/>
                <a:cs typeface="Cambria" pitchFamily="34" charset="-120"/>
              </a:rPr>
              <a:t>Indian women affected by PCOS — chronically elevated, non-surging LH that fixed-threshold tests misread.</a:t>
            </a:r>
            <a:endParaRPr lang="en-US" sz="1150" dirty="0"/>
          </a:p>
        </p:txBody>
      </p:sp>
      <p:sp>
        <p:nvSpPr>
          <p:cNvPr id="7" name="Shape 5"/>
          <p:cNvSpPr/>
          <p:nvPr/>
        </p:nvSpPr>
        <p:spPr>
          <a:xfrm>
            <a:off x="3474720" y="1828800"/>
            <a:ext cx="2743200" cy="1737360"/>
          </a:xfrm>
          <a:prstGeom prst="roundRect">
            <a:avLst>
              <a:gd name="adj" fmla="val 4211"/>
            </a:avLst>
          </a:prstGeom>
          <a:solidFill>
            <a:srgbClr val="FDFCFB"/>
          </a:solidFill>
          <a:ln w="12700">
            <a:solidFill>
              <a:srgbClr val="DDD0C1"/>
            </a:solidFill>
            <a:prstDash val="solid"/>
          </a:ln>
          <a:effectLst>
            <a:outerShdw sx="100000" sy="100000" kx="0" ky="0" algn="bl" rotWithShape="0" blurRad="76200" dist="25400" dir="5400000">
              <a:srgbClr val="17140F">
                <a:alpha val="12000"/>
              </a:srgbClr>
            </a:outerShdw>
          </a:effectLst>
        </p:spPr>
      </p:sp>
      <p:sp>
        <p:nvSpPr>
          <p:cNvPr id="8" name="Text 6"/>
          <p:cNvSpPr/>
          <p:nvPr/>
        </p:nvSpPr>
        <p:spPr>
          <a:xfrm>
            <a:off x="3675888" y="1993392"/>
            <a:ext cx="2340864" cy="729691"/>
          </a:xfrm>
          <a:prstGeom prst="rect">
            <a:avLst/>
          </a:prstGeom>
          <a:noFill/>
          <a:ln/>
        </p:spPr>
        <p:txBody>
          <a:bodyPr wrap="square" lIns="0" tIns="0" rIns="0" bIns="0" rtlCol="0" anchor="ctr"/>
          <a:lstStyle/>
          <a:p>
            <a:pPr indent="0" marL="0">
              <a:buNone/>
            </a:pPr>
            <a:r>
              <a:rPr lang="en-US" sz="3000" b="1" dirty="0">
                <a:solidFill>
                  <a:srgbClr val="7A4F16"/>
                </a:solidFill>
                <a:latin typeface="Calibri" pitchFamily="34" charset="0"/>
                <a:ea typeface="Calibri" pitchFamily="34" charset="-122"/>
                <a:cs typeface="Calibri" pitchFamily="34" charset="-120"/>
              </a:rPr>
              <a:t>Years</a:t>
            </a:r>
            <a:endParaRPr lang="en-US" sz="3000" dirty="0"/>
          </a:p>
        </p:txBody>
      </p:sp>
      <p:sp>
        <p:nvSpPr>
          <p:cNvPr id="9" name="Text 7"/>
          <p:cNvSpPr/>
          <p:nvPr/>
        </p:nvSpPr>
        <p:spPr>
          <a:xfrm>
            <a:off x="3675888" y="2784348"/>
            <a:ext cx="2340864" cy="694944"/>
          </a:xfrm>
          <a:prstGeom prst="rect">
            <a:avLst/>
          </a:prstGeom>
          <a:noFill/>
          <a:ln/>
        </p:spPr>
        <p:txBody>
          <a:bodyPr wrap="square" lIns="0" tIns="0" rIns="0" bIns="0" rtlCol="0" anchor="t"/>
          <a:lstStyle/>
          <a:p>
            <a:pPr indent="0" marL="0">
              <a:lnSpc>
                <a:spcPct val="108000"/>
              </a:lnSpc>
              <a:buNone/>
            </a:pPr>
            <a:r>
              <a:rPr lang="en-US" sz="1150" dirty="0">
                <a:solidFill>
                  <a:srgbClr val="17140F"/>
                </a:solidFill>
                <a:latin typeface="Cambria" pitchFamily="34" charset="0"/>
                <a:ea typeface="Cambria" pitchFamily="34" charset="-122"/>
                <a:cs typeface="Cambria" pitchFamily="34" charset="-120"/>
              </a:rPr>
              <a:t>the average time to a PCOS diagnosis, with few affected women seeing a gynaecologist yearly.</a:t>
            </a:r>
            <a:endParaRPr lang="en-US" sz="1150" dirty="0"/>
          </a:p>
        </p:txBody>
      </p:sp>
      <p:sp>
        <p:nvSpPr>
          <p:cNvPr id="10" name="Text 8"/>
          <p:cNvSpPr/>
          <p:nvPr/>
        </p:nvSpPr>
        <p:spPr>
          <a:xfrm>
            <a:off x="502920" y="3886200"/>
            <a:ext cx="5623560" cy="2103120"/>
          </a:xfrm>
          <a:prstGeom prst="rect">
            <a:avLst/>
          </a:prstGeom>
          <a:noFill/>
          <a:ln/>
        </p:spPr>
        <p:txBody>
          <a:bodyPr wrap="square" lIns="0" tIns="0" rIns="0" bIns="0" rtlCol="0" anchor="t"/>
          <a:lstStyle/>
          <a:p>
            <a:pPr indent="0" marL="0">
              <a:lnSpc>
                <a:spcPct val="130000"/>
              </a:lnSpc>
              <a:buNone/>
            </a:pPr>
            <a:r>
              <a:rPr lang="en-US" sz="1500" dirty="0">
                <a:solidFill>
                  <a:srgbClr val="17140F"/>
                </a:solidFill>
                <a:latin typeface="Cambria" pitchFamily="34" charset="0"/>
                <a:ea typeface="Cambria" pitchFamily="34" charset="-122"/>
                <a:cs typeface="Cambria" pitchFamily="34" charset="-120"/>
              </a:rPr>
              <a:t>Consumer ovulation tests assign one hormone cutoff to every woman and one 28-day cycle to every body — exactly backwards from where the help is most needed. Lab-grade hormone assays are accurate, but need a clinic visit, a blood draw and days for results: not something a woman can repeat daily to actually catch her fertile window.</a:t>
            </a:r>
            <a:endParaRPr lang="en-US" sz="1500" dirty="0"/>
          </a:p>
        </p:txBody>
      </p:sp>
      <p:sp>
        <p:nvSpPr>
          <p:cNvPr id="11" name="Shape 9"/>
          <p:cNvSpPr/>
          <p:nvPr/>
        </p:nvSpPr>
        <p:spPr>
          <a:xfrm>
            <a:off x="6903720" y="1828800"/>
            <a:ext cx="4800600" cy="4160520"/>
          </a:xfrm>
          <a:prstGeom prst="roundRect">
            <a:avLst>
              <a:gd name="adj" fmla="val 2198"/>
            </a:avLst>
          </a:prstGeom>
          <a:solidFill>
            <a:srgbClr val="FDFCFB"/>
          </a:solidFill>
          <a:ln w="12700">
            <a:solidFill>
              <a:srgbClr val="DDD0C1"/>
            </a:solidFill>
            <a:prstDash val="solid"/>
          </a:ln>
        </p:spPr>
      </p:sp>
      <p:sp>
        <p:nvSpPr>
          <p:cNvPr id="12" name="Text 10"/>
          <p:cNvSpPr/>
          <p:nvPr/>
        </p:nvSpPr>
        <p:spPr>
          <a:xfrm>
            <a:off x="7223760" y="2103120"/>
            <a:ext cx="4160520" cy="320040"/>
          </a:xfrm>
          <a:prstGeom prst="rect">
            <a:avLst/>
          </a:prstGeom>
          <a:noFill/>
          <a:ln/>
        </p:spPr>
        <p:txBody>
          <a:bodyPr wrap="square" lIns="0" tIns="0" rIns="0" bIns="0" rtlCol="0" anchor="ctr"/>
          <a:lstStyle/>
          <a:p>
            <a:pPr indent="0" marL="0">
              <a:buNone/>
            </a:pPr>
            <a:r>
              <a:rPr lang="en-US" sz="1150" b="1" spc="150" kern="0" dirty="0">
                <a:solidFill>
                  <a:srgbClr val="7D6E5C"/>
                </a:solidFill>
                <a:latin typeface="Calibri" pitchFamily="34" charset="0"/>
                <a:ea typeface="Calibri" pitchFamily="34" charset="-122"/>
                <a:cs typeface="Calibri" pitchFamily="34" charset="-120"/>
              </a:rPr>
              <a:t>WHAT SHE HAS TODAY</a:t>
            </a:r>
            <a:endParaRPr lang="en-US" sz="1150" dirty="0"/>
          </a:p>
        </p:txBody>
      </p:sp>
      <p:sp>
        <p:nvSpPr>
          <p:cNvPr id="13" name="Shape 11"/>
          <p:cNvSpPr/>
          <p:nvPr/>
        </p:nvSpPr>
        <p:spPr>
          <a:xfrm>
            <a:off x="7223760" y="2660904"/>
            <a:ext cx="109728" cy="109728"/>
          </a:xfrm>
          <a:prstGeom prst="ellipse">
            <a:avLst/>
          </a:prstGeom>
          <a:solidFill>
            <a:srgbClr val="A24F4F"/>
          </a:solidFill>
          <a:ln/>
        </p:spPr>
      </p:sp>
      <p:sp>
        <p:nvSpPr>
          <p:cNvPr id="14" name="Text 12"/>
          <p:cNvSpPr/>
          <p:nvPr/>
        </p:nvSpPr>
        <p:spPr>
          <a:xfrm>
            <a:off x="7498080" y="2532888"/>
            <a:ext cx="3794760" cy="274320"/>
          </a:xfrm>
          <a:prstGeom prst="rect">
            <a:avLst/>
          </a:prstGeom>
          <a:noFill/>
          <a:ln/>
        </p:spPr>
        <p:txBody>
          <a:bodyPr wrap="square" lIns="0" tIns="0" rIns="0" bIns="0" rtlCol="0" anchor="ctr"/>
          <a:lstStyle/>
          <a:p>
            <a:pPr indent="0" marL="0">
              <a:buNone/>
            </a:pPr>
            <a:r>
              <a:rPr lang="en-US" sz="1350" b="1" dirty="0">
                <a:solidFill>
                  <a:srgbClr val="17140F"/>
                </a:solidFill>
                <a:latin typeface="Calibri" pitchFamily="34" charset="0"/>
                <a:ea typeface="Calibri" pitchFamily="34" charset="-122"/>
                <a:cs typeface="Calibri" pitchFamily="34" charset="-120"/>
              </a:rPr>
              <a:t>A calendar app</a:t>
            </a:r>
            <a:endParaRPr lang="en-US" sz="1350" dirty="0"/>
          </a:p>
        </p:txBody>
      </p:sp>
      <p:sp>
        <p:nvSpPr>
          <p:cNvPr id="15" name="Text 13"/>
          <p:cNvSpPr/>
          <p:nvPr/>
        </p:nvSpPr>
        <p:spPr>
          <a:xfrm>
            <a:off x="7498080" y="2807208"/>
            <a:ext cx="3794760" cy="502920"/>
          </a:xfrm>
          <a:prstGeom prst="rect">
            <a:avLst/>
          </a:prstGeom>
          <a:noFill/>
          <a:ln/>
        </p:spPr>
        <p:txBody>
          <a:bodyPr wrap="square" lIns="0" tIns="0" rIns="0" bIns="0" rtlCol="0" anchor="t"/>
          <a:lstStyle/>
          <a:p>
            <a:pPr indent="0" marL="0">
              <a:lnSpc>
                <a:spcPct val="115000"/>
              </a:lnSpc>
              <a:buNone/>
            </a:pPr>
            <a:r>
              <a:rPr lang="en-US" sz="1200" dirty="0">
                <a:solidFill>
                  <a:srgbClr val="7D6E5C"/>
                </a:solidFill>
                <a:latin typeface="Cambria" pitchFamily="34" charset="0"/>
                <a:ea typeface="Cambria" pitchFamily="34" charset="-122"/>
                <a:cs typeface="Cambria" pitchFamily="34" charset="-120"/>
              </a:rPr>
              <a:t>assumes a textbook cycle; degrades exactly where her cycle is irregular</a:t>
            </a:r>
            <a:endParaRPr lang="en-US" sz="1200" dirty="0"/>
          </a:p>
        </p:txBody>
      </p:sp>
      <p:sp>
        <p:nvSpPr>
          <p:cNvPr id="16" name="Shape 14"/>
          <p:cNvSpPr/>
          <p:nvPr/>
        </p:nvSpPr>
        <p:spPr>
          <a:xfrm>
            <a:off x="7223760" y="3712464"/>
            <a:ext cx="109728" cy="109728"/>
          </a:xfrm>
          <a:prstGeom prst="ellipse">
            <a:avLst/>
          </a:prstGeom>
          <a:solidFill>
            <a:srgbClr val="A24F4F"/>
          </a:solidFill>
          <a:ln/>
        </p:spPr>
      </p:sp>
      <p:sp>
        <p:nvSpPr>
          <p:cNvPr id="17" name="Text 15"/>
          <p:cNvSpPr/>
          <p:nvPr/>
        </p:nvSpPr>
        <p:spPr>
          <a:xfrm>
            <a:off x="7498080" y="3584448"/>
            <a:ext cx="3794760" cy="274320"/>
          </a:xfrm>
          <a:prstGeom prst="rect">
            <a:avLst/>
          </a:prstGeom>
          <a:noFill/>
          <a:ln/>
        </p:spPr>
        <p:txBody>
          <a:bodyPr wrap="square" lIns="0" tIns="0" rIns="0" bIns="0" rtlCol="0" anchor="ctr"/>
          <a:lstStyle/>
          <a:p>
            <a:pPr indent="0" marL="0">
              <a:buNone/>
            </a:pPr>
            <a:r>
              <a:rPr lang="en-US" sz="1350" b="1" dirty="0">
                <a:solidFill>
                  <a:srgbClr val="17140F"/>
                </a:solidFill>
                <a:latin typeface="Calibri" pitchFamily="34" charset="0"/>
                <a:ea typeface="Calibri" pitchFamily="34" charset="-122"/>
                <a:cs typeface="Calibri" pitchFamily="34" charset="-120"/>
              </a:rPr>
              <a:t>A drugstore OPK strip</a:t>
            </a:r>
            <a:endParaRPr lang="en-US" sz="1350" dirty="0"/>
          </a:p>
        </p:txBody>
      </p:sp>
      <p:sp>
        <p:nvSpPr>
          <p:cNvPr id="18" name="Text 16"/>
          <p:cNvSpPr/>
          <p:nvPr/>
        </p:nvSpPr>
        <p:spPr>
          <a:xfrm>
            <a:off x="7498080" y="3858768"/>
            <a:ext cx="3794760" cy="502920"/>
          </a:xfrm>
          <a:prstGeom prst="rect">
            <a:avLst/>
          </a:prstGeom>
          <a:noFill/>
          <a:ln/>
        </p:spPr>
        <p:txBody>
          <a:bodyPr wrap="square" lIns="0" tIns="0" rIns="0" bIns="0" rtlCol="0" anchor="t"/>
          <a:lstStyle/>
          <a:p>
            <a:pPr indent="0" marL="0">
              <a:lnSpc>
                <a:spcPct val="115000"/>
              </a:lnSpc>
              <a:buNone/>
            </a:pPr>
            <a:r>
              <a:rPr lang="en-US" sz="1200" dirty="0">
                <a:solidFill>
                  <a:srgbClr val="7D6E5C"/>
                </a:solidFill>
                <a:latin typeface="Cambria" pitchFamily="34" charset="0"/>
                <a:ea typeface="Cambria" pitchFamily="34" charset="-122"/>
                <a:cs typeface="Cambria" pitchFamily="34" charset="-120"/>
              </a:rPr>
              <a:t>one fixed cutoff, read by eye, no memory of her own baseline</a:t>
            </a:r>
            <a:endParaRPr lang="en-US" sz="1200" dirty="0"/>
          </a:p>
        </p:txBody>
      </p:sp>
      <p:sp>
        <p:nvSpPr>
          <p:cNvPr id="19" name="Shape 17"/>
          <p:cNvSpPr/>
          <p:nvPr/>
        </p:nvSpPr>
        <p:spPr>
          <a:xfrm>
            <a:off x="7223760" y="4764024"/>
            <a:ext cx="109728" cy="109728"/>
          </a:xfrm>
          <a:prstGeom prst="ellipse">
            <a:avLst/>
          </a:prstGeom>
          <a:solidFill>
            <a:srgbClr val="A24F4F"/>
          </a:solidFill>
          <a:ln/>
        </p:spPr>
      </p:sp>
      <p:sp>
        <p:nvSpPr>
          <p:cNvPr id="20" name="Text 18"/>
          <p:cNvSpPr/>
          <p:nvPr/>
        </p:nvSpPr>
        <p:spPr>
          <a:xfrm>
            <a:off x="7498080" y="4636008"/>
            <a:ext cx="3794760" cy="274320"/>
          </a:xfrm>
          <a:prstGeom prst="rect">
            <a:avLst/>
          </a:prstGeom>
          <a:noFill/>
          <a:ln/>
        </p:spPr>
        <p:txBody>
          <a:bodyPr wrap="square" lIns="0" tIns="0" rIns="0" bIns="0" rtlCol="0" anchor="ctr"/>
          <a:lstStyle/>
          <a:p>
            <a:pPr indent="0" marL="0">
              <a:buNone/>
            </a:pPr>
            <a:r>
              <a:rPr lang="en-US" sz="1350" b="1" dirty="0">
                <a:solidFill>
                  <a:srgbClr val="17140F"/>
                </a:solidFill>
                <a:latin typeface="Calibri" pitchFamily="34" charset="0"/>
                <a:ea typeface="Calibri" pitchFamily="34" charset="-122"/>
                <a:cs typeface="Calibri" pitchFamily="34" charset="-120"/>
              </a:rPr>
              <a:t>A clinic hormone panel</a:t>
            </a:r>
            <a:endParaRPr lang="en-US" sz="1350" dirty="0"/>
          </a:p>
        </p:txBody>
      </p:sp>
      <p:sp>
        <p:nvSpPr>
          <p:cNvPr id="21" name="Text 19"/>
          <p:cNvSpPr/>
          <p:nvPr/>
        </p:nvSpPr>
        <p:spPr>
          <a:xfrm>
            <a:off x="7498080" y="4910328"/>
            <a:ext cx="3794760" cy="502920"/>
          </a:xfrm>
          <a:prstGeom prst="rect">
            <a:avLst/>
          </a:prstGeom>
          <a:noFill/>
          <a:ln/>
        </p:spPr>
        <p:txBody>
          <a:bodyPr wrap="square" lIns="0" tIns="0" rIns="0" bIns="0" rtlCol="0" anchor="t"/>
          <a:lstStyle/>
          <a:p>
            <a:pPr indent="0" marL="0">
              <a:lnSpc>
                <a:spcPct val="115000"/>
              </a:lnSpc>
              <a:buNone/>
            </a:pPr>
            <a:r>
              <a:rPr lang="en-US" sz="1200" dirty="0">
                <a:solidFill>
                  <a:srgbClr val="7D6E5C"/>
                </a:solidFill>
                <a:latin typeface="Cambria" pitchFamily="34" charset="0"/>
                <a:ea typeface="Cambria" pitchFamily="34" charset="-122"/>
                <a:cs typeface="Cambria" pitchFamily="34" charset="-120"/>
              </a:rPr>
              <a:t>accurate, but a blood draw and a wait — not a daily tool</a:t>
            </a:r>
            <a:endParaRPr lang="en-US" sz="1200" dirty="0"/>
          </a:p>
        </p:txBody>
      </p:sp>
      <p:sp>
        <p:nvSpPr>
          <p:cNvPr id="22" name="Text 20"/>
          <p:cNvSpPr/>
          <p:nvPr/>
        </p:nvSpPr>
        <p:spPr>
          <a:xfrm>
            <a:off x="502920" y="6473952"/>
            <a:ext cx="3657600" cy="274320"/>
          </a:xfrm>
          <a:prstGeom prst="rect">
            <a:avLst/>
          </a:prstGeom>
          <a:noFill/>
          <a:ln/>
        </p:spPr>
        <p:txBody>
          <a:bodyPr wrap="square" lIns="0" tIns="0" rIns="0" bIns="0" rtlCol="0" anchor="ctr"/>
          <a:lstStyle/>
          <a:p>
            <a:pPr indent="0" marL="0">
              <a:buNone/>
            </a:pPr>
            <a:r>
              <a:rPr lang="en-US" sz="900" b="1" spc="200" kern="0" dirty="0">
                <a:solidFill>
                  <a:srgbClr val="7D6E5C"/>
                </a:solidFill>
                <a:latin typeface="Calibri" pitchFamily="34" charset="0"/>
                <a:ea typeface="Calibri" pitchFamily="34" charset="-122"/>
                <a:cs typeface="Calibri" pitchFamily="34" charset="-120"/>
              </a:rPr>
              <a:t>ROVE HEALTH</a:t>
            </a:r>
            <a:endParaRPr lang="en-US" sz="900" dirty="0"/>
          </a:p>
        </p:txBody>
      </p:sp>
      <p:sp>
        <p:nvSpPr>
          <p:cNvPr id="23" name="Text 21"/>
          <p:cNvSpPr/>
          <p:nvPr/>
        </p:nvSpPr>
        <p:spPr>
          <a:xfrm>
            <a:off x="3809848" y="6473952"/>
            <a:ext cx="4572000" cy="274320"/>
          </a:xfrm>
          <a:prstGeom prst="rect">
            <a:avLst/>
          </a:prstGeom>
          <a:noFill/>
          <a:ln/>
        </p:spPr>
        <p:txBody>
          <a:bodyPr wrap="square" lIns="0" tIns="0" rIns="0" bIns="0" rtlCol="0" anchor="ctr"/>
          <a:lstStyle/>
          <a:p>
            <a:pPr algn="ctr" indent="0" marL="0">
              <a:buNone/>
            </a:pPr>
            <a:r>
              <a:rPr lang="en-US" sz="900" spc="150" kern="0" dirty="0">
                <a:solidFill>
                  <a:srgbClr val="7D6E5C"/>
                </a:solidFill>
                <a:latin typeface="Calibri" pitchFamily="34" charset="0"/>
                <a:ea typeface="Calibri" pitchFamily="34" charset="-122"/>
                <a:cs typeface="Calibri" pitchFamily="34" charset="-120"/>
              </a:rPr>
              <a:t>GENESIS EIR 3.0 — DEEP TECH TRACK</a:t>
            </a:r>
            <a:endParaRPr lang="en-US" sz="900" dirty="0"/>
          </a:p>
        </p:txBody>
      </p:sp>
      <p:sp>
        <p:nvSpPr>
          <p:cNvPr id="24" name="Text 22"/>
          <p:cNvSpPr/>
          <p:nvPr/>
        </p:nvSpPr>
        <p:spPr>
          <a:xfrm>
            <a:off x="10317175" y="6473952"/>
            <a:ext cx="1371600" cy="274320"/>
          </a:xfrm>
          <a:prstGeom prst="rect">
            <a:avLst/>
          </a:prstGeom>
          <a:noFill/>
          <a:ln/>
        </p:spPr>
        <p:txBody>
          <a:bodyPr wrap="square" lIns="0" tIns="0" rIns="0" bIns="0" rtlCol="0" anchor="ctr"/>
          <a:lstStyle/>
          <a:p>
            <a:pPr algn="r" indent="0" marL="0">
              <a:buNone/>
            </a:pPr>
            <a:r>
              <a:rPr lang="en-US" sz="900" dirty="0">
                <a:solidFill>
                  <a:srgbClr val="7D6E5C"/>
                </a:solidFill>
                <a:latin typeface="Courier New" pitchFamily="34" charset="0"/>
                <a:ea typeface="Courier New" pitchFamily="34" charset="-122"/>
                <a:cs typeface="Courier Ne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200" kern="0" dirty="0">
                <a:solidFill>
                  <a:srgbClr val="7D6E5C"/>
                </a:solidFill>
                <a:latin typeface="Calibri" pitchFamily="34" charset="0"/>
                <a:ea typeface="Calibri" pitchFamily="34" charset="-122"/>
                <a:cs typeface="Calibri" pitchFamily="34" charset="-120"/>
              </a:rPr>
              <a:t>WHY FIXED THRESHOLDS FAIL</a:t>
            </a:r>
            <a:endParaRPr lang="en-US" sz="1200" dirty="0"/>
          </a:p>
        </p:txBody>
      </p:sp>
      <p:sp>
        <p:nvSpPr>
          <p:cNvPr id="3" name="Text 1"/>
          <p:cNvSpPr/>
          <p:nvPr/>
        </p:nvSpPr>
        <p:spPr>
          <a:xfrm>
            <a:off x="502920" y="786384"/>
            <a:ext cx="11185855" cy="777240"/>
          </a:xfrm>
          <a:prstGeom prst="rect">
            <a:avLst/>
          </a:prstGeom>
          <a:noFill/>
          <a:ln/>
        </p:spPr>
        <p:txBody>
          <a:bodyPr wrap="square" lIns="0" tIns="0" rIns="0" bIns="0" rtlCol="0" anchor="t"/>
          <a:lstStyle/>
          <a:p>
            <a:pPr indent="0" marL="0">
              <a:buNone/>
            </a:pPr>
            <a:r>
              <a:rPr lang="en-US" sz="3000" b="1" dirty="0">
                <a:solidFill>
                  <a:srgbClr val="17140F"/>
                </a:solidFill>
                <a:latin typeface="Calibri" pitchFamily="34" charset="0"/>
                <a:ea typeface="Calibri" pitchFamily="34" charset="-122"/>
                <a:cs typeface="Calibri" pitchFamily="34" charset="-120"/>
              </a:rPr>
              <a:t>One cutoff for everyone, vs. a baseline learned from her</a:t>
            </a:r>
            <a:endParaRPr lang="en-US" sz="3000" dirty="0"/>
          </a:p>
        </p:txBody>
      </p:sp>
      <p:sp>
        <p:nvSpPr>
          <p:cNvPr id="4" name="Shape 2"/>
          <p:cNvSpPr/>
          <p:nvPr/>
        </p:nvSpPr>
        <p:spPr>
          <a:xfrm>
            <a:off x="502920" y="1828800"/>
            <a:ext cx="5257800" cy="4206240"/>
          </a:xfrm>
          <a:prstGeom prst="roundRect">
            <a:avLst>
              <a:gd name="adj" fmla="val 2174"/>
            </a:avLst>
          </a:prstGeom>
          <a:solidFill>
            <a:srgbClr val="FDFCFB"/>
          </a:solidFill>
          <a:ln w="12700">
            <a:solidFill>
              <a:srgbClr val="DDD0C1"/>
            </a:solidFill>
            <a:prstDash val="solid"/>
          </a:ln>
        </p:spPr>
      </p:sp>
      <p:sp>
        <p:nvSpPr>
          <p:cNvPr id="5" name="Shape 3"/>
          <p:cNvSpPr/>
          <p:nvPr/>
        </p:nvSpPr>
        <p:spPr>
          <a:xfrm>
            <a:off x="502920" y="1828800"/>
            <a:ext cx="5257800" cy="566928"/>
          </a:xfrm>
          <a:prstGeom prst="roundRect">
            <a:avLst>
              <a:gd name="adj" fmla="val 16129"/>
            </a:avLst>
          </a:prstGeom>
          <a:solidFill>
            <a:srgbClr val="ECE4DA"/>
          </a:solidFill>
          <a:ln/>
        </p:spPr>
      </p:sp>
      <p:sp>
        <p:nvSpPr>
          <p:cNvPr id="6" name="Shape 4"/>
          <p:cNvSpPr/>
          <p:nvPr/>
        </p:nvSpPr>
        <p:spPr>
          <a:xfrm>
            <a:off x="502920" y="2112264"/>
            <a:ext cx="5257800" cy="283464"/>
          </a:xfrm>
          <a:prstGeom prst="rect">
            <a:avLst/>
          </a:prstGeom>
          <a:solidFill>
            <a:srgbClr val="ECE4DA"/>
          </a:solidFill>
          <a:ln/>
        </p:spPr>
      </p:sp>
      <p:sp>
        <p:nvSpPr>
          <p:cNvPr id="7" name="Text 5"/>
          <p:cNvSpPr/>
          <p:nvPr/>
        </p:nvSpPr>
        <p:spPr>
          <a:xfrm>
            <a:off x="777240" y="1828800"/>
            <a:ext cx="4709160" cy="566928"/>
          </a:xfrm>
          <a:prstGeom prst="rect">
            <a:avLst/>
          </a:prstGeom>
          <a:noFill/>
          <a:ln/>
        </p:spPr>
        <p:txBody>
          <a:bodyPr wrap="square" lIns="0" tIns="0" rIns="0" bIns="0" rtlCol="0" anchor="ctr"/>
          <a:lstStyle/>
          <a:p>
            <a:pPr indent="0" marL="0">
              <a:buNone/>
            </a:pPr>
            <a:r>
              <a:rPr lang="en-US" sz="1550" b="1" dirty="0">
                <a:solidFill>
                  <a:srgbClr val="A24F4F"/>
                </a:solidFill>
                <a:latin typeface="Calibri" pitchFamily="34" charset="0"/>
                <a:ea typeface="Calibri" pitchFamily="34" charset="-122"/>
                <a:cs typeface="Calibri" pitchFamily="34" charset="-120"/>
              </a:rPr>
              <a:t>Typical OPK app</a:t>
            </a:r>
            <a:endParaRPr lang="en-US" sz="1550" dirty="0"/>
          </a:p>
        </p:txBody>
      </p:sp>
      <p:sp>
        <p:nvSpPr>
          <p:cNvPr id="8" name="Text 6"/>
          <p:cNvSpPr/>
          <p:nvPr/>
        </p:nvSpPr>
        <p:spPr>
          <a:xfrm>
            <a:off x="777240" y="2606040"/>
            <a:ext cx="274320" cy="502920"/>
          </a:xfrm>
          <a:prstGeom prst="rect">
            <a:avLst/>
          </a:prstGeom>
          <a:noFill/>
          <a:ln/>
        </p:spPr>
        <p:txBody>
          <a:bodyPr wrap="square" lIns="0" tIns="0" rIns="0" bIns="0" rtlCol="0" anchor="ctr"/>
          <a:lstStyle/>
          <a:p>
            <a:pPr indent="0" marL="0">
              <a:buNone/>
            </a:pPr>
            <a:r>
              <a:rPr lang="en-US" sz="1300" dirty="0">
                <a:solidFill>
                  <a:srgbClr val="A24F4F"/>
                </a:solidFill>
                <a:latin typeface="Cambria" pitchFamily="34" charset="0"/>
                <a:ea typeface="Cambria" pitchFamily="34" charset="-122"/>
                <a:cs typeface="Cambria" pitchFamily="34" charset="-120"/>
              </a:rPr>
              <a:t>—</a:t>
            </a:r>
            <a:endParaRPr lang="en-US" sz="1300" dirty="0"/>
          </a:p>
        </p:txBody>
      </p:sp>
      <p:sp>
        <p:nvSpPr>
          <p:cNvPr id="9" name="Text 7"/>
          <p:cNvSpPr/>
          <p:nvPr/>
        </p:nvSpPr>
        <p:spPr>
          <a:xfrm>
            <a:off x="1069848" y="2606040"/>
            <a:ext cx="4389120" cy="566928"/>
          </a:xfrm>
          <a:prstGeom prst="rect">
            <a:avLst/>
          </a:prstGeom>
          <a:noFill/>
          <a:ln/>
        </p:spPr>
        <p:txBody>
          <a:bodyPr wrap="square" lIns="0" tIns="0" rIns="0" bIns="0" rtlCol="0" anchor="t"/>
          <a:lstStyle/>
          <a:p>
            <a:pPr indent="0" marL="0">
              <a:lnSpc>
                <a:spcPct val="115000"/>
              </a:lnSpc>
              <a:buNone/>
            </a:pPr>
            <a:r>
              <a:rPr lang="en-US" sz="1250" dirty="0">
                <a:solidFill>
                  <a:srgbClr val="17140F"/>
                </a:solidFill>
                <a:latin typeface="Cambria" pitchFamily="34" charset="0"/>
                <a:ea typeface="Cambria" pitchFamily="34" charset="-122"/>
                <a:cs typeface="Cambria" pitchFamily="34" charset="-120"/>
              </a:rPr>
              <a:t>One grade cutoff for every user, regardless of her own hormone baseline</a:t>
            </a:r>
            <a:endParaRPr lang="en-US" sz="1250" dirty="0"/>
          </a:p>
        </p:txBody>
      </p:sp>
      <p:sp>
        <p:nvSpPr>
          <p:cNvPr id="10" name="Text 8"/>
          <p:cNvSpPr/>
          <p:nvPr/>
        </p:nvSpPr>
        <p:spPr>
          <a:xfrm>
            <a:off x="777240" y="3264408"/>
            <a:ext cx="274320" cy="502920"/>
          </a:xfrm>
          <a:prstGeom prst="rect">
            <a:avLst/>
          </a:prstGeom>
          <a:noFill/>
          <a:ln/>
        </p:spPr>
        <p:txBody>
          <a:bodyPr wrap="square" lIns="0" tIns="0" rIns="0" bIns="0" rtlCol="0" anchor="ctr"/>
          <a:lstStyle/>
          <a:p>
            <a:pPr indent="0" marL="0">
              <a:buNone/>
            </a:pPr>
            <a:r>
              <a:rPr lang="en-US" sz="1300" dirty="0">
                <a:solidFill>
                  <a:srgbClr val="A24F4F"/>
                </a:solidFill>
                <a:latin typeface="Cambria" pitchFamily="34" charset="0"/>
                <a:ea typeface="Cambria" pitchFamily="34" charset="-122"/>
                <a:cs typeface="Cambria" pitchFamily="34" charset="-120"/>
              </a:rPr>
              <a:t>—</a:t>
            </a:r>
            <a:endParaRPr lang="en-US" sz="1300" dirty="0"/>
          </a:p>
        </p:txBody>
      </p:sp>
      <p:sp>
        <p:nvSpPr>
          <p:cNvPr id="11" name="Text 9"/>
          <p:cNvSpPr/>
          <p:nvPr/>
        </p:nvSpPr>
        <p:spPr>
          <a:xfrm>
            <a:off x="1069848" y="3264408"/>
            <a:ext cx="4389120" cy="566928"/>
          </a:xfrm>
          <a:prstGeom prst="rect">
            <a:avLst/>
          </a:prstGeom>
          <a:noFill/>
          <a:ln/>
        </p:spPr>
        <p:txBody>
          <a:bodyPr wrap="square" lIns="0" tIns="0" rIns="0" bIns="0" rtlCol="0" anchor="t"/>
          <a:lstStyle/>
          <a:p>
            <a:pPr indent="0" marL="0">
              <a:lnSpc>
                <a:spcPct val="115000"/>
              </a:lnSpc>
              <a:buNone/>
            </a:pPr>
            <a:r>
              <a:rPr lang="en-US" sz="1250" dirty="0">
                <a:solidFill>
                  <a:srgbClr val="17140F"/>
                </a:solidFill>
                <a:latin typeface="Cambria" pitchFamily="34" charset="0"/>
                <a:ea typeface="Cambria" pitchFamily="34" charset="-122"/>
                <a:cs typeface="Cambria" pitchFamily="34" charset="-120"/>
              </a:rPr>
              <a:t>Chronically elevated LH (a PCOS hallmark) reads as a false surge, or a real one is missed entirely</a:t>
            </a:r>
            <a:endParaRPr lang="en-US" sz="1250" dirty="0"/>
          </a:p>
        </p:txBody>
      </p:sp>
      <p:sp>
        <p:nvSpPr>
          <p:cNvPr id="12" name="Text 10"/>
          <p:cNvSpPr/>
          <p:nvPr/>
        </p:nvSpPr>
        <p:spPr>
          <a:xfrm>
            <a:off x="777240" y="3922776"/>
            <a:ext cx="274320" cy="502920"/>
          </a:xfrm>
          <a:prstGeom prst="rect">
            <a:avLst/>
          </a:prstGeom>
          <a:noFill/>
          <a:ln/>
        </p:spPr>
        <p:txBody>
          <a:bodyPr wrap="square" lIns="0" tIns="0" rIns="0" bIns="0" rtlCol="0" anchor="ctr"/>
          <a:lstStyle/>
          <a:p>
            <a:pPr indent="0" marL="0">
              <a:buNone/>
            </a:pPr>
            <a:r>
              <a:rPr lang="en-US" sz="1300" dirty="0">
                <a:solidFill>
                  <a:srgbClr val="A24F4F"/>
                </a:solidFill>
                <a:latin typeface="Cambria" pitchFamily="34" charset="0"/>
                <a:ea typeface="Cambria" pitchFamily="34" charset="-122"/>
                <a:cs typeface="Cambria" pitchFamily="34" charset="-120"/>
              </a:rPr>
              <a:t>—</a:t>
            </a:r>
            <a:endParaRPr lang="en-US" sz="1300" dirty="0"/>
          </a:p>
        </p:txBody>
      </p:sp>
      <p:sp>
        <p:nvSpPr>
          <p:cNvPr id="13" name="Text 11"/>
          <p:cNvSpPr/>
          <p:nvPr/>
        </p:nvSpPr>
        <p:spPr>
          <a:xfrm>
            <a:off x="1069848" y="3922776"/>
            <a:ext cx="4389120" cy="566928"/>
          </a:xfrm>
          <a:prstGeom prst="rect">
            <a:avLst/>
          </a:prstGeom>
          <a:noFill/>
          <a:ln/>
        </p:spPr>
        <p:txBody>
          <a:bodyPr wrap="square" lIns="0" tIns="0" rIns="0" bIns="0" rtlCol="0" anchor="t"/>
          <a:lstStyle/>
          <a:p>
            <a:pPr indent="0" marL="0">
              <a:lnSpc>
                <a:spcPct val="115000"/>
              </a:lnSpc>
              <a:buNone/>
            </a:pPr>
            <a:r>
              <a:rPr lang="en-US" sz="1250" dirty="0">
                <a:solidFill>
                  <a:srgbClr val="17140F"/>
                </a:solidFill>
                <a:latin typeface="Cambria" pitchFamily="34" charset="0"/>
                <a:ea typeface="Cambria" pitchFamily="34" charset="-122"/>
                <a:cs typeface="Cambria" pitchFamily="34" charset="-120"/>
              </a:rPr>
              <a:t>Cycle math assumes a fixed 28-day length for everyone</a:t>
            </a:r>
            <a:endParaRPr lang="en-US" sz="1250" dirty="0"/>
          </a:p>
        </p:txBody>
      </p:sp>
      <p:sp>
        <p:nvSpPr>
          <p:cNvPr id="14" name="Text 12"/>
          <p:cNvSpPr/>
          <p:nvPr/>
        </p:nvSpPr>
        <p:spPr>
          <a:xfrm>
            <a:off x="777240" y="4581144"/>
            <a:ext cx="274320" cy="502920"/>
          </a:xfrm>
          <a:prstGeom prst="rect">
            <a:avLst/>
          </a:prstGeom>
          <a:noFill/>
          <a:ln/>
        </p:spPr>
        <p:txBody>
          <a:bodyPr wrap="square" lIns="0" tIns="0" rIns="0" bIns="0" rtlCol="0" anchor="ctr"/>
          <a:lstStyle/>
          <a:p>
            <a:pPr indent="0" marL="0">
              <a:buNone/>
            </a:pPr>
            <a:r>
              <a:rPr lang="en-US" sz="1300" dirty="0">
                <a:solidFill>
                  <a:srgbClr val="A24F4F"/>
                </a:solidFill>
                <a:latin typeface="Cambria" pitchFamily="34" charset="0"/>
                <a:ea typeface="Cambria" pitchFamily="34" charset="-122"/>
                <a:cs typeface="Cambria" pitchFamily="34" charset="-120"/>
              </a:rPr>
              <a:t>—</a:t>
            </a:r>
            <a:endParaRPr lang="en-US" sz="1300" dirty="0"/>
          </a:p>
        </p:txBody>
      </p:sp>
      <p:sp>
        <p:nvSpPr>
          <p:cNvPr id="15" name="Text 13"/>
          <p:cNvSpPr/>
          <p:nvPr/>
        </p:nvSpPr>
        <p:spPr>
          <a:xfrm>
            <a:off x="1069848" y="4581144"/>
            <a:ext cx="4389120" cy="566928"/>
          </a:xfrm>
          <a:prstGeom prst="rect">
            <a:avLst/>
          </a:prstGeom>
          <a:noFill/>
          <a:ln/>
        </p:spPr>
        <p:txBody>
          <a:bodyPr wrap="square" lIns="0" tIns="0" rIns="0" bIns="0" rtlCol="0" anchor="t"/>
          <a:lstStyle/>
          <a:p>
            <a:pPr indent="0" marL="0">
              <a:lnSpc>
                <a:spcPct val="115000"/>
              </a:lnSpc>
              <a:buNone/>
            </a:pPr>
            <a:r>
              <a:rPr lang="en-US" sz="1250" dirty="0">
                <a:solidFill>
                  <a:srgbClr val="17140F"/>
                </a:solidFill>
                <a:latin typeface="Cambria" pitchFamily="34" charset="0"/>
                <a:ea typeface="Cambria" pitchFamily="34" charset="-122"/>
                <a:cs typeface="Cambria" pitchFamily="34" charset="-120"/>
              </a:rPr>
              <a:t>No stated confidence — a guess and a measurement look identical on screen</a:t>
            </a:r>
            <a:endParaRPr lang="en-US" sz="1250" dirty="0"/>
          </a:p>
        </p:txBody>
      </p:sp>
      <p:sp>
        <p:nvSpPr>
          <p:cNvPr id="16" name="Shape 14"/>
          <p:cNvSpPr/>
          <p:nvPr/>
        </p:nvSpPr>
        <p:spPr>
          <a:xfrm>
            <a:off x="6430975" y="1828800"/>
            <a:ext cx="5257800" cy="4206240"/>
          </a:xfrm>
          <a:prstGeom prst="roundRect">
            <a:avLst>
              <a:gd name="adj" fmla="val 2174"/>
            </a:avLst>
          </a:prstGeom>
          <a:solidFill>
            <a:srgbClr val="FDFCFB"/>
          </a:solidFill>
          <a:ln w="12700">
            <a:solidFill>
              <a:srgbClr val="DDD0C1"/>
            </a:solidFill>
            <a:prstDash val="solid"/>
          </a:ln>
        </p:spPr>
      </p:sp>
      <p:sp>
        <p:nvSpPr>
          <p:cNvPr id="17" name="Shape 15"/>
          <p:cNvSpPr/>
          <p:nvPr/>
        </p:nvSpPr>
        <p:spPr>
          <a:xfrm>
            <a:off x="6430975" y="1828800"/>
            <a:ext cx="5257800" cy="566928"/>
          </a:xfrm>
          <a:prstGeom prst="roundRect">
            <a:avLst>
              <a:gd name="adj" fmla="val 16129"/>
            </a:avLst>
          </a:prstGeom>
          <a:solidFill>
            <a:srgbClr val="DCEAE5"/>
          </a:solidFill>
          <a:ln/>
        </p:spPr>
      </p:sp>
      <p:sp>
        <p:nvSpPr>
          <p:cNvPr id="18" name="Shape 16"/>
          <p:cNvSpPr/>
          <p:nvPr/>
        </p:nvSpPr>
        <p:spPr>
          <a:xfrm>
            <a:off x="6430975" y="2112264"/>
            <a:ext cx="5257800" cy="283464"/>
          </a:xfrm>
          <a:prstGeom prst="rect">
            <a:avLst/>
          </a:prstGeom>
          <a:solidFill>
            <a:srgbClr val="DCEAE5"/>
          </a:solidFill>
          <a:ln/>
        </p:spPr>
      </p:sp>
      <p:sp>
        <p:nvSpPr>
          <p:cNvPr id="19" name="Text 17"/>
          <p:cNvSpPr/>
          <p:nvPr/>
        </p:nvSpPr>
        <p:spPr>
          <a:xfrm>
            <a:off x="6705295" y="1828800"/>
            <a:ext cx="4709160" cy="566928"/>
          </a:xfrm>
          <a:prstGeom prst="rect">
            <a:avLst/>
          </a:prstGeom>
          <a:noFill/>
          <a:ln/>
        </p:spPr>
        <p:txBody>
          <a:bodyPr wrap="square" lIns="0" tIns="0" rIns="0" bIns="0" rtlCol="0" anchor="ctr"/>
          <a:lstStyle/>
          <a:p>
            <a:pPr indent="0" marL="0">
              <a:buNone/>
            </a:pPr>
            <a:r>
              <a:rPr lang="en-US" sz="1550" b="1" dirty="0">
                <a:solidFill>
                  <a:srgbClr val="234840"/>
                </a:solidFill>
                <a:latin typeface="Calibri" pitchFamily="34" charset="0"/>
                <a:ea typeface="Calibri" pitchFamily="34" charset="-122"/>
                <a:cs typeface="Calibri" pitchFamily="34" charset="-120"/>
              </a:rPr>
              <a:t>Rove's engine</a:t>
            </a:r>
            <a:endParaRPr lang="en-US" sz="1550" dirty="0"/>
          </a:p>
        </p:txBody>
      </p:sp>
      <p:sp>
        <p:nvSpPr>
          <p:cNvPr id="20" name="Text 18"/>
          <p:cNvSpPr/>
          <p:nvPr/>
        </p:nvSpPr>
        <p:spPr>
          <a:xfrm>
            <a:off x="6705295" y="2606040"/>
            <a:ext cx="274320" cy="502920"/>
          </a:xfrm>
          <a:prstGeom prst="rect">
            <a:avLst/>
          </a:prstGeom>
          <a:noFill/>
          <a:ln/>
        </p:spPr>
        <p:txBody>
          <a:bodyPr wrap="square" lIns="0" tIns="0" rIns="0" bIns="0" rtlCol="0" anchor="ctr"/>
          <a:lstStyle/>
          <a:p>
            <a:pPr indent="0" marL="0">
              <a:buNone/>
            </a:pPr>
            <a:r>
              <a:rPr lang="en-US" sz="1300" dirty="0">
                <a:solidFill>
                  <a:srgbClr val="234840"/>
                </a:solidFill>
                <a:latin typeface="Cambria" pitchFamily="34" charset="0"/>
                <a:ea typeface="Cambria" pitchFamily="34" charset="-122"/>
                <a:cs typeface="Cambria" pitchFamily="34" charset="-120"/>
              </a:rPr>
              <a:t>—</a:t>
            </a:r>
            <a:endParaRPr lang="en-US" sz="1300" dirty="0"/>
          </a:p>
        </p:txBody>
      </p:sp>
      <p:sp>
        <p:nvSpPr>
          <p:cNvPr id="21" name="Text 19"/>
          <p:cNvSpPr/>
          <p:nvPr/>
        </p:nvSpPr>
        <p:spPr>
          <a:xfrm>
            <a:off x="6997903" y="2606040"/>
            <a:ext cx="4389120" cy="566928"/>
          </a:xfrm>
          <a:prstGeom prst="rect">
            <a:avLst/>
          </a:prstGeom>
          <a:noFill/>
          <a:ln/>
        </p:spPr>
        <p:txBody>
          <a:bodyPr wrap="square" lIns="0" tIns="0" rIns="0" bIns="0" rtlCol="0" anchor="t"/>
          <a:lstStyle/>
          <a:p>
            <a:pPr indent="0" marL="0">
              <a:lnSpc>
                <a:spcPct val="115000"/>
              </a:lnSpc>
              <a:buNone/>
            </a:pPr>
            <a:r>
              <a:rPr lang="en-US" sz="1250" dirty="0">
                <a:solidFill>
                  <a:srgbClr val="17140F"/>
                </a:solidFill>
                <a:latin typeface="Cambria" pitchFamily="34" charset="0"/>
                <a:ea typeface="Cambria" pitchFamily="34" charset="-122"/>
                <a:cs typeface="Cambria" pitchFamily="34" charset="-120"/>
              </a:rPr>
              <a:t>Grades the strip 0–4 against the kit’s own backing card — a surge is 2 grades above HER baseline, not a fixed line</a:t>
            </a:r>
            <a:endParaRPr lang="en-US" sz="1250" dirty="0"/>
          </a:p>
        </p:txBody>
      </p:sp>
      <p:sp>
        <p:nvSpPr>
          <p:cNvPr id="22" name="Text 20"/>
          <p:cNvSpPr/>
          <p:nvPr/>
        </p:nvSpPr>
        <p:spPr>
          <a:xfrm>
            <a:off x="6705295" y="3264408"/>
            <a:ext cx="274320" cy="502920"/>
          </a:xfrm>
          <a:prstGeom prst="rect">
            <a:avLst/>
          </a:prstGeom>
          <a:noFill/>
          <a:ln/>
        </p:spPr>
        <p:txBody>
          <a:bodyPr wrap="square" lIns="0" tIns="0" rIns="0" bIns="0" rtlCol="0" anchor="ctr"/>
          <a:lstStyle/>
          <a:p>
            <a:pPr indent="0" marL="0">
              <a:buNone/>
            </a:pPr>
            <a:r>
              <a:rPr lang="en-US" sz="1300" dirty="0">
                <a:solidFill>
                  <a:srgbClr val="234840"/>
                </a:solidFill>
                <a:latin typeface="Cambria" pitchFamily="34" charset="0"/>
                <a:ea typeface="Cambria" pitchFamily="34" charset="-122"/>
                <a:cs typeface="Cambria" pitchFamily="34" charset="-120"/>
              </a:rPr>
              <a:t>—</a:t>
            </a:r>
            <a:endParaRPr lang="en-US" sz="1300" dirty="0"/>
          </a:p>
        </p:txBody>
      </p:sp>
      <p:sp>
        <p:nvSpPr>
          <p:cNvPr id="23" name="Text 21"/>
          <p:cNvSpPr/>
          <p:nvPr/>
        </p:nvSpPr>
        <p:spPr>
          <a:xfrm>
            <a:off x="6997903" y="3264408"/>
            <a:ext cx="4389120" cy="566928"/>
          </a:xfrm>
          <a:prstGeom prst="rect">
            <a:avLst/>
          </a:prstGeom>
          <a:noFill/>
          <a:ln/>
        </p:spPr>
        <p:txBody>
          <a:bodyPr wrap="square" lIns="0" tIns="0" rIns="0" bIns="0" rtlCol="0" anchor="t"/>
          <a:lstStyle/>
          <a:p>
            <a:pPr indent="0" marL="0">
              <a:lnSpc>
                <a:spcPct val="115000"/>
              </a:lnSpc>
              <a:buNone/>
            </a:pPr>
            <a:r>
              <a:rPr lang="en-US" sz="1250" dirty="0">
                <a:solidFill>
                  <a:srgbClr val="17140F"/>
                </a:solidFill>
                <a:latin typeface="Cambria" pitchFamily="34" charset="0"/>
                <a:ea typeface="Cambria" pitchFamily="34" charset="-122"/>
                <a:cs typeface="Cambria" pitchFamily="34" charset="-120"/>
              </a:rPr>
              <a:t>Personal baseline = median of her own lowest-tertile reads, across all logged cycles</a:t>
            </a:r>
            <a:endParaRPr lang="en-US" sz="1250" dirty="0"/>
          </a:p>
        </p:txBody>
      </p:sp>
      <p:sp>
        <p:nvSpPr>
          <p:cNvPr id="24" name="Text 22"/>
          <p:cNvSpPr/>
          <p:nvPr/>
        </p:nvSpPr>
        <p:spPr>
          <a:xfrm>
            <a:off x="6705295" y="3922776"/>
            <a:ext cx="274320" cy="502920"/>
          </a:xfrm>
          <a:prstGeom prst="rect">
            <a:avLst/>
          </a:prstGeom>
          <a:noFill/>
          <a:ln/>
        </p:spPr>
        <p:txBody>
          <a:bodyPr wrap="square" lIns="0" tIns="0" rIns="0" bIns="0" rtlCol="0" anchor="ctr"/>
          <a:lstStyle/>
          <a:p>
            <a:pPr indent="0" marL="0">
              <a:buNone/>
            </a:pPr>
            <a:r>
              <a:rPr lang="en-US" sz="1300" dirty="0">
                <a:solidFill>
                  <a:srgbClr val="234840"/>
                </a:solidFill>
                <a:latin typeface="Cambria" pitchFamily="34" charset="0"/>
                <a:ea typeface="Cambria" pitchFamily="34" charset="-122"/>
                <a:cs typeface="Cambria" pitchFamily="34" charset="-120"/>
              </a:rPr>
              <a:t>—</a:t>
            </a:r>
            <a:endParaRPr lang="en-US" sz="1300" dirty="0"/>
          </a:p>
        </p:txBody>
      </p:sp>
      <p:sp>
        <p:nvSpPr>
          <p:cNvPr id="25" name="Text 23"/>
          <p:cNvSpPr/>
          <p:nvPr/>
        </p:nvSpPr>
        <p:spPr>
          <a:xfrm>
            <a:off x="6997903" y="3922776"/>
            <a:ext cx="4389120" cy="566928"/>
          </a:xfrm>
          <a:prstGeom prst="rect">
            <a:avLst/>
          </a:prstGeom>
          <a:noFill/>
          <a:ln/>
        </p:spPr>
        <p:txBody>
          <a:bodyPr wrap="square" lIns="0" tIns="0" rIns="0" bIns="0" rtlCol="0" anchor="t"/>
          <a:lstStyle/>
          <a:p>
            <a:pPr indent="0" marL="0">
              <a:lnSpc>
                <a:spcPct val="115000"/>
              </a:lnSpc>
              <a:buNone/>
            </a:pPr>
            <a:r>
              <a:rPr lang="en-US" sz="1250" dirty="0">
                <a:solidFill>
                  <a:srgbClr val="17140F"/>
                </a:solidFill>
                <a:latin typeface="Cambria" pitchFamily="34" charset="0"/>
                <a:ea typeface="Cambria" pitchFamily="34" charset="-122"/>
                <a:cs typeface="Cambria" pitchFamily="34" charset="-120"/>
              </a:rPr>
              <a:t>Fertile-window radius derived from her own logged cycle-length variance</a:t>
            </a:r>
            <a:endParaRPr lang="en-US" sz="1250" dirty="0"/>
          </a:p>
        </p:txBody>
      </p:sp>
      <p:sp>
        <p:nvSpPr>
          <p:cNvPr id="26" name="Text 24"/>
          <p:cNvSpPr/>
          <p:nvPr/>
        </p:nvSpPr>
        <p:spPr>
          <a:xfrm>
            <a:off x="6705295" y="4581144"/>
            <a:ext cx="274320" cy="502920"/>
          </a:xfrm>
          <a:prstGeom prst="rect">
            <a:avLst/>
          </a:prstGeom>
          <a:noFill/>
          <a:ln/>
        </p:spPr>
        <p:txBody>
          <a:bodyPr wrap="square" lIns="0" tIns="0" rIns="0" bIns="0" rtlCol="0" anchor="ctr"/>
          <a:lstStyle/>
          <a:p>
            <a:pPr indent="0" marL="0">
              <a:buNone/>
            </a:pPr>
            <a:r>
              <a:rPr lang="en-US" sz="1300" dirty="0">
                <a:solidFill>
                  <a:srgbClr val="234840"/>
                </a:solidFill>
                <a:latin typeface="Cambria" pitchFamily="34" charset="0"/>
                <a:ea typeface="Cambria" pitchFamily="34" charset="-122"/>
                <a:cs typeface="Cambria" pitchFamily="34" charset="-120"/>
              </a:rPr>
              <a:t>—</a:t>
            </a:r>
            <a:endParaRPr lang="en-US" sz="1300" dirty="0"/>
          </a:p>
        </p:txBody>
      </p:sp>
      <p:sp>
        <p:nvSpPr>
          <p:cNvPr id="27" name="Text 25"/>
          <p:cNvSpPr/>
          <p:nvPr/>
        </p:nvSpPr>
        <p:spPr>
          <a:xfrm>
            <a:off x="6997903" y="4581144"/>
            <a:ext cx="4389120" cy="566928"/>
          </a:xfrm>
          <a:prstGeom prst="rect">
            <a:avLst/>
          </a:prstGeom>
          <a:noFill/>
          <a:ln/>
        </p:spPr>
        <p:txBody>
          <a:bodyPr wrap="square" lIns="0" tIns="0" rIns="0" bIns="0" rtlCol="0" anchor="t"/>
          <a:lstStyle/>
          <a:p>
            <a:pPr indent="0" marL="0">
              <a:lnSpc>
                <a:spcPct val="115000"/>
              </a:lnSpc>
              <a:buNone/>
            </a:pPr>
            <a:r>
              <a:rPr lang="en-US" sz="1250" dirty="0">
                <a:solidFill>
                  <a:srgbClr val="17140F"/>
                </a:solidFill>
                <a:latin typeface="Cambria" pitchFamily="34" charset="0"/>
                <a:ea typeface="Cambria" pitchFamily="34" charset="-122"/>
                <a:cs typeface="Cambria" pitchFamily="34" charset="-120"/>
              </a:rPr>
              <a:t>States its own confidence, and stops drawing a window when her data is too irregular for one to mean anything</a:t>
            </a:r>
            <a:endParaRPr lang="en-US" sz="1250" dirty="0"/>
          </a:p>
        </p:txBody>
      </p:sp>
      <p:sp>
        <p:nvSpPr>
          <p:cNvPr id="28" name="Text 26"/>
          <p:cNvSpPr/>
          <p:nvPr/>
        </p:nvSpPr>
        <p:spPr>
          <a:xfrm>
            <a:off x="502920" y="6473952"/>
            <a:ext cx="3657600" cy="274320"/>
          </a:xfrm>
          <a:prstGeom prst="rect">
            <a:avLst/>
          </a:prstGeom>
          <a:noFill/>
          <a:ln/>
        </p:spPr>
        <p:txBody>
          <a:bodyPr wrap="square" lIns="0" tIns="0" rIns="0" bIns="0" rtlCol="0" anchor="ctr"/>
          <a:lstStyle/>
          <a:p>
            <a:pPr indent="0" marL="0">
              <a:buNone/>
            </a:pPr>
            <a:r>
              <a:rPr lang="en-US" sz="900" b="1" spc="200" kern="0" dirty="0">
                <a:solidFill>
                  <a:srgbClr val="7D6E5C"/>
                </a:solidFill>
                <a:latin typeface="Calibri" pitchFamily="34" charset="0"/>
                <a:ea typeface="Calibri" pitchFamily="34" charset="-122"/>
                <a:cs typeface="Calibri" pitchFamily="34" charset="-120"/>
              </a:rPr>
              <a:t>ROVE HEALTH</a:t>
            </a:r>
            <a:endParaRPr lang="en-US" sz="900" dirty="0"/>
          </a:p>
        </p:txBody>
      </p:sp>
      <p:sp>
        <p:nvSpPr>
          <p:cNvPr id="29" name="Text 27"/>
          <p:cNvSpPr/>
          <p:nvPr/>
        </p:nvSpPr>
        <p:spPr>
          <a:xfrm>
            <a:off x="3809848" y="6473952"/>
            <a:ext cx="4572000" cy="274320"/>
          </a:xfrm>
          <a:prstGeom prst="rect">
            <a:avLst/>
          </a:prstGeom>
          <a:noFill/>
          <a:ln/>
        </p:spPr>
        <p:txBody>
          <a:bodyPr wrap="square" lIns="0" tIns="0" rIns="0" bIns="0" rtlCol="0" anchor="ctr"/>
          <a:lstStyle/>
          <a:p>
            <a:pPr algn="ctr" indent="0" marL="0">
              <a:buNone/>
            </a:pPr>
            <a:r>
              <a:rPr lang="en-US" sz="900" spc="150" kern="0" dirty="0">
                <a:solidFill>
                  <a:srgbClr val="7D6E5C"/>
                </a:solidFill>
                <a:latin typeface="Calibri" pitchFamily="34" charset="0"/>
                <a:ea typeface="Calibri" pitchFamily="34" charset="-122"/>
                <a:cs typeface="Calibri" pitchFamily="34" charset="-120"/>
              </a:rPr>
              <a:t>GENESIS EIR 3.0 — DEEP TECH TRACK</a:t>
            </a:r>
            <a:endParaRPr lang="en-US" sz="900" dirty="0"/>
          </a:p>
        </p:txBody>
      </p:sp>
      <p:sp>
        <p:nvSpPr>
          <p:cNvPr id="30" name="Text 28"/>
          <p:cNvSpPr/>
          <p:nvPr/>
        </p:nvSpPr>
        <p:spPr>
          <a:xfrm>
            <a:off x="10317175" y="6473952"/>
            <a:ext cx="1371600" cy="274320"/>
          </a:xfrm>
          <a:prstGeom prst="rect">
            <a:avLst/>
          </a:prstGeom>
          <a:noFill/>
          <a:ln/>
        </p:spPr>
        <p:txBody>
          <a:bodyPr wrap="square" lIns="0" tIns="0" rIns="0" bIns="0" rtlCol="0" anchor="ctr"/>
          <a:lstStyle/>
          <a:p>
            <a:pPr algn="r" indent="0" marL="0">
              <a:buNone/>
            </a:pPr>
            <a:r>
              <a:rPr lang="en-US" sz="900" dirty="0">
                <a:solidFill>
                  <a:srgbClr val="7D6E5C"/>
                </a:solidFill>
                <a:latin typeface="Courier New" pitchFamily="34" charset="0"/>
                <a:ea typeface="Courier New" pitchFamily="34" charset="-122"/>
                <a:cs typeface="Courier Ne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40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200" kern="0" dirty="0">
                <a:solidFill>
                  <a:srgbClr val="C6862A"/>
                </a:solidFill>
                <a:latin typeface="Calibri" pitchFamily="34" charset="0"/>
                <a:ea typeface="Calibri" pitchFamily="34" charset="-122"/>
                <a:cs typeface="Calibri" pitchFamily="34" charset="-120"/>
              </a:rPr>
              <a:t>TECHNICAL ARCHITECTURE</a:t>
            </a:r>
            <a:endParaRPr lang="en-US" sz="1200" dirty="0"/>
          </a:p>
        </p:txBody>
      </p:sp>
      <p:sp>
        <p:nvSpPr>
          <p:cNvPr id="3" name="Text 1"/>
          <p:cNvSpPr/>
          <p:nvPr/>
        </p:nvSpPr>
        <p:spPr>
          <a:xfrm>
            <a:off x="502920" y="786384"/>
            <a:ext cx="11185855" cy="777240"/>
          </a:xfrm>
          <a:prstGeom prst="rect">
            <a:avLst/>
          </a:prstGeom>
          <a:noFill/>
          <a:ln/>
        </p:spPr>
        <p:txBody>
          <a:bodyPr wrap="square" lIns="0" tIns="0" rIns="0" bIns="0" rtlCol="0" anchor="t"/>
          <a:lstStyle/>
          <a:p>
            <a:pPr indent="0" marL="0">
              <a:buNone/>
            </a:pPr>
            <a:r>
              <a:rPr lang="en-US" sz="3000" b="1" dirty="0">
                <a:solidFill>
                  <a:srgbClr val="FAF9F6"/>
                </a:solidFill>
                <a:latin typeface="Calibri" pitchFamily="34" charset="0"/>
                <a:ea typeface="Calibri" pitchFamily="34" charset="-122"/>
                <a:cs typeface="Calibri" pitchFamily="34" charset="-120"/>
              </a:rPr>
              <a:t>Signal fusion, not a single threshold</a:t>
            </a:r>
            <a:endParaRPr lang="en-US" sz="3000" dirty="0"/>
          </a:p>
        </p:txBody>
      </p:sp>
      <p:sp>
        <p:nvSpPr>
          <p:cNvPr id="4" name="Text 2"/>
          <p:cNvSpPr/>
          <p:nvPr/>
        </p:nvSpPr>
        <p:spPr>
          <a:xfrm>
            <a:off x="594360" y="1508760"/>
            <a:ext cx="2377440" cy="274320"/>
          </a:xfrm>
          <a:prstGeom prst="rect">
            <a:avLst/>
          </a:prstGeom>
          <a:noFill/>
          <a:ln/>
        </p:spPr>
        <p:txBody>
          <a:bodyPr wrap="square" lIns="0" tIns="0" rIns="0" bIns="0" rtlCol="0" anchor="ctr"/>
          <a:lstStyle/>
          <a:p>
            <a:pPr indent="0" marL="0">
              <a:buNone/>
            </a:pPr>
            <a:r>
              <a:rPr lang="en-US" sz="1050" b="1" spc="130" kern="0" dirty="0">
                <a:solidFill>
                  <a:srgbClr val="CABAA9"/>
                </a:solidFill>
                <a:latin typeface="Calibri" pitchFamily="34" charset="0"/>
                <a:ea typeface="Calibri" pitchFamily="34" charset="-122"/>
                <a:cs typeface="Calibri" pitchFamily="34" charset="-120"/>
              </a:rPr>
              <a:t>INPUT SIGNALS</a:t>
            </a:r>
            <a:endParaRPr lang="en-US" sz="1050" dirty="0"/>
          </a:p>
        </p:txBody>
      </p:sp>
      <p:sp>
        <p:nvSpPr>
          <p:cNvPr id="5" name="Shape 3"/>
          <p:cNvSpPr/>
          <p:nvPr/>
        </p:nvSpPr>
        <p:spPr>
          <a:xfrm>
            <a:off x="594360" y="1965960"/>
            <a:ext cx="420624" cy="420624"/>
          </a:xfrm>
          <a:prstGeom prst="ellipse">
            <a:avLst/>
          </a:prstGeom>
          <a:solidFill>
            <a:srgbClr val="3F8A76"/>
          </a:solidFill>
          <a:ln/>
        </p:spPr>
      </p:sp>
      <p:pic>
        <p:nvPicPr>
          <p:cNvPr id="6" name="Image 0" descr="preencoded.png">    </p:cNvPr>
          <p:cNvPicPr>
            <a:picLocks noChangeAspect="1"/>
          </p:cNvPicPr>
          <p:nvPr/>
        </p:nvPicPr>
        <p:blipFill>
          <a:blip r:embed="rId1"/>
          <a:stretch>
            <a:fillRect/>
          </a:stretch>
        </p:blipFill>
        <p:spPr>
          <a:xfrm>
            <a:off x="703722" y="2075322"/>
            <a:ext cx="201900" cy="201900"/>
          </a:xfrm>
          <a:prstGeom prst="rect">
            <a:avLst/>
          </a:prstGeom>
        </p:spPr>
      </p:pic>
      <p:sp>
        <p:nvSpPr>
          <p:cNvPr id="7" name="Text 4"/>
          <p:cNvSpPr/>
          <p:nvPr/>
        </p:nvSpPr>
        <p:spPr>
          <a:xfrm>
            <a:off x="1161288" y="1965960"/>
            <a:ext cx="1920240" cy="420624"/>
          </a:xfrm>
          <a:prstGeom prst="rect">
            <a:avLst/>
          </a:prstGeom>
          <a:noFill/>
          <a:ln/>
        </p:spPr>
        <p:txBody>
          <a:bodyPr wrap="square" lIns="0" tIns="0" rIns="0" bIns="0" rtlCol="0" anchor="ctr"/>
          <a:lstStyle/>
          <a:p>
            <a:pPr indent="0" marL="0">
              <a:buNone/>
            </a:pPr>
            <a:r>
              <a:rPr lang="en-US" sz="1250" dirty="0">
                <a:solidFill>
                  <a:srgbClr val="FAF9F6"/>
                </a:solidFill>
                <a:latin typeface="Cambria" pitchFamily="34" charset="0"/>
                <a:ea typeface="Cambria" pitchFamily="34" charset="-122"/>
                <a:cs typeface="Cambria" pitchFamily="34" charset="-120"/>
              </a:rPr>
              <a:t>BBT</a:t>
            </a:r>
            <a:endParaRPr lang="en-US" sz="1250" dirty="0"/>
          </a:p>
        </p:txBody>
      </p:sp>
      <p:sp>
        <p:nvSpPr>
          <p:cNvPr id="8" name="Shape 5"/>
          <p:cNvSpPr/>
          <p:nvPr/>
        </p:nvSpPr>
        <p:spPr>
          <a:xfrm>
            <a:off x="594360" y="2624328"/>
            <a:ext cx="420624" cy="420624"/>
          </a:xfrm>
          <a:prstGeom prst="ellipse">
            <a:avLst/>
          </a:prstGeom>
          <a:solidFill>
            <a:srgbClr val="C6862A"/>
          </a:solidFill>
          <a:ln/>
        </p:spPr>
      </p:sp>
      <p:pic>
        <p:nvPicPr>
          <p:cNvPr id="9" name="Image 1" descr="preencoded.png">    </p:cNvPr>
          <p:cNvPicPr>
            <a:picLocks noChangeAspect="1"/>
          </p:cNvPicPr>
          <p:nvPr/>
        </p:nvPicPr>
        <p:blipFill>
          <a:blip r:embed="rId2"/>
          <a:stretch>
            <a:fillRect/>
          </a:stretch>
        </p:blipFill>
        <p:spPr>
          <a:xfrm>
            <a:off x="703722" y="2733690"/>
            <a:ext cx="201900" cy="201900"/>
          </a:xfrm>
          <a:prstGeom prst="rect">
            <a:avLst/>
          </a:prstGeom>
        </p:spPr>
      </p:pic>
      <p:sp>
        <p:nvSpPr>
          <p:cNvPr id="10" name="Text 6"/>
          <p:cNvSpPr/>
          <p:nvPr/>
        </p:nvSpPr>
        <p:spPr>
          <a:xfrm>
            <a:off x="1161288" y="2624328"/>
            <a:ext cx="1920240" cy="420624"/>
          </a:xfrm>
          <a:prstGeom prst="rect">
            <a:avLst/>
          </a:prstGeom>
          <a:noFill/>
          <a:ln/>
        </p:spPr>
        <p:txBody>
          <a:bodyPr wrap="square" lIns="0" tIns="0" rIns="0" bIns="0" rtlCol="0" anchor="ctr"/>
          <a:lstStyle/>
          <a:p>
            <a:pPr indent="0" marL="0">
              <a:buNone/>
            </a:pPr>
            <a:r>
              <a:rPr lang="en-US" sz="1250" dirty="0">
                <a:solidFill>
                  <a:srgbClr val="FAF9F6"/>
                </a:solidFill>
                <a:latin typeface="Cambria" pitchFamily="34" charset="0"/>
                <a:ea typeface="Cambria" pitchFamily="34" charset="-122"/>
                <a:cs typeface="Cambria" pitchFamily="34" charset="-120"/>
              </a:rPr>
              <a:t>LH / OPK strip</a:t>
            </a:r>
            <a:endParaRPr lang="en-US" sz="1250" dirty="0"/>
          </a:p>
        </p:txBody>
      </p:sp>
      <p:sp>
        <p:nvSpPr>
          <p:cNvPr id="11" name="Shape 7"/>
          <p:cNvSpPr/>
          <p:nvPr/>
        </p:nvSpPr>
        <p:spPr>
          <a:xfrm>
            <a:off x="594360" y="3282696"/>
            <a:ext cx="420624" cy="420624"/>
          </a:xfrm>
          <a:prstGeom prst="ellipse">
            <a:avLst/>
          </a:prstGeom>
          <a:solidFill>
            <a:srgbClr val="7D6E5C"/>
          </a:solidFill>
          <a:ln/>
        </p:spPr>
      </p:sp>
      <p:pic>
        <p:nvPicPr>
          <p:cNvPr id="12" name="Image 2" descr="preencoded.png">    </p:cNvPr>
          <p:cNvPicPr>
            <a:picLocks noChangeAspect="1"/>
          </p:cNvPicPr>
          <p:nvPr/>
        </p:nvPicPr>
        <p:blipFill>
          <a:blip r:embed="rId3"/>
          <a:stretch>
            <a:fillRect/>
          </a:stretch>
        </p:blipFill>
        <p:spPr>
          <a:xfrm>
            <a:off x="703722" y="3392058"/>
            <a:ext cx="201900" cy="201900"/>
          </a:xfrm>
          <a:prstGeom prst="rect">
            <a:avLst/>
          </a:prstGeom>
        </p:spPr>
      </p:pic>
      <p:sp>
        <p:nvSpPr>
          <p:cNvPr id="13" name="Text 8"/>
          <p:cNvSpPr/>
          <p:nvPr/>
        </p:nvSpPr>
        <p:spPr>
          <a:xfrm>
            <a:off x="1161288" y="3282696"/>
            <a:ext cx="1920240" cy="420624"/>
          </a:xfrm>
          <a:prstGeom prst="rect">
            <a:avLst/>
          </a:prstGeom>
          <a:noFill/>
          <a:ln/>
        </p:spPr>
        <p:txBody>
          <a:bodyPr wrap="square" lIns="0" tIns="0" rIns="0" bIns="0" rtlCol="0" anchor="ctr"/>
          <a:lstStyle/>
          <a:p>
            <a:pPr indent="0" marL="0">
              <a:buNone/>
            </a:pPr>
            <a:r>
              <a:rPr lang="en-US" sz="1250" dirty="0">
                <a:solidFill>
                  <a:srgbClr val="FAF9F6"/>
                </a:solidFill>
                <a:latin typeface="Cambria" pitchFamily="34" charset="0"/>
                <a:ea typeface="Cambria" pitchFamily="34" charset="-122"/>
                <a:cs typeface="Cambria" pitchFamily="34" charset="-120"/>
              </a:rPr>
              <a:t>Cervical mucus</a:t>
            </a:r>
            <a:endParaRPr lang="en-US" sz="1250" dirty="0"/>
          </a:p>
        </p:txBody>
      </p:sp>
      <p:sp>
        <p:nvSpPr>
          <p:cNvPr id="14" name="Shape 9"/>
          <p:cNvSpPr/>
          <p:nvPr/>
        </p:nvSpPr>
        <p:spPr>
          <a:xfrm>
            <a:off x="594360" y="3941064"/>
            <a:ext cx="420624" cy="420624"/>
          </a:xfrm>
          <a:prstGeom prst="ellipse">
            <a:avLst/>
          </a:prstGeom>
          <a:solidFill>
            <a:srgbClr val="7D6E5C"/>
          </a:solidFill>
          <a:ln/>
        </p:spPr>
      </p:sp>
      <p:pic>
        <p:nvPicPr>
          <p:cNvPr id="15" name="Image 3" descr="preencoded.png">    </p:cNvPr>
          <p:cNvPicPr>
            <a:picLocks noChangeAspect="1"/>
          </p:cNvPicPr>
          <p:nvPr/>
        </p:nvPicPr>
        <p:blipFill>
          <a:blip r:embed="rId4"/>
          <a:stretch>
            <a:fillRect/>
          </a:stretch>
        </p:blipFill>
        <p:spPr>
          <a:xfrm>
            <a:off x="703722" y="4050426"/>
            <a:ext cx="201900" cy="201900"/>
          </a:xfrm>
          <a:prstGeom prst="rect">
            <a:avLst/>
          </a:prstGeom>
        </p:spPr>
      </p:pic>
      <p:sp>
        <p:nvSpPr>
          <p:cNvPr id="16" name="Text 10"/>
          <p:cNvSpPr/>
          <p:nvPr/>
        </p:nvSpPr>
        <p:spPr>
          <a:xfrm>
            <a:off x="1161288" y="3941064"/>
            <a:ext cx="1920240" cy="420624"/>
          </a:xfrm>
          <a:prstGeom prst="rect">
            <a:avLst/>
          </a:prstGeom>
          <a:noFill/>
          <a:ln/>
        </p:spPr>
        <p:txBody>
          <a:bodyPr wrap="square" lIns="0" tIns="0" rIns="0" bIns="0" rtlCol="0" anchor="ctr"/>
          <a:lstStyle/>
          <a:p>
            <a:pPr indent="0" marL="0">
              <a:buNone/>
            </a:pPr>
            <a:r>
              <a:rPr lang="en-US" sz="1250" dirty="0">
                <a:solidFill>
                  <a:srgbClr val="FAF9F6"/>
                </a:solidFill>
                <a:latin typeface="Cambria" pitchFamily="34" charset="0"/>
                <a:ea typeface="Cambria" pitchFamily="34" charset="-122"/>
                <a:cs typeface="Cambria" pitchFamily="34" charset="-120"/>
              </a:rPr>
              <a:t>Cycle history</a:t>
            </a:r>
            <a:endParaRPr lang="en-US" sz="1250" dirty="0"/>
          </a:p>
        </p:txBody>
      </p:sp>
      <p:pic>
        <p:nvPicPr>
          <p:cNvPr id="17" name="Image 4" descr="preencoded.png">    </p:cNvPr>
          <p:cNvPicPr>
            <a:picLocks noChangeAspect="1"/>
          </p:cNvPicPr>
          <p:nvPr/>
        </p:nvPicPr>
        <p:blipFill>
          <a:blip r:embed="rId5"/>
          <a:stretch>
            <a:fillRect/>
          </a:stretch>
        </p:blipFill>
        <p:spPr>
          <a:xfrm>
            <a:off x="3063240" y="3017520"/>
            <a:ext cx="365760" cy="365760"/>
          </a:xfrm>
          <a:prstGeom prst="rect">
            <a:avLst/>
          </a:prstGeom>
        </p:spPr>
      </p:pic>
      <p:sp>
        <p:nvSpPr>
          <p:cNvPr id="18" name="Text 11"/>
          <p:cNvSpPr/>
          <p:nvPr/>
        </p:nvSpPr>
        <p:spPr>
          <a:xfrm>
            <a:off x="3703320" y="1508760"/>
            <a:ext cx="2651760" cy="274320"/>
          </a:xfrm>
          <a:prstGeom prst="rect">
            <a:avLst/>
          </a:prstGeom>
          <a:noFill/>
          <a:ln/>
        </p:spPr>
        <p:txBody>
          <a:bodyPr wrap="square" lIns="0" tIns="0" rIns="0" bIns="0" rtlCol="0" anchor="ctr"/>
          <a:lstStyle/>
          <a:p>
            <a:pPr indent="0" marL="0">
              <a:buNone/>
            </a:pPr>
            <a:r>
              <a:rPr lang="en-US" sz="1050" b="1" spc="130" kern="0" dirty="0">
                <a:solidFill>
                  <a:srgbClr val="CABAA9"/>
                </a:solidFill>
                <a:latin typeface="Calibri" pitchFamily="34" charset="0"/>
                <a:ea typeface="Calibri" pitchFamily="34" charset="-122"/>
                <a:cs typeface="Calibri" pitchFamily="34" charset="-120"/>
              </a:rPr>
              <a:t>PREPROCESSING</a:t>
            </a:r>
            <a:endParaRPr lang="en-US" sz="1050" dirty="0"/>
          </a:p>
        </p:txBody>
      </p:sp>
      <p:sp>
        <p:nvSpPr>
          <p:cNvPr id="19" name="Shape 12"/>
          <p:cNvSpPr/>
          <p:nvPr/>
        </p:nvSpPr>
        <p:spPr>
          <a:xfrm>
            <a:off x="3703320" y="1965960"/>
            <a:ext cx="2743200" cy="2331720"/>
          </a:xfrm>
          <a:prstGeom prst="roundRect">
            <a:avLst>
              <a:gd name="adj" fmla="val 3137"/>
            </a:avLst>
          </a:prstGeom>
          <a:solidFill>
            <a:srgbClr val="211C15"/>
          </a:solidFill>
          <a:ln w="12700">
            <a:solidFill>
              <a:srgbClr val="3A3122"/>
            </a:solidFill>
            <a:prstDash val="solid"/>
          </a:ln>
        </p:spPr>
      </p:sp>
      <p:sp>
        <p:nvSpPr>
          <p:cNvPr id="20" name="Text 13"/>
          <p:cNvSpPr/>
          <p:nvPr/>
        </p:nvSpPr>
        <p:spPr>
          <a:xfrm>
            <a:off x="3904488" y="2167128"/>
            <a:ext cx="2340864" cy="502920"/>
          </a:xfrm>
          <a:prstGeom prst="rect">
            <a:avLst/>
          </a:prstGeom>
          <a:noFill/>
          <a:ln/>
        </p:spPr>
        <p:txBody>
          <a:bodyPr wrap="square" lIns="0" tIns="0" rIns="0" bIns="0" rtlCol="0" anchor="t"/>
          <a:lstStyle/>
          <a:p>
            <a:pPr indent="0" marL="0">
              <a:lnSpc>
                <a:spcPct val="115000"/>
              </a:lnSpc>
              <a:buNone/>
            </a:pPr>
            <a:r>
              <a:rPr lang="en-US" sz="1150" dirty="0">
                <a:solidFill>
                  <a:srgbClr val="FAF9F6"/>
                </a:solidFill>
                <a:latin typeface="Cambria" pitchFamily="34" charset="0"/>
                <a:ea typeface="Cambria" pitchFamily="34" charset="-122"/>
                <a:cs typeface="Cambria" pitchFamily="34" charset="-120"/>
              </a:rPr>
              <a:t>• Illness / alcohol days excluded</a:t>
            </a:r>
            <a:endParaRPr lang="en-US" sz="1150" dirty="0"/>
          </a:p>
        </p:txBody>
      </p:sp>
      <p:sp>
        <p:nvSpPr>
          <p:cNvPr id="21" name="Text 14"/>
          <p:cNvSpPr/>
          <p:nvPr/>
        </p:nvSpPr>
        <p:spPr>
          <a:xfrm>
            <a:off x="3904488" y="2734056"/>
            <a:ext cx="2340864" cy="502920"/>
          </a:xfrm>
          <a:prstGeom prst="rect">
            <a:avLst/>
          </a:prstGeom>
          <a:noFill/>
          <a:ln/>
        </p:spPr>
        <p:txBody>
          <a:bodyPr wrap="square" lIns="0" tIns="0" rIns="0" bIns="0" rtlCol="0" anchor="t"/>
          <a:lstStyle/>
          <a:p>
            <a:pPr indent="0" marL="0">
              <a:lnSpc>
                <a:spcPct val="115000"/>
              </a:lnSpc>
              <a:buNone/>
            </a:pPr>
            <a:r>
              <a:rPr lang="en-US" sz="1150" dirty="0">
                <a:solidFill>
                  <a:srgbClr val="FAF9F6"/>
                </a:solidFill>
                <a:latin typeface="Cambria" pitchFamily="34" charset="0"/>
                <a:ea typeface="Cambria" pitchFamily="34" charset="-122"/>
                <a:cs typeface="Cambria" pitchFamily="34" charset="-120"/>
              </a:rPr>
              <a:t>• &lt; 4h sleep invalidates that BBT</a:t>
            </a:r>
            <a:endParaRPr lang="en-US" sz="1150" dirty="0"/>
          </a:p>
        </p:txBody>
      </p:sp>
      <p:sp>
        <p:nvSpPr>
          <p:cNvPr id="22" name="Text 15"/>
          <p:cNvSpPr/>
          <p:nvPr/>
        </p:nvSpPr>
        <p:spPr>
          <a:xfrm>
            <a:off x="3904488" y="3300984"/>
            <a:ext cx="2340864" cy="502920"/>
          </a:xfrm>
          <a:prstGeom prst="rect">
            <a:avLst/>
          </a:prstGeom>
          <a:noFill/>
          <a:ln/>
        </p:spPr>
        <p:txBody>
          <a:bodyPr wrap="square" lIns="0" tIns="0" rIns="0" bIns="0" rtlCol="0" anchor="t"/>
          <a:lstStyle/>
          <a:p>
            <a:pPr indent="0" marL="0">
              <a:lnSpc>
                <a:spcPct val="115000"/>
              </a:lnSpc>
              <a:buNone/>
            </a:pPr>
            <a:r>
              <a:rPr lang="en-US" sz="1150" dirty="0">
                <a:solidFill>
                  <a:srgbClr val="FAF9F6"/>
                </a:solidFill>
                <a:latin typeface="Cambria" pitchFamily="34" charset="0"/>
                <a:ea typeface="Cambria" pitchFamily="34" charset="-122"/>
                <a:cs typeface="Cambria" pitchFamily="34" charset="-120"/>
              </a:rPr>
              <a:t>• Wake time &gt; 90min off average excluded</a:t>
            </a:r>
            <a:endParaRPr lang="en-US" sz="1150" dirty="0"/>
          </a:p>
        </p:txBody>
      </p:sp>
      <p:sp>
        <p:nvSpPr>
          <p:cNvPr id="23" name="Text 16"/>
          <p:cNvSpPr/>
          <p:nvPr/>
        </p:nvSpPr>
        <p:spPr>
          <a:xfrm>
            <a:off x="3904488" y="3867912"/>
            <a:ext cx="2340864" cy="502920"/>
          </a:xfrm>
          <a:prstGeom prst="rect">
            <a:avLst/>
          </a:prstGeom>
          <a:noFill/>
          <a:ln/>
        </p:spPr>
        <p:txBody>
          <a:bodyPr wrap="square" lIns="0" tIns="0" rIns="0" bIns="0" rtlCol="0" anchor="t"/>
          <a:lstStyle/>
          <a:p>
            <a:pPr indent="0" marL="0">
              <a:lnSpc>
                <a:spcPct val="115000"/>
              </a:lnSpc>
              <a:buNone/>
            </a:pPr>
            <a:r>
              <a:rPr lang="en-US" sz="1150" dirty="0">
                <a:solidFill>
                  <a:srgbClr val="FAF9F6"/>
                </a:solidFill>
                <a:latin typeface="Cambria" pitchFamily="34" charset="0"/>
                <a:ea typeface="Cambria" pitchFamily="34" charset="-122"/>
                <a:cs typeface="Cambria" pitchFamily="34" charset="-120"/>
              </a:rPr>
              <a:t>• LH banded 0–4 vs. backing card</a:t>
            </a:r>
            <a:endParaRPr lang="en-US" sz="1150" dirty="0"/>
          </a:p>
        </p:txBody>
      </p:sp>
      <p:pic>
        <p:nvPicPr>
          <p:cNvPr id="24" name="Image 5" descr="preencoded.png">    </p:cNvPr>
          <p:cNvPicPr>
            <a:picLocks noChangeAspect="1"/>
          </p:cNvPicPr>
          <p:nvPr/>
        </p:nvPicPr>
        <p:blipFill>
          <a:blip r:embed="rId6"/>
          <a:stretch>
            <a:fillRect/>
          </a:stretch>
        </p:blipFill>
        <p:spPr>
          <a:xfrm>
            <a:off x="6720840" y="3017520"/>
            <a:ext cx="365760" cy="365760"/>
          </a:xfrm>
          <a:prstGeom prst="rect">
            <a:avLst/>
          </a:prstGeom>
        </p:spPr>
      </p:pic>
      <p:sp>
        <p:nvSpPr>
          <p:cNvPr id="25" name="Text 17"/>
          <p:cNvSpPr/>
          <p:nvPr/>
        </p:nvSpPr>
        <p:spPr>
          <a:xfrm>
            <a:off x="7360920" y="1508760"/>
            <a:ext cx="3108960" cy="274320"/>
          </a:xfrm>
          <a:prstGeom prst="rect">
            <a:avLst/>
          </a:prstGeom>
          <a:noFill/>
          <a:ln/>
        </p:spPr>
        <p:txBody>
          <a:bodyPr wrap="square" lIns="0" tIns="0" rIns="0" bIns="0" rtlCol="0" anchor="ctr"/>
          <a:lstStyle/>
          <a:p>
            <a:pPr indent="0" marL="0">
              <a:buNone/>
            </a:pPr>
            <a:r>
              <a:rPr lang="en-US" sz="1050" b="1" spc="130" kern="0" dirty="0">
                <a:solidFill>
                  <a:srgbClr val="CABAA9"/>
                </a:solidFill>
                <a:latin typeface="Calibri" pitchFamily="34" charset="0"/>
                <a:ea typeface="Calibri" pitchFamily="34" charset="-122"/>
                <a:cs typeface="Calibri" pitchFamily="34" charset="-120"/>
              </a:rPr>
              <a:t>PER-SIGNAL DETECTORS</a:t>
            </a:r>
            <a:endParaRPr lang="en-US" sz="1050" dirty="0"/>
          </a:p>
        </p:txBody>
      </p:sp>
      <p:sp>
        <p:nvSpPr>
          <p:cNvPr id="26" name="Shape 18"/>
          <p:cNvSpPr/>
          <p:nvPr/>
        </p:nvSpPr>
        <p:spPr>
          <a:xfrm>
            <a:off x="7360920" y="1965960"/>
            <a:ext cx="2880360" cy="2331720"/>
          </a:xfrm>
          <a:prstGeom prst="roundRect">
            <a:avLst>
              <a:gd name="adj" fmla="val 3137"/>
            </a:avLst>
          </a:prstGeom>
          <a:solidFill>
            <a:srgbClr val="211C15"/>
          </a:solidFill>
          <a:ln w="12700">
            <a:solidFill>
              <a:srgbClr val="3A3122"/>
            </a:solidFill>
            <a:prstDash val="solid"/>
          </a:ln>
        </p:spPr>
      </p:sp>
      <p:sp>
        <p:nvSpPr>
          <p:cNvPr id="27" name="Text 19"/>
          <p:cNvSpPr/>
          <p:nvPr/>
        </p:nvSpPr>
        <p:spPr>
          <a:xfrm>
            <a:off x="7562088" y="2167128"/>
            <a:ext cx="2468880" cy="502920"/>
          </a:xfrm>
          <a:prstGeom prst="rect">
            <a:avLst/>
          </a:prstGeom>
          <a:noFill/>
          <a:ln/>
        </p:spPr>
        <p:txBody>
          <a:bodyPr wrap="square" lIns="0" tIns="0" rIns="0" bIns="0" rtlCol="0" anchor="t"/>
          <a:lstStyle/>
          <a:p>
            <a:pPr indent="0" marL="0">
              <a:lnSpc>
                <a:spcPct val="115000"/>
              </a:lnSpc>
              <a:buNone/>
            </a:pPr>
            <a:r>
              <a:rPr lang="en-US" sz="1150" dirty="0">
                <a:solidFill>
                  <a:srgbClr val="FAF9F6"/>
                </a:solidFill>
                <a:latin typeface="Cambria" pitchFamily="34" charset="0"/>
                <a:ea typeface="Cambria" pitchFamily="34" charset="-122"/>
                <a:cs typeface="Cambria" pitchFamily="34" charset="-120"/>
              </a:rPr>
              <a:t>• Thermal shift: 3-over-6 coverline rule</a:t>
            </a:r>
            <a:endParaRPr lang="en-US" sz="1150" dirty="0"/>
          </a:p>
        </p:txBody>
      </p:sp>
      <p:sp>
        <p:nvSpPr>
          <p:cNvPr id="28" name="Text 20"/>
          <p:cNvSpPr/>
          <p:nvPr/>
        </p:nvSpPr>
        <p:spPr>
          <a:xfrm>
            <a:off x="7562088" y="2734056"/>
            <a:ext cx="2468880" cy="502920"/>
          </a:xfrm>
          <a:prstGeom prst="rect">
            <a:avLst/>
          </a:prstGeom>
          <a:noFill/>
          <a:ln/>
        </p:spPr>
        <p:txBody>
          <a:bodyPr wrap="square" lIns="0" tIns="0" rIns="0" bIns="0" rtlCol="0" anchor="t"/>
          <a:lstStyle/>
          <a:p>
            <a:pPr indent="0" marL="0">
              <a:lnSpc>
                <a:spcPct val="115000"/>
              </a:lnSpc>
              <a:buNone/>
            </a:pPr>
            <a:r>
              <a:rPr lang="en-US" sz="1150" dirty="0">
                <a:solidFill>
                  <a:srgbClr val="FAF9F6"/>
                </a:solidFill>
                <a:latin typeface="Cambria" pitchFamily="34" charset="0"/>
                <a:ea typeface="Cambria" pitchFamily="34" charset="-122"/>
                <a:cs typeface="Cambria" pitchFamily="34" charset="-120"/>
              </a:rPr>
              <a:t>• Surge: ≥ 2 grades above her own LH baseline</a:t>
            </a:r>
            <a:endParaRPr lang="en-US" sz="1150" dirty="0"/>
          </a:p>
        </p:txBody>
      </p:sp>
      <p:sp>
        <p:nvSpPr>
          <p:cNvPr id="29" name="Text 21"/>
          <p:cNvSpPr/>
          <p:nvPr/>
        </p:nvSpPr>
        <p:spPr>
          <a:xfrm>
            <a:off x="7562088" y="3300984"/>
            <a:ext cx="2468880" cy="502920"/>
          </a:xfrm>
          <a:prstGeom prst="rect">
            <a:avLst/>
          </a:prstGeom>
          <a:noFill/>
          <a:ln/>
        </p:spPr>
        <p:txBody>
          <a:bodyPr wrap="square" lIns="0" tIns="0" rIns="0" bIns="0" rtlCol="0" anchor="t"/>
          <a:lstStyle/>
          <a:p>
            <a:pPr indent="0" marL="0">
              <a:lnSpc>
                <a:spcPct val="115000"/>
              </a:lnSpc>
              <a:buNone/>
            </a:pPr>
            <a:r>
              <a:rPr lang="en-US" sz="1150" dirty="0">
                <a:solidFill>
                  <a:srgbClr val="FAF9F6"/>
                </a:solidFill>
                <a:latin typeface="Cambria" pitchFamily="34" charset="0"/>
                <a:ea typeface="Cambria" pitchFamily="34" charset="-122"/>
                <a:cs typeface="Cambria" pitchFamily="34" charset="-120"/>
              </a:rPr>
              <a:t>• Peak-mucus coincidence check</a:t>
            </a:r>
            <a:endParaRPr lang="en-US" sz="1150" dirty="0"/>
          </a:p>
        </p:txBody>
      </p:sp>
      <p:sp>
        <p:nvSpPr>
          <p:cNvPr id="30" name="Text 22"/>
          <p:cNvSpPr/>
          <p:nvPr/>
        </p:nvSpPr>
        <p:spPr>
          <a:xfrm>
            <a:off x="7562088" y="3867912"/>
            <a:ext cx="2468880" cy="502920"/>
          </a:xfrm>
          <a:prstGeom prst="rect">
            <a:avLst/>
          </a:prstGeom>
          <a:noFill/>
          <a:ln/>
        </p:spPr>
        <p:txBody>
          <a:bodyPr wrap="square" lIns="0" tIns="0" rIns="0" bIns="0" rtlCol="0" anchor="t"/>
          <a:lstStyle/>
          <a:p>
            <a:pPr indent="0" marL="0">
              <a:lnSpc>
                <a:spcPct val="115000"/>
              </a:lnSpc>
              <a:buNone/>
            </a:pPr>
            <a:r>
              <a:rPr lang="en-US" sz="1150" dirty="0">
                <a:solidFill>
                  <a:srgbClr val="FAF9F6"/>
                </a:solidFill>
                <a:latin typeface="Cambria" pitchFamily="34" charset="0"/>
                <a:ea typeface="Cambria" pitchFamily="34" charset="-122"/>
                <a:cs typeface="Cambria" pitchFamily="34" charset="-120"/>
              </a:rPr>
              <a:t>• Anovulatory pattern scan (parallel)</a:t>
            </a:r>
            <a:endParaRPr lang="en-US" sz="1150" dirty="0"/>
          </a:p>
        </p:txBody>
      </p:sp>
      <p:pic>
        <p:nvPicPr>
          <p:cNvPr id="31" name="Image 6" descr="preencoded.png">    </p:cNvPr>
          <p:cNvPicPr>
            <a:picLocks noChangeAspect="1"/>
          </p:cNvPicPr>
          <p:nvPr/>
        </p:nvPicPr>
        <p:blipFill>
          <a:blip r:embed="rId7"/>
          <a:stretch>
            <a:fillRect/>
          </a:stretch>
        </p:blipFill>
        <p:spPr>
          <a:xfrm rot="5400000">
            <a:off x="5532120" y="4526280"/>
            <a:ext cx="365760" cy="365760"/>
          </a:xfrm>
          <a:prstGeom prst="rect">
            <a:avLst/>
          </a:prstGeom>
        </p:spPr>
      </p:pic>
      <p:sp>
        <p:nvSpPr>
          <p:cNvPr id="32" name="Shape 23"/>
          <p:cNvSpPr/>
          <p:nvPr/>
        </p:nvSpPr>
        <p:spPr>
          <a:xfrm>
            <a:off x="2377440" y="5074920"/>
            <a:ext cx="7406640" cy="1051560"/>
          </a:xfrm>
          <a:prstGeom prst="roundRect">
            <a:avLst>
              <a:gd name="adj" fmla="val 7826"/>
            </a:avLst>
          </a:prstGeom>
          <a:solidFill>
            <a:srgbClr val="3F8A76"/>
          </a:solidFill>
          <a:ln/>
        </p:spPr>
      </p:sp>
      <p:sp>
        <p:nvSpPr>
          <p:cNvPr id="33" name="Shape 24"/>
          <p:cNvSpPr/>
          <p:nvPr/>
        </p:nvSpPr>
        <p:spPr>
          <a:xfrm>
            <a:off x="2606040" y="5294376"/>
            <a:ext cx="603504" cy="603504"/>
          </a:xfrm>
          <a:prstGeom prst="ellipse">
            <a:avLst/>
          </a:prstGeom>
          <a:solidFill>
            <a:srgbClr val="234840"/>
          </a:solidFill>
          <a:ln/>
        </p:spPr>
      </p:sp>
      <p:pic>
        <p:nvPicPr>
          <p:cNvPr id="34" name="Image 7" descr="preencoded.png">    </p:cNvPr>
          <p:cNvPicPr>
            <a:picLocks noChangeAspect="1"/>
          </p:cNvPicPr>
          <p:nvPr/>
        </p:nvPicPr>
        <p:blipFill>
          <a:blip r:embed="rId8"/>
          <a:stretch>
            <a:fillRect/>
          </a:stretch>
        </p:blipFill>
        <p:spPr>
          <a:xfrm>
            <a:off x="2762951" y="5451287"/>
            <a:ext cx="289682" cy="289682"/>
          </a:xfrm>
          <a:prstGeom prst="rect">
            <a:avLst/>
          </a:prstGeom>
        </p:spPr>
      </p:pic>
      <p:sp>
        <p:nvSpPr>
          <p:cNvPr id="35" name="Text 25"/>
          <p:cNvSpPr/>
          <p:nvPr/>
        </p:nvSpPr>
        <p:spPr>
          <a:xfrm>
            <a:off x="3337560" y="5193792"/>
            <a:ext cx="2743200" cy="320040"/>
          </a:xfrm>
          <a:prstGeom prst="rect">
            <a:avLst/>
          </a:prstGeom>
          <a:noFill/>
          <a:ln/>
        </p:spPr>
        <p:txBody>
          <a:bodyPr wrap="square" lIns="0" tIns="0" rIns="0" bIns="0" rtlCol="0" anchor="ctr"/>
          <a:lstStyle/>
          <a:p>
            <a:pPr indent="0" marL="0">
              <a:buNone/>
            </a:pPr>
            <a:r>
              <a:rPr lang="en-US" sz="1350" b="1" dirty="0">
                <a:solidFill>
                  <a:srgbClr val="17140F"/>
                </a:solidFill>
                <a:latin typeface="Calibri" pitchFamily="34" charset="0"/>
                <a:ea typeface="Calibri" pitchFamily="34" charset="-122"/>
                <a:cs typeface="Calibri" pitchFamily="34" charset="-120"/>
              </a:rPr>
              <a:t>Fusion &amp; priority logic</a:t>
            </a:r>
            <a:endParaRPr lang="en-US" sz="1350" dirty="0"/>
          </a:p>
        </p:txBody>
      </p:sp>
      <p:sp>
        <p:nvSpPr>
          <p:cNvPr id="36" name="Text 26"/>
          <p:cNvSpPr/>
          <p:nvPr/>
        </p:nvSpPr>
        <p:spPr>
          <a:xfrm>
            <a:off x="3337560" y="5513832"/>
            <a:ext cx="6309360" cy="548640"/>
          </a:xfrm>
          <a:prstGeom prst="rect">
            <a:avLst/>
          </a:prstGeom>
          <a:noFill/>
          <a:ln/>
        </p:spPr>
        <p:txBody>
          <a:bodyPr wrap="square" lIns="0" tIns="0" rIns="0" bIns="0" rtlCol="0" anchor="t"/>
          <a:lstStyle/>
          <a:p>
            <a:pPr indent="0" marL="0">
              <a:lnSpc>
                <a:spcPct val="110000"/>
              </a:lnSpc>
              <a:buNone/>
            </a:pPr>
            <a:r>
              <a:rPr lang="en-US" sz="1150" i="1" dirty="0">
                <a:solidFill>
                  <a:srgbClr val="17140F"/>
                </a:solidFill>
                <a:latin typeface="Cambria" pitchFamily="34" charset="0"/>
                <a:ea typeface="Cambria" pitchFamily="34" charset="-122"/>
                <a:cs typeface="Cambria" pitchFamily="34" charset="-120"/>
              </a:rPr>
              <a:t>BBT confirmation › LH/OPK prediction › mucus-sharpened date math › date math alone</a:t>
            </a:r>
            <a:endParaRPr lang="en-US" sz="1150" dirty="0"/>
          </a:p>
        </p:txBody>
      </p:sp>
      <p:sp>
        <p:nvSpPr>
          <p:cNvPr id="37" name="Text 27"/>
          <p:cNvSpPr/>
          <p:nvPr/>
        </p:nvSpPr>
        <p:spPr>
          <a:xfrm>
            <a:off x="502920" y="6473952"/>
            <a:ext cx="3657600" cy="274320"/>
          </a:xfrm>
          <a:prstGeom prst="rect">
            <a:avLst/>
          </a:prstGeom>
          <a:noFill/>
          <a:ln/>
        </p:spPr>
        <p:txBody>
          <a:bodyPr wrap="square" lIns="0" tIns="0" rIns="0" bIns="0" rtlCol="0" anchor="ctr"/>
          <a:lstStyle/>
          <a:p>
            <a:pPr indent="0" marL="0">
              <a:buNone/>
            </a:pPr>
            <a:r>
              <a:rPr lang="en-US" sz="900" b="1" spc="200" kern="0" dirty="0">
                <a:solidFill>
                  <a:srgbClr val="7D6E5C"/>
                </a:solidFill>
                <a:latin typeface="Calibri" pitchFamily="34" charset="0"/>
                <a:ea typeface="Calibri" pitchFamily="34" charset="-122"/>
                <a:cs typeface="Calibri" pitchFamily="34" charset="-120"/>
              </a:rPr>
              <a:t>ROVE HEALTH</a:t>
            </a:r>
            <a:endParaRPr lang="en-US" sz="900" dirty="0"/>
          </a:p>
        </p:txBody>
      </p:sp>
      <p:sp>
        <p:nvSpPr>
          <p:cNvPr id="38" name="Text 28"/>
          <p:cNvSpPr/>
          <p:nvPr/>
        </p:nvSpPr>
        <p:spPr>
          <a:xfrm>
            <a:off x="3809848" y="6473952"/>
            <a:ext cx="4572000" cy="274320"/>
          </a:xfrm>
          <a:prstGeom prst="rect">
            <a:avLst/>
          </a:prstGeom>
          <a:noFill/>
          <a:ln/>
        </p:spPr>
        <p:txBody>
          <a:bodyPr wrap="square" lIns="0" tIns="0" rIns="0" bIns="0" rtlCol="0" anchor="ctr"/>
          <a:lstStyle/>
          <a:p>
            <a:pPr algn="ctr" indent="0" marL="0">
              <a:buNone/>
            </a:pPr>
            <a:r>
              <a:rPr lang="en-US" sz="900" spc="150" kern="0" dirty="0">
                <a:solidFill>
                  <a:srgbClr val="7D6E5C"/>
                </a:solidFill>
                <a:latin typeface="Calibri" pitchFamily="34" charset="0"/>
                <a:ea typeface="Calibri" pitchFamily="34" charset="-122"/>
                <a:cs typeface="Calibri" pitchFamily="34" charset="-120"/>
              </a:rPr>
              <a:t>GENESIS EIR 3.0 — DEEP TECH TRACK</a:t>
            </a:r>
            <a:endParaRPr lang="en-US" sz="900" dirty="0"/>
          </a:p>
        </p:txBody>
      </p:sp>
      <p:sp>
        <p:nvSpPr>
          <p:cNvPr id="39" name="Text 29"/>
          <p:cNvSpPr/>
          <p:nvPr/>
        </p:nvSpPr>
        <p:spPr>
          <a:xfrm>
            <a:off x="10317175" y="6473952"/>
            <a:ext cx="1371600" cy="274320"/>
          </a:xfrm>
          <a:prstGeom prst="rect">
            <a:avLst/>
          </a:prstGeom>
          <a:noFill/>
          <a:ln/>
        </p:spPr>
        <p:txBody>
          <a:bodyPr wrap="square" lIns="0" tIns="0" rIns="0" bIns="0" rtlCol="0" anchor="ctr"/>
          <a:lstStyle/>
          <a:p>
            <a:pPr algn="r" indent="0" marL="0">
              <a:buNone/>
            </a:pPr>
            <a:r>
              <a:rPr lang="en-US" sz="900" dirty="0">
                <a:solidFill>
                  <a:srgbClr val="7D6E5C"/>
                </a:solidFill>
                <a:latin typeface="Courier New" pitchFamily="34" charset="0"/>
                <a:ea typeface="Courier New" pitchFamily="34" charset="-122"/>
                <a:cs typeface="Courier Ne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200" kern="0" dirty="0">
                <a:solidFill>
                  <a:srgbClr val="7D6E5C"/>
                </a:solidFill>
                <a:latin typeface="Calibri" pitchFamily="34" charset="0"/>
                <a:ea typeface="Calibri" pitchFamily="34" charset="-122"/>
                <a:cs typeface="Calibri" pitchFamily="34" charset="-120"/>
              </a:rPr>
              <a:t>INNOVATION — 01</a:t>
            </a:r>
            <a:endParaRPr lang="en-US" sz="1200" dirty="0"/>
          </a:p>
        </p:txBody>
      </p:sp>
      <p:sp>
        <p:nvSpPr>
          <p:cNvPr id="3" name="Text 1"/>
          <p:cNvSpPr/>
          <p:nvPr/>
        </p:nvSpPr>
        <p:spPr>
          <a:xfrm>
            <a:off x="502920" y="786384"/>
            <a:ext cx="9418320" cy="777240"/>
          </a:xfrm>
          <a:prstGeom prst="rect">
            <a:avLst/>
          </a:prstGeom>
          <a:noFill/>
          <a:ln/>
        </p:spPr>
        <p:txBody>
          <a:bodyPr wrap="square" lIns="0" tIns="0" rIns="0" bIns="0" rtlCol="0" anchor="t"/>
          <a:lstStyle/>
          <a:p>
            <a:pPr indent="0" marL="0">
              <a:buNone/>
            </a:pPr>
            <a:r>
              <a:rPr lang="en-US" sz="2700" b="1" dirty="0">
                <a:solidFill>
                  <a:srgbClr val="17140F"/>
                </a:solidFill>
                <a:latin typeface="Calibri" pitchFamily="34" charset="0"/>
                <a:ea typeface="Calibri" pitchFamily="34" charset="-122"/>
                <a:cs typeface="Calibri" pitchFamily="34" charset="-120"/>
              </a:rPr>
              <a:t>Reading a strip the way she reads her own body, not a printed cutoff</a:t>
            </a:r>
            <a:endParaRPr lang="en-US" sz="2700" dirty="0"/>
          </a:p>
        </p:txBody>
      </p:sp>
      <p:sp>
        <p:nvSpPr>
          <p:cNvPr id="4" name="Shape 2"/>
          <p:cNvSpPr/>
          <p:nvPr/>
        </p:nvSpPr>
        <p:spPr>
          <a:xfrm>
            <a:off x="10774375" y="685800"/>
            <a:ext cx="914400" cy="914400"/>
          </a:xfrm>
          <a:prstGeom prst="ellipse">
            <a:avLst/>
          </a:prstGeom>
          <a:solidFill>
            <a:srgbClr val="ECE4DA"/>
          </a:solidFill>
          <a:ln/>
        </p:spPr>
      </p:sp>
      <p:pic>
        <p:nvPicPr>
          <p:cNvPr id="5" name="Image 0" descr="preencoded.png">    </p:cNvPr>
          <p:cNvPicPr>
            <a:picLocks noChangeAspect="1"/>
          </p:cNvPicPr>
          <p:nvPr/>
        </p:nvPicPr>
        <p:blipFill>
          <a:blip r:embed="rId1"/>
          <a:stretch>
            <a:fillRect/>
          </a:stretch>
        </p:blipFill>
        <p:spPr>
          <a:xfrm>
            <a:off x="11012119" y="923544"/>
            <a:ext cx="438912" cy="438912"/>
          </a:xfrm>
          <a:prstGeom prst="rect">
            <a:avLst/>
          </a:prstGeom>
        </p:spPr>
      </p:pic>
      <p:sp>
        <p:nvSpPr>
          <p:cNvPr id="6" name="Shape 3"/>
          <p:cNvSpPr/>
          <p:nvPr/>
        </p:nvSpPr>
        <p:spPr>
          <a:xfrm>
            <a:off x="502920" y="1965960"/>
            <a:ext cx="82296" cy="713232"/>
          </a:xfrm>
          <a:prstGeom prst="roundRect">
            <a:avLst>
              <a:gd name="adj" fmla="val 22222"/>
            </a:avLst>
          </a:prstGeom>
          <a:solidFill>
            <a:srgbClr val="3F8A76"/>
          </a:solidFill>
          <a:ln/>
        </p:spPr>
      </p:sp>
      <p:sp>
        <p:nvSpPr>
          <p:cNvPr id="7" name="Text 4"/>
          <p:cNvSpPr/>
          <p:nvPr/>
        </p:nvSpPr>
        <p:spPr>
          <a:xfrm>
            <a:off x="795528" y="1938528"/>
            <a:ext cx="10893247" cy="292608"/>
          </a:xfrm>
          <a:prstGeom prst="rect">
            <a:avLst/>
          </a:prstGeom>
          <a:noFill/>
          <a:ln/>
        </p:spPr>
        <p:txBody>
          <a:bodyPr wrap="square" lIns="0" tIns="0" rIns="0" bIns="0" rtlCol="0" anchor="ctr"/>
          <a:lstStyle/>
          <a:p>
            <a:pPr indent="0" marL="0">
              <a:buNone/>
            </a:pPr>
            <a:r>
              <a:rPr lang="en-US" sz="1450" b="1" dirty="0">
                <a:solidFill>
                  <a:srgbClr val="17140F"/>
                </a:solidFill>
                <a:latin typeface="Calibri" pitchFamily="34" charset="0"/>
                <a:ea typeface="Calibri" pitchFamily="34" charset="-122"/>
                <a:cs typeface="Calibri" pitchFamily="34" charset="-120"/>
              </a:rPr>
              <a:t>Ordinal, not numeric</a:t>
            </a:r>
            <a:endParaRPr lang="en-US" sz="1450" dirty="0"/>
          </a:p>
        </p:txBody>
      </p:sp>
      <p:sp>
        <p:nvSpPr>
          <p:cNvPr id="8" name="Text 5"/>
          <p:cNvSpPr/>
          <p:nvPr/>
        </p:nvSpPr>
        <p:spPr>
          <a:xfrm>
            <a:off x="795528" y="2221992"/>
            <a:ext cx="10893247" cy="502920"/>
          </a:xfrm>
          <a:prstGeom prst="rect">
            <a:avLst/>
          </a:prstGeom>
          <a:noFill/>
          <a:ln/>
        </p:spPr>
        <p:txBody>
          <a:bodyPr wrap="square" lIns="0" tIns="0" rIns="0" bIns="0" rtlCol="0" anchor="t"/>
          <a:lstStyle/>
          <a:p>
            <a:pPr indent="0" marL="0">
              <a:lnSpc>
                <a:spcPct val="120000"/>
              </a:lnSpc>
              <a:buNone/>
            </a:pPr>
            <a:r>
              <a:rPr lang="en-US" sz="1250" dirty="0">
                <a:solidFill>
                  <a:srgbClr val="7D6E5C"/>
                </a:solidFill>
                <a:latin typeface="Cambria" pitchFamily="34" charset="0"/>
                <a:ea typeface="Cambria" pitchFamily="34" charset="-122"/>
                <a:cs typeface="Cambria" pitchFamily="34" charset="-120"/>
              </a:rPr>
              <a:t>0–4 band levels, compared by eye against the kit’s own backing card — no photometer or lab required.</a:t>
            </a:r>
            <a:endParaRPr lang="en-US" sz="1250" dirty="0"/>
          </a:p>
        </p:txBody>
      </p:sp>
      <p:sp>
        <p:nvSpPr>
          <p:cNvPr id="9" name="Shape 6"/>
          <p:cNvSpPr/>
          <p:nvPr/>
        </p:nvSpPr>
        <p:spPr>
          <a:xfrm>
            <a:off x="502920" y="2898648"/>
            <a:ext cx="82296" cy="713232"/>
          </a:xfrm>
          <a:prstGeom prst="roundRect">
            <a:avLst>
              <a:gd name="adj" fmla="val 22222"/>
            </a:avLst>
          </a:prstGeom>
          <a:solidFill>
            <a:srgbClr val="3F8A76"/>
          </a:solidFill>
          <a:ln/>
        </p:spPr>
      </p:sp>
      <p:sp>
        <p:nvSpPr>
          <p:cNvPr id="10" name="Text 7"/>
          <p:cNvSpPr/>
          <p:nvPr/>
        </p:nvSpPr>
        <p:spPr>
          <a:xfrm>
            <a:off x="795528" y="2871216"/>
            <a:ext cx="10893247" cy="292608"/>
          </a:xfrm>
          <a:prstGeom prst="rect">
            <a:avLst/>
          </a:prstGeom>
          <a:noFill/>
          <a:ln/>
        </p:spPr>
        <p:txBody>
          <a:bodyPr wrap="square" lIns="0" tIns="0" rIns="0" bIns="0" rtlCol="0" anchor="ctr"/>
          <a:lstStyle/>
          <a:p>
            <a:pPr indent="0" marL="0">
              <a:buNone/>
            </a:pPr>
            <a:r>
              <a:rPr lang="en-US" sz="1450" b="1" dirty="0">
                <a:solidFill>
                  <a:srgbClr val="17140F"/>
                </a:solidFill>
                <a:latin typeface="Calibri" pitchFamily="34" charset="0"/>
                <a:ea typeface="Calibri" pitchFamily="34" charset="-122"/>
                <a:cs typeface="Calibri" pitchFamily="34" charset="-120"/>
              </a:rPr>
              <a:t>A personal baseline, not a population one</a:t>
            </a:r>
            <a:endParaRPr lang="en-US" sz="1450" dirty="0"/>
          </a:p>
        </p:txBody>
      </p:sp>
      <p:sp>
        <p:nvSpPr>
          <p:cNvPr id="11" name="Text 8"/>
          <p:cNvSpPr/>
          <p:nvPr/>
        </p:nvSpPr>
        <p:spPr>
          <a:xfrm>
            <a:off x="795528" y="3154680"/>
            <a:ext cx="10893247" cy="502920"/>
          </a:xfrm>
          <a:prstGeom prst="rect">
            <a:avLst/>
          </a:prstGeom>
          <a:noFill/>
          <a:ln/>
        </p:spPr>
        <p:txBody>
          <a:bodyPr wrap="square" lIns="0" tIns="0" rIns="0" bIns="0" rtlCol="0" anchor="t"/>
          <a:lstStyle/>
          <a:p>
            <a:pPr indent="0" marL="0">
              <a:lnSpc>
                <a:spcPct val="120000"/>
              </a:lnSpc>
              <a:buNone/>
            </a:pPr>
            <a:r>
              <a:rPr lang="en-US" sz="1250" dirty="0">
                <a:solidFill>
                  <a:srgbClr val="7D6E5C"/>
                </a:solidFill>
                <a:latin typeface="Cambria" pitchFamily="34" charset="0"/>
                <a:ea typeface="Cambria" pitchFamily="34" charset="-122"/>
                <a:cs typeface="Cambria" pitchFamily="34" charset="-120"/>
              </a:rPr>
              <a:t>Her baseline is the median of her own lowest-tertile band readings, across every logged cycle — not just this one.</a:t>
            </a:r>
            <a:endParaRPr lang="en-US" sz="1250" dirty="0"/>
          </a:p>
        </p:txBody>
      </p:sp>
      <p:sp>
        <p:nvSpPr>
          <p:cNvPr id="12" name="Shape 9"/>
          <p:cNvSpPr/>
          <p:nvPr/>
        </p:nvSpPr>
        <p:spPr>
          <a:xfrm>
            <a:off x="502920" y="3831336"/>
            <a:ext cx="82296" cy="713232"/>
          </a:xfrm>
          <a:prstGeom prst="roundRect">
            <a:avLst>
              <a:gd name="adj" fmla="val 22222"/>
            </a:avLst>
          </a:prstGeom>
          <a:solidFill>
            <a:srgbClr val="3F8A76"/>
          </a:solidFill>
          <a:ln/>
        </p:spPr>
      </p:sp>
      <p:sp>
        <p:nvSpPr>
          <p:cNvPr id="13" name="Text 10"/>
          <p:cNvSpPr/>
          <p:nvPr/>
        </p:nvSpPr>
        <p:spPr>
          <a:xfrm>
            <a:off x="795528" y="3803904"/>
            <a:ext cx="10893247" cy="292608"/>
          </a:xfrm>
          <a:prstGeom prst="rect">
            <a:avLst/>
          </a:prstGeom>
          <a:noFill/>
          <a:ln/>
        </p:spPr>
        <p:txBody>
          <a:bodyPr wrap="square" lIns="0" tIns="0" rIns="0" bIns="0" rtlCol="0" anchor="ctr"/>
          <a:lstStyle/>
          <a:p>
            <a:pPr indent="0" marL="0">
              <a:buNone/>
            </a:pPr>
            <a:r>
              <a:rPr lang="en-US" sz="1450" b="1" dirty="0">
                <a:solidFill>
                  <a:srgbClr val="17140F"/>
                </a:solidFill>
                <a:latin typeface="Calibri" pitchFamily="34" charset="0"/>
                <a:ea typeface="Calibri" pitchFamily="34" charset="-122"/>
                <a:cs typeface="Calibri" pitchFamily="34" charset="-120"/>
              </a:rPr>
              <a:t>A surge is relative, never absolute</a:t>
            </a:r>
            <a:endParaRPr lang="en-US" sz="1450" dirty="0"/>
          </a:p>
        </p:txBody>
      </p:sp>
      <p:sp>
        <p:nvSpPr>
          <p:cNvPr id="14" name="Text 11"/>
          <p:cNvSpPr/>
          <p:nvPr/>
        </p:nvSpPr>
        <p:spPr>
          <a:xfrm>
            <a:off x="795528" y="4087368"/>
            <a:ext cx="10893247" cy="502920"/>
          </a:xfrm>
          <a:prstGeom prst="rect">
            <a:avLst/>
          </a:prstGeom>
          <a:noFill/>
          <a:ln/>
        </p:spPr>
        <p:txBody>
          <a:bodyPr wrap="square" lIns="0" tIns="0" rIns="0" bIns="0" rtlCol="0" anchor="t"/>
          <a:lstStyle/>
          <a:p>
            <a:pPr indent="0" marL="0">
              <a:lnSpc>
                <a:spcPct val="120000"/>
              </a:lnSpc>
              <a:buNone/>
            </a:pPr>
            <a:r>
              <a:rPr lang="en-US" sz="1250" dirty="0">
                <a:solidFill>
                  <a:srgbClr val="7D6E5C"/>
                </a:solidFill>
                <a:latin typeface="Cambria" pitchFamily="34" charset="0"/>
                <a:ea typeface="Cambria" pitchFamily="34" charset="-122"/>
                <a:cs typeface="Cambria" pitchFamily="34" charset="-120"/>
              </a:rPr>
              <a:t>A reading counts as a surge only ≥ 2 grades above HER baseline, gated by an absolute floor so a first-cycle user is never over-called.</a:t>
            </a:r>
            <a:endParaRPr lang="en-US" sz="1250" dirty="0"/>
          </a:p>
        </p:txBody>
      </p:sp>
      <p:sp>
        <p:nvSpPr>
          <p:cNvPr id="15" name="Shape 12"/>
          <p:cNvSpPr/>
          <p:nvPr/>
        </p:nvSpPr>
        <p:spPr>
          <a:xfrm>
            <a:off x="502920" y="4764024"/>
            <a:ext cx="82296" cy="713232"/>
          </a:xfrm>
          <a:prstGeom prst="roundRect">
            <a:avLst>
              <a:gd name="adj" fmla="val 22222"/>
            </a:avLst>
          </a:prstGeom>
          <a:solidFill>
            <a:srgbClr val="3F8A76"/>
          </a:solidFill>
          <a:ln/>
        </p:spPr>
      </p:sp>
      <p:sp>
        <p:nvSpPr>
          <p:cNvPr id="16" name="Text 13"/>
          <p:cNvSpPr/>
          <p:nvPr/>
        </p:nvSpPr>
        <p:spPr>
          <a:xfrm>
            <a:off x="795528" y="4736592"/>
            <a:ext cx="10893247" cy="292608"/>
          </a:xfrm>
          <a:prstGeom prst="rect">
            <a:avLst/>
          </a:prstGeom>
          <a:noFill/>
          <a:ln/>
        </p:spPr>
        <p:txBody>
          <a:bodyPr wrap="square" lIns="0" tIns="0" rIns="0" bIns="0" rtlCol="0" anchor="ctr"/>
          <a:lstStyle/>
          <a:p>
            <a:pPr indent="0" marL="0">
              <a:buNone/>
            </a:pPr>
            <a:r>
              <a:rPr lang="en-US" sz="1450" b="1" dirty="0">
                <a:solidFill>
                  <a:srgbClr val="17140F"/>
                </a:solidFill>
                <a:latin typeface="Calibri" pitchFamily="34" charset="0"/>
                <a:ea typeface="Calibri" pitchFamily="34" charset="-122"/>
                <a:cs typeface="Calibri" pitchFamily="34" charset="-120"/>
              </a:rPr>
              <a:t>Multi-surge aware</a:t>
            </a:r>
            <a:endParaRPr lang="en-US" sz="1450" dirty="0"/>
          </a:p>
        </p:txBody>
      </p:sp>
      <p:sp>
        <p:nvSpPr>
          <p:cNvPr id="17" name="Text 14"/>
          <p:cNvSpPr/>
          <p:nvPr/>
        </p:nvSpPr>
        <p:spPr>
          <a:xfrm>
            <a:off x="795528" y="5020056"/>
            <a:ext cx="10893247" cy="502920"/>
          </a:xfrm>
          <a:prstGeom prst="rect">
            <a:avLst/>
          </a:prstGeom>
          <a:noFill/>
          <a:ln/>
        </p:spPr>
        <p:txBody>
          <a:bodyPr wrap="square" lIns="0" tIns="0" rIns="0" bIns="0" rtlCol="0" anchor="t"/>
          <a:lstStyle/>
          <a:p>
            <a:pPr indent="0" marL="0">
              <a:lnSpc>
                <a:spcPct val="120000"/>
              </a:lnSpc>
              <a:buNone/>
            </a:pPr>
            <a:r>
              <a:rPr lang="en-US" sz="1250" dirty="0">
                <a:solidFill>
                  <a:srgbClr val="7D6E5C"/>
                </a:solidFill>
                <a:latin typeface="Cambria" pitchFamily="34" charset="0"/>
                <a:ea typeface="Cambria" pitchFamily="34" charset="-122"/>
                <a:cs typeface="Cambria" pitchFamily="34" charset="-120"/>
              </a:rPr>
              <a:t>Ties resolve to the latest peak — a second elevated reading after an apparent fade is a real PCOS-pattern multi-surge, not noise to discard.</a:t>
            </a:r>
            <a:endParaRPr lang="en-US" sz="1250" dirty="0"/>
          </a:p>
        </p:txBody>
      </p:sp>
      <p:sp>
        <p:nvSpPr>
          <p:cNvPr id="18" name="Shape 15"/>
          <p:cNvSpPr/>
          <p:nvPr/>
        </p:nvSpPr>
        <p:spPr>
          <a:xfrm>
            <a:off x="502920" y="5769864"/>
            <a:ext cx="11185855" cy="502920"/>
          </a:xfrm>
          <a:prstGeom prst="roundRect">
            <a:avLst>
              <a:gd name="adj" fmla="val 10909"/>
            </a:avLst>
          </a:prstGeom>
          <a:solidFill>
            <a:srgbClr val="17140F"/>
          </a:solidFill>
          <a:ln/>
        </p:spPr>
      </p:sp>
      <p:sp>
        <p:nvSpPr>
          <p:cNvPr id="19" name="Text 16"/>
          <p:cNvSpPr/>
          <p:nvPr/>
        </p:nvSpPr>
        <p:spPr>
          <a:xfrm>
            <a:off x="731520" y="5769864"/>
            <a:ext cx="9174175" cy="502920"/>
          </a:xfrm>
          <a:prstGeom prst="rect">
            <a:avLst/>
          </a:prstGeom>
          <a:noFill/>
          <a:ln/>
        </p:spPr>
        <p:txBody>
          <a:bodyPr wrap="square" lIns="0" tIns="0" rIns="0" bIns="0" rtlCol="0" anchor="ctr"/>
          <a:lstStyle/>
          <a:p>
            <a:pPr indent="0" marL="0">
              <a:buNone/>
            </a:pPr>
            <a:r>
              <a:rPr lang="en-US" sz="1150" dirty="0">
                <a:solidFill>
                  <a:srgbClr val="C6862A"/>
                </a:solidFill>
                <a:latin typeface="Courier New" pitchFamily="34" charset="0"/>
                <a:ea typeface="Courier New" pitchFamily="34" charset="-122"/>
                <a:cs typeface="Courier New" pitchFamily="34" charset="-120"/>
              </a:rPr>
              <a:t>isLhSurgeReading(band, baseline) = band ≥ floor  AND  band ≥ baseline + 2</a:t>
            </a:r>
            <a:endParaRPr lang="en-US" sz="1150" dirty="0"/>
          </a:p>
        </p:txBody>
      </p:sp>
      <p:sp>
        <p:nvSpPr>
          <p:cNvPr id="20" name="Text 17"/>
          <p:cNvSpPr/>
          <p:nvPr/>
        </p:nvSpPr>
        <p:spPr>
          <a:xfrm>
            <a:off x="9768535" y="5769864"/>
            <a:ext cx="1737360" cy="502920"/>
          </a:xfrm>
          <a:prstGeom prst="rect">
            <a:avLst/>
          </a:prstGeom>
          <a:noFill/>
          <a:ln/>
        </p:spPr>
        <p:txBody>
          <a:bodyPr wrap="square" lIns="0" tIns="0" rIns="0" bIns="0" rtlCol="0" anchor="ctr"/>
          <a:lstStyle/>
          <a:p>
            <a:pPr algn="r" indent="0" marL="0">
              <a:buNone/>
            </a:pPr>
            <a:r>
              <a:rPr lang="en-US" sz="1000" dirty="0">
                <a:solidFill>
                  <a:srgbClr val="CABAA9"/>
                </a:solidFill>
                <a:latin typeface="Courier New" pitchFamily="34" charset="0"/>
                <a:ea typeface="Courier New" pitchFamily="34" charset="-122"/>
                <a:cs typeface="Courier New" pitchFamily="34" charset="-120"/>
              </a:rPr>
              <a:t>shared/cycle/lh.ts</a:t>
            </a:r>
            <a:endParaRPr lang="en-US" sz="1000" dirty="0"/>
          </a:p>
        </p:txBody>
      </p:sp>
      <p:sp>
        <p:nvSpPr>
          <p:cNvPr id="21" name="Text 18"/>
          <p:cNvSpPr/>
          <p:nvPr/>
        </p:nvSpPr>
        <p:spPr>
          <a:xfrm>
            <a:off x="502920" y="6473952"/>
            <a:ext cx="3657600" cy="274320"/>
          </a:xfrm>
          <a:prstGeom prst="rect">
            <a:avLst/>
          </a:prstGeom>
          <a:noFill/>
          <a:ln/>
        </p:spPr>
        <p:txBody>
          <a:bodyPr wrap="square" lIns="0" tIns="0" rIns="0" bIns="0" rtlCol="0" anchor="ctr"/>
          <a:lstStyle/>
          <a:p>
            <a:pPr indent="0" marL="0">
              <a:buNone/>
            </a:pPr>
            <a:r>
              <a:rPr lang="en-US" sz="900" b="1" spc="200" kern="0" dirty="0">
                <a:solidFill>
                  <a:srgbClr val="7D6E5C"/>
                </a:solidFill>
                <a:latin typeface="Calibri" pitchFamily="34" charset="0"/>
                <a:ea typeface="Calibri" pitchFamily="34" charset="-122"/>
                <a:cs typeface="Calibri" pitchFamily="34" charset="-120"/>
              </a:rPr>
              <a:t>ROVE HEALTH</a:t>
            </a:r>
            <a:endParaRPr lang="en-US" sz="900" dirty="0"/>
          </a:p>
        </p:txBody>
      </p:sp>
      <p:sp>
        <p:nvSpPr>
          <p:cNvPr id="22" name="Text 19"/>
          <p:cNvSpPr/>
          <p:nvPr/>
        </p:nvSpPr>
        <p:spPr>
          <a:xfrm>
            <a:off x="3809848" y="6473952"/>
            <a:ext cx="4572000" cy="274320"/>
          </a:xfrm>
          <a:prstGeom prst="rect">
            <a:avLst/>
          </a:prstGeom>
          <a:noFill/>
          <a:ln/>
        </p:spPr>
        <p:txBody>
          <a:bodyPr wrap="square" lIns="0" tIns="0" rIns="0" bIns="0" rtlCol="0" anchor="ctr"/>
          <a:lstStyle/>
          <a:p>
            <a:pPr algn="ctr" indent="0" marL="0">
              <a:buNone/>
            </a:pPr>
            <a:r>
              <a:rPr lang="en-US" sz="900" spc="150" kern="0" dirty="0">
                <a:solidFill>
                  <a:srgbClr val="7D6E5C"/>
                </a:solidFill>
                <a:latin typeface="Calibri" pitchFamily="34" charset="0"/>
                <a:ea typeface="Calibri" pitchFamily="34" charset="-122"/>
                <a:cs typeface="Calibri" pitchFamily="34" charset="-120"/>
              </a:rPr>
              <a:t>GENESIS EIR 3.0 — DEEP TECH TRACK</a:t>
            </a:r>
            <a:endParaRPr lang="en-US" sz="900" dirty="0"/>
          </a:p>
        </p:txBody>
      </p:sp>
      <p:sp>
        <p:nvSpPr>
          <p:cNvPr id="23" name="Text 20"/>
          <p:cNvSpPr/>
          <p:nvPr/>
        </p:nvSpPr>
        <p:spPr>
          <a:xfrm>
            <a:off x="10317175" y="6473952"/>
            <a:ext cx="1371600" cy="274320"/>
          </a:xfrm>
          <a:prstGeom prst="rect">
            <a:avLst/>
          </a:prstGeom>
          <a:noFill/>
          <a:ln/>
        </p:spPr>
        <p:txBody>
          <a:bodyPr wrap="square" lIns="0" tIns="0" rIns="0" bIns="0" rtlCol="0" anchor="ctr"/>
          <a:lstStyle/>
          <a:p>
            <a:pPr algn="r" indent="0" marL="0">
              <a:buNone/>
            </a:pPr>
            <a:r>
              <a:rPr lang="en-US" sz="900" dirty="0">
                <a:solidFill>
                  <a:srgbClr val="7D6E5C"/>
                </a:solidFill>
                <a:latin typeface="Courier New" pitchFamily="34" charset="0"/>
                <a:ea typeface="Courier New" pitchFamily="34" charset="-122"/>
                <a:cs typeface="Courier Ne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200" kern="0" dirty="0">
                <a:solidFill>
                  <a:srgbClr val="7D6E5C"/>
                </a:solidFill>
                <a:latin typeface="Calibri" pitchFamily="34" charset="0"/>
                <a:ea typeface="Calibri" pitchFamily="34" charset="-122"/>
                <a:cs typeface="Calibri" pitchFamily="34" charset="-120"/>
              </a:rPr>
              <a:t>INNOVATION — 02</a:t>
            </a:r>
            <a:endParaRPr lang="en-US" sz="1200" dirty="0"/>
          </a:p>
        </p:txBody>
      </p:sp>
      <p:sp>
        <p:nvSpPr>
          <p:cNvPr id="3" name="Text 1"/>
          <p:cNvSpPr/>
          <p:nvPr/>
        </p:nvSpPr>
        <p:spPr>
          <a:xfrm>
            <a:off x="502920" y="786384"/>
            <a:ext cx="9418320" cy="777240"/>
          </a:xfrm>
          <a:prstGeom prst="rect">
            <a:avLst/>
          </a:prstGeom>
          <a:noFill/>
          <a:ln/>
        </p:spPr>
        <p:txBody>
          <a:bodyPr wrap="square" lIns="0" tIns="0" rIns="0" bIns="0" rtlCol="0" anchor="t"/>
          <a:lstStyle/>
          <a:p>
            <a:pPr indent="0" marL="0">
              <a:buNone/>
            </a:pPr>
            <a:r>
              <a:rPr lang="en-US" sz="2700" b="1" dirty="0">
                <a:solidFill>
                  <a:srgbClr val="17140F"/>
                </a:solidFill>
                <a:latin typeface="Calibri" pitchFamily="34" charset="0"/>
                <a:ea typeface="Calibri" pitchFamily="34" charset="-122"/>
                <a:cs typeface="Calibri" pitchFamily="34" charset="-120"/>
              </a:rPr>
              <a:t>A clinically grounded coverline, not an arbitrary threshold</a:t>
            </a:r>
            <a:endParaRPr lang="en-US" sz="2700" dirty="0"/>
          </a:p>
        </p:txBody>
      </p:sp>
      <p:sp>
        <p:nvSpPr>
          <p:cNvPr id="4" name="Shape 2"/>
          <p:cNvSpPr/>
          <p:nvPr/>
        </p:nvSpPr>
        <p:spPr>
          <a:xfrm>
            <a:off x="10774375" y="685800"/>
            <a:ext cx="914400" cy="914400"/>
          </a:xfrm>
          <a:prstGeom prst="ellipse">
            <a:avLst/>
          </a:prstGeom>
          <a:solidFill>
            <a:srgbClr val="ECE4DA"/>
          </a:solidFill>
          <a:ln/>
        </p:spPr>
      </p:sp>
      <p:pic>
        <p:nvPicPr>
          <p:cNvPr id="5" name="Image 0" descr="preencoded.png">    </p:cNvPr>
          <p:cNvPicPr>
            <a:picLocks noChangeAspect="1"/>
          </p:cNvPicPr>
          <p:nvPr/>
        </p:nvPicPr>
        <p:blipFill>
          <a:blip r:embed="rId1"/>
          <a:stretch>
            <a:fillRect/>
          </a:stretch>
        </p:blipFill>
        <p:spPr>
          <a:xfrm>
            <a:off x="11012119" y="923544"/>
            <a:ext cx="438912" cy="438912"/>
          </a:xfrm>
          <a:prstGeom prst="rect">
            <a:avLst/>
          </a:prstGeom>
        </p:spPr>
      </p:pic>
      <p:sp>
        <p:nvSpPr>
          <p:cNvPr id="6" name="Shape 3"/>
          <p:cNvSpPr/>
          <p:nvPr/>
        </p:nvSpPr>
        <p:spPr>
          <a:xfrm>
            <a:off x="502920" y="1965960"/>
            <a:ext cx="82296" cy="713232"/>
          </a:xfrm>
          <a:prstGeom prst="roundRect">
            <a:avLst>
              <a:gd name="adj" fmla="val 22222"/>
            </a:avLst>
          </a:prstGeom>
          <a:solidFill>
            <a:srgbClr val="3F8A76"/>
          </a:solidFill>
          <a:ln/>
        </p:spPr>
      </p:sp>
      <p:sp>
        <p:nvSpPr>
          <p:cNvPr id="7" name="Text 4"/>
          <p:cNvSpPr/>
          <p:nvPr/>
        </p:nvSpPr>
        <p:spPr>
          <a:xfrm>
            <a:off x="795528" y="1938528"/>
            <a:ext cx="10893247" cy="292608"/>
          </a:xfrm>
          <a:prstGeom prst="rect">
            <a:avLst/>
          </a:prstGeom>
          <a:noFill/>
          <a:ln/>
        </p:spPr>
        <p:txBody>
          <a:bodyPr wrap="square" lIns="0" tIns="0" rIns="0" bIns="0" rtlCol="0" anchor="ctr"/>
          <a:lstStyle/>
          <a:p>
            <a:pPr indent="0" marL="0">
              <a:buNone/>
            </a:pPr>
            <a:r>
              <a:rPr lang="en-US" sz="1450" b="1" dirty="0">
                <a:solidFill>
                  <a:srgbClr val="17140F"/>
                </a:solidFill>
                <a:latin typeface="Calibri" pitchFamily="34" charset="0"/>
                <a:ea typeface="Calibri" pitchFamily="34" charset="-122"/>
                <a:cs typeface="Calibri" pitchFamily="34" charset="-120"/>
              </a:rPr>
              <a:t>The "3-over-6" rule</a:t>
            </a:r>
            <a:endParaRPr lang="en-US" sz="1450" dirty="0"/>
          </a:p>
        </p:txBody>
      </p:sp>
      <p:sp>
        <p:nvSpPr>
          <p:cNvPr id="8" name="Text 5"/>
          <p:cNvSpPr/>
          <p:nvPr/>
        </p:nvSpPr>
        <p:spPr>
          <a:xfrm>
            <a:off x="795528" y="2221992"/>
            <a:ext cx="10893247" cy="502920"/>
          </a:xfrm>
          <a:prstGeom prst="rect">
            <a:avLst/>
          </a:prstGeom>
          <a:noFill/>
          <a:ln/>
        </p:spPr>
        <p:txBody>
          <a:bodyPr wrap="square" lIns="0" tIns="0" rIns="0" bIns="0" rtlCol="0" anchor="t"/>
          <a:lstStyle/>
          <a:p>
            <a:pPr indent="0" marL="0">
              <a:lnSpc>
                <a:spcPct val="120000"/>
              </a:lnSpc>
              <a:buNone/>
            </a:pPr>
            <a:r>
              <a:rPr lang="en-US" sz="1250" dirty="0">
                <a:solidFill>
                  <a:srgbClr val="7D6E5C"/>
                </a:solidFill>
                <a:latin typeface="Cambria" pitchFamily="34" charset="0"/>
                <a:ea typeface="Cambria" pitchFamily="34" charset="-122"/>
                <a:cs typeface="Cambria" pitchFamily="34" charset="-120"/>
              </a:rPr>
              <a:t>Three consecutive elevated mornings measured against a rolling 6-reading baseline (down to a 4-reading floor for imperfect logging).</a:t>
            </a:r>
            <a:endParaRPr lang="en-US" sz="1250" dirty="0"/>
          </a:p>
        </p:txBody>
      </p:sp>
      <p:sp>
        <p:nvSpPr>
          <p:cNvPr id="9" name="Shape 6"/>
          <p:cNvSpPr/>
          <p:nvPr/>
        </p:nvSpPr>
        <p:spPr>
          <a:xfrm>
            <a:off x="502920" y="2898648"/>
            <a:ext cx="82296" cy="713232"/>
          </a:xfrm>
          <a:prstGeom prst="roundRect">
            <a:avLst>
              <a:gd name="adj" fmla="val 22222"/>
            </a:avLst>
          </a:prstGeom>
          <a:solidFill>
            <a:srgbClr val="3F8A76"/>
          </a:solidFill>
          <a:ln/>
        </p:spPr>
      </p:sp>
      <p:sp>
        <p:nvSpPr>
          <p:cNvPr id="10" name="Text 7"/>
          <p:cNvSpPr/>
          <p:nvPr/>
        </p:nvSpPr>
        <p:spPr>
          <a:xfrm>
            <a:off x="795528" y="2871216"/>
            <a:ext cx="10893247" cy="292608"/>
          </a:xfrm>
          <a:prstGeom prst="rect">
            <a:avLst/>
          </a:prstGeom>
          <a:noFill/>
          <a:ln/>
        </p:spPr>
        <p:txBody>
          <a:bodyPr wrap="square" lIns="0" tIns="0" rIns="0" bIns="0" rtlCol="0" anchor="ctr"/>
          <a:lstStyle/>
          <a:p>
            <a:pPr indent="0" marL="0">
              <a:buNone/>
            </a:pPr>
            <a:r>
              <a:rPr lang="en-US" sz="1450" b="1" dirty="0">
                <a:solidFill>
                  <a:srgbClr val="17140F"/>
                </a:solidFill>
                <a:latin typeface="Calibri" pitchFamily="34" charset="0"/>
                <a:ea typeface="Calibri" pitchFamily="34" charset="-122"/>
                <a:cs typeface="Calibri" pitchFamily="34" charset="-120"/>
              </a:rPr>
              <a:t>A coverline between two published protocols</a:t>
            </a:r>
            <a:endParaRPr lang="en-US" sz="1450" dirty="0"/>
          </a:p>
        </p:txBody>
      </p:sp>
      <p:sp>
        <p:nvSpPr>
          <p:cNvPr id="11" name="Text 8"/>
          <p:cNvSpPr/>
          <p:nvPr/>
        </p:nvSpPr>
        <p:spPr>
          <a:xfrm>
            <a:off x="795528" y="3154680"/>
            <a:ext cx="10893247" cy="502920"/>
          </a:xfrm>
          <a:prstGeom prst="rect">
            <a:avLst/>
          </a:prstGeom>
          <a:noFill/>
          <a:ln/>
        </p:spPr>
        <p:txBody>
          <a:bodyPr wrap="square" lIns="0" tIns="0" rIns="0" bIns="0" rtlCol="0" anchor="t"/>
          <a:lstStyle/>
          <a:p>
            <a:pPr indent="0" marL="0">
              <a:lnSpc>
                <a:spcPct val="120000"/>
              </a:lnSpc>
              <a:buNone/>
            </a:pPr>
            <a:r>
              <a:rPr lang="en-US" sz="1250" dirty="0">
                <a:solidFill>
                  <a:srgbClr val="7D6E5C"/>
                </a:solidFill>
                <a:latin typeface="Cambria" pitchFamily="34" charset="0"/>
                <a:ea typeface="Cambria" pitchFamily="34" charset="-122"/>
                <a:cs typeface="Cambria" pitchFamily="34" charset="-120"/>
              </a:rPr>
              <a:t>Set 0.15°C above the baseline high — splitting Sensiplan’s ≥ 0.2°C bar and TCOYF’s ≥ 0.3°F (≈ 0.17°C) one, so ordinary noise can’t confirm.</a:t>
            </a:r>
            <a:endParaRPr lang="en-US" sz="1250" dirty="0"/>
          </a:p>
        </p:txBody>
      </p:sp>
      <p:sp>
        <p:nvSpPr>
          <p:cNvPr id="12" name="Shape 9"/>
          <p:cNvSpPr/>
          <p:nvPr/>
        </p:nvSpPr>
        <p:spPr>
          <a:xfrm>
            <a:off x="502920" y="3831336"/>
            <a:ext cx="82296" cy="713232"/>
          </a:xfrm>
          <a:prstGeom prst="roundRect">
            <a:avLst>
              <a:gd name="adj" fmla="val 22222"/>
            </a:avLst>
          </a:prstGeom>
          <a:solidFill>
            <a:srgbClr val="3F8A76"/>
          </a:solidFill>
          <a:ln/>
        </p:spPr>
      </p:sp>
      <p:sp>
        <p:nvSpPr>
          <p:cNvPr id="13" name="Text 10"/>
          <p:cNvSpPr/>
          <p:nvPr/>
        </p:nvSpPr>
        <p:spPr>
          <a:xfrm>
            <a:off x="795528" y="3803904"/>
            <a:ext cx="10893247" cy="292608"/>
          </a:xfrm>
          <a:prstGeom prst="rect">
            <a:avLst/>
          </a:prstGeom>
          <a:noFill/>
          <a:ln/>
        </p:spPr>
        <p:txBody>
          <a:bodyPr wrap="square" lIns="0" tIns="0" rIns="0" bIns="0" rtlCol="0" anchor="ctr"/>
          <a:lstStyle/>
          <a:p>
            <a:pPr indent="0" marL="0">
              <a:buNone/>
            </a:pPr>
            <a:r>
              <a:rPr lang="en-US" sz="1450" b="1" dirty="0">
                <a:solidFill>
                  <a:srgbClr val="17140F"/>
                </a:solidFill>
                <a:latin typeface="Calibri" pitchFamily="34" charset="0"/>
                <a:ea typeface="Calibri" pitchFamily="34" charset="-122"/>
                <a:cs typeface="Calibri" pitchFamily="34" charset="-120"/>
              </a:rPr>
              <a:t>Noise excluded before the detector ever sees it</a:t>
            </a:r>
            <a:endParaRPr lang="en-US" sz="1450" dirty="0"/>
          </a:p>
        </p:txBody>
      </p:sp>
      <p:sp>
        <p:nvSpPr>
          <p:cNvPr id="14" name="Text 11"/>
          <p:cNvSpPr/>
          <p:nvPr/>
        </p:nvSpPr>
        <p:spPr>
          <a:xfrm>
            <a:off x="795528" y="4087368"/>
            <a:ext cx="10893247" cy="502920"/>
          </a:xfrm>
          <a:prstGeom prst="rect">
            <a:avLst/>
          </a:prstGeom>
          <a:noFill/>
          <a:ln/>
        </p:spPr>
        <p:txBody>
          <a:bodyPr wrap="square" lIns="0" tIns="0" rIns="0" bIns="0" rtlCol="0" anchor="t"/>
          <a:lstStyle/>
          <a:p>
            <a:pPr indent="0" marL="0">
              <a:lnSpc>
                <a:spcPct val="120000"/>
              </a:lnSpc>
              <a:buNone/>
            </a:pPr>
            <a:r>
              <a:rPr lang="en-US" sz="1250" dirty="0">
                <a:solidFill>
                  <a:srgbClr val="7D6E5C"/>
                </a:solidFill>
                <a:latin typeface="Cambria" pitchFamily="34" charset="0"/>
                <a:ea typeface="Cambria" pitchFamily="34" charset="-122"/>
                <a:cs typeface="Cambria" pitchFamily="34" charset="-120"/>
              </a:rPr>
              <a:t>Illness/alcohol-flagged mornings, &lt; 4h-sleep nights, and wake times &gt; 90 min off her rolling average are all dropped first.</a:t>
            </a:r>
            <a:endParaRPr lang="en-US" sz="1250" dirty="0"/>
          </a:p>
        </p:txBody>
      </p:sp>
      <p:sp>
        <p:nvSpPr>
          <p:cNvPr id="15" name="Shape 12"/>
          <p:cNvSpPr/>
          <p:nvPr/>
        </p:nvSpPr>
        <p:spPr>
          <a:xfrm>
            <a:off x="502920" y="4764024"/>
            <a:ext cx="82296" cy="713232"/>
          </a:xfrm>
          <a:prstGeom prst="roundRect">
            <a:avLst>
              <a:gd name="adj" fmla="val 22222"/>
            </a:avLst>
          </a:prstGeom>
          <a:solidFill>
            <a:srgbClr val="3F8A76"/>
          </a:solidFill>
          <a:ln/>
        </p:spPr>
      </p:sp>
      <p:sp>
        <p:nvSpPr>
          <p:cNvPr id="16" name="Text 13"/>
          <p:cNvSpPr/>
          <p:nvPr/>
        </p:nvSpPr>
        <p:spPr>
          <a:xfrm>
            <a:off x="795528" y="4736592"/>
            <a:ext cx="10893247" cy="292608"/>
          </a:xfrm>
          <a:prstGeom prst="rect">
            <a:avLst/>
          </a:prstGeom>
          <a:noFill/>
          <a:ln/>
        </p:spPr>
        <p:txBody>
          <a:bodyPr wrap="square" lIns="0" tIns="0" rIns="0" bIns="0" rtlCol="0" anchor="ctr"/>
          <a:lstStyle/>
          <a:p>
            <a:pPr indent="0" marL="0">
              <a:buNone/>
            </a:pPr>
            <a:r>
              <a:rPr lang="en-US" sz="1450" b="1" dirty="0">
                <a:solidFill>
                  <a:srgbClr val="17140F"/>
                </a:solidFill>
                <a:latin typeface="Calibri" pitchFamily="34" charset="0"/>
                <a:ea typeface="Calibri" pitchFamily="34" charset="-122"/>
                <a:cs typeface="Calibri" pitchFamily="34" charset="-120"/>
              </a:rPr>
              <a:t>Earliest qualifying rise wins</a:t>
            </a:r>
            <a:endParaRPr lang="en-US" sz="1450" dirty="0"/>
          </a:p>
        </p:txBody>
      </p:sp>
      <p:sp>
        <p:nvSpPr>
          <p:cNvPr id="17" name="Text 14"/>
          <p:cNvSpPr/>
          <p:nvPr/>
        </p:nvSpPr>
        <p:spPr>
          <a:xfrm>
            <a:off x="795528" y="5020056"/>
            <a:ext cx="10893247" cy="502920"/>
          </a:xfrm>
          <a:prstGeom prst="rect">
            <a:avLst/>
          </a:prstGeom>
          <a:noFill/>
          <a:ln/>
        </p:spPr>
        <p:txBody>
          <a:bodyPr wrap="square" lIns="0" tIns="0" rIns="0" bIns="0" rtlCol="0" anchor="t"/>
          <a:lstStyle/>
          <a:p>
            <a:pPr indent="0" marL="0">
              <a:lnSpc>
                <a:spcPct val="120000"/>
              </a:lnSpc>
              <a:buNone/>
            </a:pPr>
            <a:r>
              <a:rPr lang="en-US" sz="1250" dirty="0">
                <a:solidFill>
                  <a:srgbClr val="7D6E5C"/>
                </a:solidFill>
                <a:latin typeface="Cambria" pitchFamily="34" charset="0"/>
                <a:ea typeface="Cambria" pitchFamily="34" charset="-122"/>
                <a:cs typeface="Cambria" pitchFamily="34" charset="-120"/>
              </a:rPr>
              <a:t>Only one ovulation happens per cycle — a later run of warm days is luteal-phase noise, not a second event.</a:t>
            </a:r>
            <a:endParaRPr lang="en-US" sz="1250" dirty="0"/>
          </a:p>
        </p:txBody>
      </p:sp>
      <p:sp>
        <p:nvSpPr>
          <p:cNvPr id="18" name="Shape 15"/>
          <p:cNvSpPr/>
          <p:nvPr/>
        </p:nvSpPr>
        <p:spPr>
          <a:xfrm>
            <a:off x="502920" y="5769864"/>
            <a:ext cx="11185855" cy="502920"/>
          </a:xfrm>
          <a:prstGeom prst="roundRect">
            <a:avLst>
              <a:gd name="adj" fmla="val 10909"/>
            </a:avLst>
          </a:prstGeom>
          <a:solidFill>
            <a:srgbClr val="17140F"/>
          </a:solidFill>
          <a:ln/>
        </p:spPr>
      </p:sp>
      <p:sp>
        <p:nvSpPr>
          <p:cNvPr id="19" name="Text 16"/>
          <p:cNvSpPr/>
          <p:nvPr/>
        </p:nvSpPr>
        <p:spPr>
          <a:xfrm>
            <a:off x="731520" y="5769864"/>
            <a:ext cx="9174175" cy="502920"/>
          </a:xfrm>
          <a:prstGeom prst="rect">
            <a:avLst/>
          </a:prstGeom>
          <a:noFill/>
          <a:ln/>
        </p:spPr>
        <p:txBody>
          <a:bodyPr wrap="square" lIns="0" tIns="0" rIns="0" bIns="0" rtlCol="0" anchor="ctr"/>
          <a:lstStyle/>
          <a:p>
            <a:pPr indent="0" marL="0">
              <a:buNone/>
            </a:pPr>
            <a:r>
              <a:rPr lang="en-US" sz="1150" dirty="0">
                <a:solidFill>
                  <a:srgbClr val="C6862A"/>
                </a:solidFill>
                <a:latin typeface="Courier New" pitchFamily="34" charset="0"/>
                <a:ea typeface="Courier New" pitchFamily="34" charset="-122"/>
                <a:cs typeface="Courier New" pitchFamily="34" charset="-120"/>
              </a:rPr>
              <a:t>coverline = max(baseline₆) + 0.15°C   →   confirm on 3 consecutive readings ≥ coverline</a:t>
            </a:r>
            <a:endParaRPr lang="en-US" sz="1150" dirty="0"/>
          </a:p>
        </p:txBody>
      </p:sp>
      <p:sp>
        <p:nvSpPr>
          <p:cNvPr id="20" name="Text 17"/>
          <p:cNvSpPr/>
          <p:nvPr/>
        </p:nvSpPr>
        <p:spPr>
          <a:xfrm>
            <a:off x="9768535" y="5769864"/>
            <a:ext cx="1737360" cy="502920"/>
          </a:xfrm>
          <a:prstGeom prst="rect">
            <a:avLst/>
          </a:prstGeom>
          <a:noFill/>
          <a:ln/>
        </p:spPr>
        <p:txBody>
          <a:bodyPr wrap="square" lIns="0" tIns="0" rIns="0" bIns="0" rtlCol="0" anchor="ctr"/>
          <a:lstStyle/>
          <a:p>
            <a:pPr algn="r" indent="0" marL="0">
              <a:buNone/>
            </a:pPr>
            <a:r>
              <a:rPr lang="en-US" sz="1000" dirty="0">
                <a:solidFill>
                  <a:srgbClr val="CABAA9"/>
                </a:solidFill>
                <a:latin typeface="Courier New" pitchFamily="34" charset="0"/>
                <a:ea typeface="Courier New" pitchFamily="34" charset="-122"/>
                <a:cs typeface="Courier New" pitchFamily="34" charset="-120"/>
              </a:rPr>
              <a:t>shared/cycle/ttc.ts</a:t>
            </a:r>
            <a:endParaRPr lang="en-US" sz="1000" dirty="0"/>
          </a:p>
        </p:txBody>
      </p:sp>
      <p:sp>
        <p:nvSpPr>
          <p:cNvPr id="21" name="Text 18"/>
          <p:cNvSpPr/>
          <p:nvPr/>
        </p:nvSpPr>
        <p:spPr>
          <a:xfrm>
            <a:off x="502920" y="6473952"/>
            <a:ext cx="3657600" cy="274320"/>
          </a:xfrm>
          <a:prstGeom prst="rect">
            <a:avLst/>
          </a:prstGeom>
          <a:noFill/>
          <a:ln/>
        </p:spPr>
        <p:txBody>
          <a:bodyPr wrap="square" lIns="0" tIns="0" rIns="0" bIns="0" rtlCol="0" anchor="ctr"/>
          <a:lstStyle/>
          <a:p>
            <a:pPr indent="0" marL="0">
              <a:buNone/>
            </a:pPr>
            <a:r>
              <a:rPr lang="en-US" sz="900" b="1" spc="200" kern="0" dirty="0">
                <a:solidFill>
                  <a:srgbClr val="7D6E5C"/>
                </a:solidFill>
                <a:latin typeface="Calibri" pitchFamily="34" charset="0"/>
                <a:ea typeface="Calibri" pitchFamily="34" charset="-122"/>
                <a:cs typeface="Calibri" pitchFamily="34" charset="-120"/>
              </a:rPr>
              <a:t>ROVE HEALTH</a:t>
            </a:r>
            <a:endParaRPr lang="en-US" sz="900" dirty="0"/>
          </a:p>
        </p:txBody>
      </p:sp>
      <p:sp>
        <p:nvSpPr>
          <p:cNvPr id="22" name="Text 19"/>
          <p:cNvSpPr/>
          <p:nvPr/>
        </p:nvSpPr>
        <p:spPr>
          <a:xfrm>
            <a:off x="3809848" y="6473952"/>
            <a:ext cx="4572000" cy="274320"/>
          </a:xfrm>
          <a:prstGeom prst="rect">
            <a:avLst/>
          </a:prstGeom>
          <a:noFill/>
          <a:ln/>
        </p:spPr>
        <p:txBody>
          <a:bodyPr wrap="square" lIns="0" tIns="0" rIns="0" bIns="0" rtlCol="0" anchor="ctr"/>
          <a:lstStyle/>
          <a:p>
            <a:pPr algn="ctr" indent="0" marL="0">
              <a:buNone/>
            </a:pPr>
            <a:r>
              <a:rPr lang="en-US" sz="900" spc="150" kern="0" dirty="0">
                <a:solidFill>
                  <a:srgbClr val="7D6E5C"/>
                </a:solidFill>
                <a:latin typeface="Calibri" pitchFamily="34" charset="0"/>
                <a:ea typeface="Calibri" pitchFamily="34" charset="-122"/>
                <a:cs typeface="Calibri" pitchFamily="34" charset="-120"/>
              </a:rPr>
              <a:t>GENESIS EIR 3.0 — DEEP TECH TRACK</a:t>
            </a:r>
            <a:endParaRPr lang="en-US" sz="900" dirty="0"/>
          </a:p>
        </p:txBody>
      </p:sp>
      <p:sp>
        <p:nvSpPr>
          <p:cNvPr id="23" name="Text 20"/>
          <p:cNvSpPr/>
          <p:nvPr/>
        </p:nvSpPr>
        <p:spPr>
          <a:xfrm>
            <a:off x="10317175" y="6473952"/>
            <a:ext cx="1371600" cy="274320"/>
          </a:xfrm>
          <a:prstGeom prst="rect">
            <a:avLst/>
          </a:prstGeom>
          <a:noFill/>
          <a:ln/>
        </p:spPr>
        <p:txBody>
          <a:bodyPr wrap="square" lIns="0" tIns="0" rIns="0" bIns="0" rtlCol="0" anchor="ctr"/>
          <a:lstStyle/>
          <a:p>
            <a:pPr algn="r" indent="0" marL="0">
              <a:buNone/>
            </a:pPr>
            <a:r>
              <a:rPr lang="en-US" sz="900" dirty="0">
                <a:solidFill>
                  <a:srgbClr val="7D6E5C"/>
                </a:solidFill>
                <a:latin typeface="Courier New" pitchFamily="34" charset="0"/>
                <a:ea typeface="Courier New" pitchFamily="34" charset="-122"/>
                <a:cs typeface="Courier Ne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200" kern="0" dirty="0">
                <a:solidFill>
                  <a:srgbClr val="7D6E5C"/>
                </a:solidFill>
                <a:latin typeface="Calibri" pitchFamily="34" charset="0"/>
                <a:ea typeface="Calibri" pitchFamily="34" charset="-122"/>
                <a:cs typeface="Calibri" pitchFamily="34" charset="-120"/>
              </a:rPr>
              <a:t>INNOVATION — 03</a:t>
            </a:r>
            <a:endParaRPr lang="en-US" sz="1200" dirty="0"/>
          </a:p>
        </p:txBody>
      </p:sp>
      <p:sp>
        <p:nvSpPr>
          <p:cNvPr id="3" name="Text 1"/>
          <p:cNvSpPr/>
          <p:nvPr/>
        </p:nvSpPr>
        <p:spPr>
          <a:xfrm>
            <a:off x="502920" y="786384"/>
            <a:ext cx="9418320" cy="777240"/>
          </a:xfrm>
          <a:prstGeom prst="rect">
            <a:avLst/>
          </a:prstGeom>
          <a:noFill/>
          <a:ln/>
        </p:spPr>
        <p:txBody>
          <a:bodyPr wrap="square" lIns="0" tIns="0" rIns="0" bIns="0" rtlCol="0" anchor="t"/>
          <a:lstStyle/>
          <a:p>
            <a:pPr indent="0" marL="0">
              <a:buNone/>
            </a:pPr>
            <a:r>
              <a:rPr lang="en-US" sz="2700" b="1" dirty="0">
                <a:solidFill>
                  <a:srgbClr val="17140F"/>
                </a:solidFill>
                <a:latin typeface="Calibri" pitchFamily="34" charset="0"/>
                <a:ea typeface="Calibri" pitchFamily="34" charset="-122"/>
                <a:cs typeface="Calibri" pitchFamily="34" charset="-120"/>
              </a:rPr>
              <a:t>A fertile window sized to her, and the honesty to withhold one</a:t>
            </a:r>
            <a:endParaRPr lang="en-US" sz="2700" dirty="0"/>
          </a:p>
        </p:txBody>
      </p:sp>
      <p:sp>
        <p:nvSpPr>
          <p:cNvPr id="4" name="Shape 2"/>
          <p:cNvSpPr/>
          <p:nvPr/>
        </p:nvSpPr>
        <p:spPr>
          <a:xfrm>
            <a:off x="10774375" y="685800"/>
            <a:ext cx="914400" cy="914400"/>
          </a:xfrm>
          <a:prstGeom prst="ellipse">
            <a:avLst/>
          </a:prstGeom>
          <a:solidFill>
            <a:srgbClr val="ECE4DA"/>
          </a:solidFill>
          <a:ln/>
        </p:spPr>
      </p:sp>
      <p:pic>
        <p:nvPicPr>
          <p:cNvPr id="5" name="Image 0" descr="preencoded.png">    </p:cNvPr>
          <p:cNvPicPr>
            <a:picLocks noChangeAspect="1"/>
          </p:cNvPicPr>
          <p:nvPr/>
        </p:nvPicPr>
        <p:blipFill>
          <a:blip r:embed="rId1"/>
          <a:stretch>
            <a:fillRect/>
          </a:stretch>
        </p:blipFill>
        <p:spPr>
          <a:xfrm>
            <a:off x="11012119" y="923544"/>
            <a:ext cx="438912" cy="438912"/>
          </a:xfrm>
          <a:prstGeom prst="rect">
            <a:avLst/>
          </a:prstGeom>
        </p:spPr>
      </p:pic>
      <p:sp>
        <p:nvSpPr>
          <p:cNvPr id="6" name="Shape 3"/>
          <p:cNvSpPr/>
          <p:nvPr/>
        </p:nvSpPr>
        <p:spPr>
          <a:xfrm>
            <a:off x="502920" y="1965960"/>
            <a:ext cx="82296" cy="713232"/>
          </a:xfrm>
          <a:prstGeom prst="roundRect">
            <a:avLst>
              <a:gd name="adj" fmla="val 22222"/>
            </a:avLst>
          </a:prstGeom>
          <a:solidFill>
            <a:srgbClr val="3F8A76"/>
          </a:solidFill>
          <a:ln/>
        </p:spPr>
      </p:sp>
      <p:sp>
        <p:nvSpPr>
          <p:cNvPr id="7" name="Text 4"/>
          <p:cNvSpPr/>
          <p:nvPr/>
        </p:nvSpPr>
        <p:spPr>
          <a:xfrm>
            <a:off x="795528" y="1938528"/>
            <a:ext cx="10893247" cy="292608"/>
          </a:xfrm>
          <a:prstGeom prst="rect">
            <a:avLst/>
          </a:prstGeom>
          <a:noFill/>
          <a:ln/>
        </p:spPr>
        <p:txBody>
          <a:bodyPr wrap="square" lIns="0" tIns="0" rIns="0" bIns="0" rtlCol="0" anchor="ctr"/>
          <a:lstStyle/>
          <a:p>
            <a:pPr indent="0" marL="0">
              <a:buNone/>
            </a:pPr>
            <a:r>
              <a:rPr lang="en-US" sz="1450" b="1" dirty="0">
                <a:solidFill>
                  <a:srgbClr val="17140F"/>
                </a:solidFill>
                <a:latin typeface="Calibri" pitchFamily="34" charset="0"/>
                <a:ea typeface="Calibri" pitchFamily="34" charset="-122"/>
                <a:cs typeface="Calibri" pitchFamily="34" charset="-120"/>
              </a:rPr>
              <a:t>Personalized, asymmetric window</a:t>
            </a:r>
            <a:endParaRPr lang="en-US" sz="1450" dirty="0"/>
          </a:p>
        </p:txBody>
      </p:sp>
      <p:sp>
        <p:nvSpPr>
          <p:cNvPr id="8" name="Text 5"/>
          <p:cNvSpPr/>
          <p:nvPr/>
        </p:nvSpPr>
        <p:spPr>
          <a:xfrm>
            <a:off x="795528" y="2221992"/>
            <a:ext cx="10893247" cy="502920"/>
          </a:xfrm>
          <a:prstGeom prst="rect">
            <a:avLst/>
          </a:prstGeom>
          <a:noFill/>
          <a:ln/>
        </p:spPr>
        <p:txBody>
          <a:bodyPr wrap="square" lIns="0" tIns="0" rIns="0" bIns="0" rtlCol="0" anchor="t"/>
          <a:lstStyle/>
          <a:p>
            <a:pPr indent="0" marL="0">
              <a:lnSpc>
                <a:spcPct val="120000"/>
              </a:lnSpc>
              <a:buNone/>
            </a:pPr>
            <a:r>
              <a:rPr lang="en-US" sz="1250" dirty="0">
                <a:solidFill>
                  <a:srgbClr val="7D6E5C"/>
                </a:solidFill>
                <a:latin typeface="Cambria" pitchFamily="34" charset="0"/>
                <a:ea typeface="Cambria" pitchFamily="34" charset="-122"/>
                <a:cs typeface="Cambria" pitchFamily="34" charset="-120"/>
              </a:rPr>
              <a:t>Radius derived from her own recent cycle-length standard deviation — widened more before ovulation than after, for sperm survival.</a:t>
            </a:r>
            <a:endParaRPr lang="en-US" sz="1250" dirty="0"/>
          </a:p>
        </p:txBody>
      </p:sp>
      <p:sp>
        <p:nvSpPr>
          <p:cNvPr id="9" name="Shape 6"/>
          <p:cNvSpPr/>
          <p:nvPr/>
        </p:nvSpPr>
        <p:spPr>
          <a:xfrm>
            <a:off x="502920" y="2898648"/>
            <a:ext cx="82296" cy="713232"/>
          </a:xfrm>
          <a:prstGeom prst="roundRect">
            <a:avLst>
              <a:gd name="adj" fmla="val 22222"/>
            </a:avLst>
          </a:prstGeom>
          <a:solidFill>
            <a:srgbClr val="3F8A76"/>
          </a:solidFill>
          <a:ln/>
        </p:spPr>
      </p:sp>
      <p:sp>
        <p:nvSpPr>
          <p:cNvPr id="10" name="Text 7"/>
          <p:cNvSpPr/>
          <p:nvPr/>
        </p:nvSpPr>
        <p:spPr>
          <a:xfrm>
            <a:off x="795528" y="2871216"/>
            <a:ext cx="10893247" cy="292608"/>
          </a:xfrm>
          <a:prstGeom prst="rect">
            <a:avLst/>
          </a:prstGeom>
          <a:noFill/>
          <a:ln/>
        </p:spPr>
        <p:txBody>
          <a:bodyPr wrap="square" lIns="0" tIns="0" rIns="0" bIns="0" rtlCol="0" anchor="ctr"/>
          <a:lstStyle/>
          <a:p>
            <a:pPr indent="0" marL="0">
              <a:buNone/>
            </a:pPr>
            <a:r>
              <a:rPr lang="en-US" sz="1450" b="1" dirty="0">
                <a:solidFill>
                  <a:srgbClr val="17140F"/>
                </a:solidFill>
                <a:latin typeface="Calibri" pitchFamily="34" charset="0"/>
                <a:ea typeface="Calibri" pitchFamily="34" charset="-122"/>
                <a:cs typeface="Calibri" pitchFamily="34" charset="-120"/>
              </a:rPr>
              <a:t>A responsible fallback</a:t>
            </a:r>
            <a:endParaRPr lang="en-US" sz="1450" dirty="0"/>
          </a:p>
        </p:txBody>
      </p:sp>
      <p:sp>
        <p:nvSpPr>
          <p:cNvPr id="11" name="Text 8"/>
          <p:cNvSpPr/>
          <p:nvPr/>
        </p:nvSpPr>
        <p:spPr>
          <a:xfrm>
            <a:off x="795528" y="3154680"/>
            <a:ext cx="10893247" cy="502920"/>
          </a:xfrm>
          <a:prstGeom prst="rect">
            <a:avLst/>
          </a:prstGeom>
          <a:noFill/>
          <a:ln/>
        </p:spPr>
        <p:txBody>
          <a:bodyPr wrap="square" lIns="0" tIns="0" rIns="0" bIns="0" rtlCol="0" anchor="t"/>
          <a:lstStyle/>
          <a:p>
            <a:pPr indent="0" marL="0">
              <a:lnSpc>
                <a:spcPct val="120000"/>
              </a:lnSpc>
              <a:buNone/>
            </a:pPr>
            <a:r>
              <a:rPr lang="en-US" sz="1250" dirty="0">
                <a:solidFill>
                  <a:srgbClr val="7D6E5C"/>
                </a:solidFill>
                <a:latin typeface="Cambria" pitchFamily="34" charset="0"/>
                <a:ea typeface="Cambria" pitchFamily="34" charset="-122"/>
                <a:cs typeface="Cambria" pitchFamily="34" charset="-120"/>
              </a:rPr>
              <a:t>Falls back to a deliberately wide population SD until she has 3+ cycles of her own logged history to trust.</a:t>
            </a:r>
            <a:endParaRPr lang="en-US" sz="1250" dirty="0"/>
          </a:p>
        </p:txBody>
      </p:sp>
      <p:sp>
        <p:nvSpPr>
          <p:cNvPr id="12" name="Shape 9"/>
          <p:cNvSpPr/>
          <p:nvPr/>
        </p:nvSpPr>
        <p:spPr>
          <a:xfrm>
            <a:off x="502920" y="3831336"/>
            <a:ext cx="82296" cy="713232"/>
          </a:xfrm>
          <a:prstGeom prst="roundRect">
            <a:avLst>
              <a:gd name="adj" fmla="val 22222"/>
            </a:avLst>
          </a:prstGeom>
          <a:solidFill>
            <a:srgbClr val="3F8A76"/>
          </a:solidFill>
          <a:ln/>
        </p:spPr>
      </p:sp>
      <p:sp>
        <p:nvSpPr>
          <p:cNvPr id="13" name="Text 10"/>
          <p:cNvSpPr/>
          <p:nvPr/>
        </p:nvSpPr>
        <p:spPr>
          <a:xfrm>
            <a:off x="795528" y="3803904"/>
            <a:ext cx="10893247" cy="292608"/>
          </a:xfrm>
          <a:prstGeom prst="rect">
            <a:avLst/>
          </a:prstGeom>
          <a:noFill/>
          <a:ln/>
        </p:spPr>
        <p:txBody>
          <a:bodyPr wrap="square" lIns="0" tIns="0" rIns="0" bIns="0" rtlCol="0" anchor="ctr"/>
          <a:lstStyle/>
          <a:p>
            <a:pPr indent="0" marL="0">
              <a:buNone/>
            </a:pPr>
            <a:r>
              <a:rPr lang="en-US" sz="1450" b="1" dirty="0">
                <a:solidFill>
                  <a:srgbClr val="17140F"/>
                </a:solidFill>
                <a:latin typeface="Calibri" pitchFamily="34" charset="0"/>
                <a:ea typeface="Calibri" pitchFamily="34" charset="-122"/>
                <a:cs typeface="Calibri" pitchFamily="34" charset="-120"/>
              </a:rPr>
              <a:t>Knows when to stop guessing</a:t>
            </a:r>
            <a:endParaRPr lang="en-US" sz="1450" dirty="0"/>
          </a:p>
        </p:txBody>
      </p:sp>
      <p:sp>
        <p:nvSpPr>
          <p:cNvPr id="14" name="Text 11"/>
          <p:cNvSpPr/>
          <p:nvPr/>
        </p:nvSpPr>
        <p:spPr>
          <a:xfrm>
            <a:off x="795528" y="4087368"/>
            <a:ext cx="10893247" cy="502920"/>
          </a:xfrm>
          <a:prstGeom prst="rect">
            <a:avLst/>
          </a:prstGeom>
          <a:noFill/>
          <a:ln/>
        </p:spPr>
        <p:txBody>
          <a:bodyPr wrap="square" lIns="0" tIns="0" rIns="0" bIns="0" rtlCol="0" anchor="t"/>
          <a:lstStyle/>
          <a:p>
            <a:pPr indent="0" marL="0">
              <a:lnSpc>
                <a:spcPct val="120000"/>
              </a:lnSpc>
              <a:buNone/>
            </a:pPr>
            <a:r>
              <a:rPr lang="en-US" sz="1250" dirty="0">
                <a:solidFill>
                  <a:srgbClr val="7D6E5C"/>
                </a:solidFill>
                <a:latin typeface="Cambria" pitchFamily="34" charset="0"/>
                <a:ea typeface="Cambria" pitchFamily="34" charset="-122"/>
                <a:cs typeface="Cambria" pitchFamily="34" charset="-120"/>
              </a:rPr>
              <a:t>Above a usable-SD ceiling, the app stops drawing a window and switches to "test daily" — false precision is worse than admitted uncertainty.</a:t>
            </a:r>
            <a:endParaRPr lang="en-US" sz="1250" dirty="0"/>
          </a:p>
        </p:txBody>
      </p:sp>
      <p:sp>
        <p:nvSpPr>
          <p:cNvPr id="15" name="Shape 12"/>
          <p:cNvSpPr/>
          <p:nvPr/>
        </p:nvSpPr>
        <p:spPr>
          <a:xfrm>
            <a:off x="502920" y="4764024"/>
            <a:ext cx="82296" cy="713232"/>
          </a:xfrm>
          <a:prstGeom prst="roundRect">
            <a:avLst>
              <a:gd name="adj" fmla="val 22222"/>
            </a:avLst>
          </a:prstGeom>
          <a:solidFill>
            <a:srgbClr val="3F8A76"/>
          </a:solidFill>
          <a:ln/>
        </p:spPr>
      </p:sp>
      <p:sp>
        <p:nvSpPr>
          <p:cNvPr id="16" name="Text 13"/>
          <p:cNvSpPr/>
          <p:nvPr/>
        </p:nvSpPr>
        <p:spPr>
          <a:xfrm>
            <a:off x="795528" y="4736592"/>
            <a:ext cx="10893247" cy="292608"/>
          </a:xfrm>
          <a:prstGeom prst="rect">
            <a:avLst/>
          </a:prstGeom>
          <a:noFill/>
          <a:ln/>
        </p:spPr>
        <p:txBody>
          <a:bodyPr wrap="square" lIns="0" tIns="0" rIns="0" bIns="0" rtlCol="0" anchor="ctr"/>
          <a:lstStyle/>
          <a:p>
            <a:pPr indent="0" marL="0">
              <a:buNone/>
            </a:pPr>
            <a:r>
              <a:rPr lang="en-US" sz="1450" b="1" dirty="0">
                <a:solidFill>
                  <a:srgbClr val="17140F"/>
                </a:solidFill>
                <a:latin typeface="Calibri" pitchFamily="34" charset="0"/>
                <a:ea typeface="Calibri" pitchFamily="34" charset="-122"/>
                <a:cs typeface="Calibri" pitchFamily="34" charset="-120"/>
              </a:rPr>
              <a:t>PCOS-aware anovulatory detection</a:t>
            </a:r>
            <a:endParaRPr lang="en-US" sz="1450" dirty="0"/>
          </a:p>
        </p:txBody>
      </p:sp>
      <p:sp>
        <p:nvSpPr>
          <p:cNvPr id="17" name="Text 14"/>
          <p:cNvSpPr/>
          <p:nvPr/>
        </p:nvSpPr>
        <p:spPr>
          <a:xfrm>
            <a:off x="795528" y="5020056"/>
            <a:ext cx="10893247" cy="502920"/>
          </a:xfrm>
          <a:prstGeom prst="rect">
            <a:avLst/>
          </a:prstGeom>
          <a:noFill/>
          <a:ln/>
        </p:spPr>
        <p:txBody>
          <a:bodyPr wrap="square" lIns="0" tIns="0" rIns="0" bIns="0" rtlCol="0" anchor="t"/>
          <a:lstStyle/>
          <a:p>
            <a:pPr indent="0" marL="0">
              <a:lnSpc>
                <a:spcPct val="120000"/>
              </a:lnSpc>
              <a:buNone/>
            </a:pPr>
            <a:r>
              <a:rPr lang="en-US" sz="1250" dirty="0">
                <a:solidFill>
                  <a:srgbClr val="7D6E5C"/>
                </a:solidFill>
                <a:latin typeface="Cambria" pitchFamily="34" charset="0"/>
                <a:ea typeface="Cambria" pitchFamily="34" charset="-122"/>
                <a:cs typeface="Cambria" pitchFamily="34" charset="-120"/>
              </a:rPr>
              <a:t>Flags persistent OPK highs without a peak, a missing thermal shift well past expected ovulation, or a cycle overdue with no signal — every reason requires real logged evidence.</a:t>
            </a:r>
            <a:endParaRPr lang="en-US" sz="1250" dirty="0"/>
          </a:p>
        </p:txBody>
      </p:sp>
      <p:sp>
        <p:nvSpPr>
          <p:cNvPr id="18" name="Shape 15"/>
          <p:cNvSpPr/>
          <p:nvPr/>
        </p:nvSpPr>
        <p:spPr>
          <a:xfrm>
            <a:off x="502920" y="5769864"/>
            <a:ext cx="11185855" cy="502920"/>
          </a:xfrm>
          <a:prstGeom prst="roundRect">
            <a:avLst>
              <a:gd name="adj" fmla="val 10909"/>
            </a:avLst>
          </a:prstGeom>
          <a:solidFill>
            <a:srgbClr val="17140F"/>
          </a:solidFill>
          <a:ln/>
        </p:spPr>
      </p:sp>
      <p:sp>
        <p:nvSpPr>
          <p:cNvPr id="19" name="Text 16"/>
          <p:cNvSpPr/>
          <p:nvPr/>
        </p:nvSpPr>
        <p:spPr>
          <a:xfrm>
            <a:off x="731520" y="5769864"/>
            <a:ext cx="9174175" cy="502920"/>
          </a:xfrm>
          <a:prstGeom prst="rect">
            <a:avLst/>
          </a:prstGeom>
          <a:noFill/>
          <a:ln/>
        </p:spPr>
        <p:txBody>
          <a:bodyPr wrap="square" lIns="0" tIns="0" rIns="0" bIns="0" rtlCol="0" anchor="ctr"/>
          <a:lstStyle/>
          <a:p>
            <a:pPr indent="0" marL="0">
              <a:buNone/>
            </a:pPr>
            <a:r>
              <a:rPr lang="en-US" sz="1150" dirty="0">
                <a:solidFill>
                  <a:srgbClr val="C6862A"/>
                </a:solidFill>
                <a:latin typeface="Courier New" pitchFamily="34" charset="0"/>
                <a:ea typeface="Courier New" pitchFamily="34" charset="-122"/>
                <a:cs typeface="Courier New" pitchFamily="34" charset="-120"/>
              </a:rPr>
              <a:t>window = ovulationDay ± (population defaults + ⌈σ⌉),  withheld entirely when σ &gt; 5 days</a:t>
            </a:r>
            <a:endParaRPr lang="en-US" sz="1150" dirty="0"/>
          </a:p>
        </p:txBody>
      </p:sp>
      <p:sp>
        <p:nvSpPr>
          <p:cNvPr id="20" name="Text 17"/>
          <p:cNvSpPr/>
          <p:nvPr/>
        </p:nvSpPr>
        <p:spPr>
          <a:xfrm>
            <a:off x="9768535" y="5769864"/>
            <a:ext cx="1737360" cy="502920"/>
          </a:xfrm>
          <a:prstGeom prst="rect">
            <a:avLst/>
          </a:prstGeom>
          <a:noFill/>
          <a:ln/>
        </p:spPr>
        <p:txBody>
          <a:bodyPr wrap="square" lIns="0" tIns="0" rIns="0" bIns="0" rtlCol="0" anchor="ctr"/>
          <a:lstStyle/>
          <a:p>
            <a:pPr algn="r" indent="0" marL="0">
              <a:buNone/>
            </a:pPr>
            <a:r>
              <a:rPr lang="en-US" sz="1000" dirty="0">
                <a:solidFill>
                  <a:srgbClr val="CABAA9"/>
                </a:solidFill>
                <a:latin typeface="Courier New" pitchFamily="34" charset="0"/>
                <a:ea typeface="Courier New" pitchFamily="34" charset="-122"/>
                <a:cs typeface="Courier New" pitchFamily="34" charset="-120"/>
              </a:rPr>
              <a:t>phase.ts · ttc.ts</a:t>
            </a:r>
            <a:endParaRPr lang="en-US" sz="1000" dirty="0"/>
          </a:p>
        </p:txBody>
      </p:sp>
      <p:sp>
        <p:nvSpPr>
          <p:cNvPr id="21" name="Text 18"/>
          <p:cNvSpPr/>
          <p:nvPr/>
        </p:nvSpPr>
        <p:spPr>
          <a:xfrm>
            <a:off x="502920" y="6473952"/>
            <a:ext cx="3657600" cy="274320"/>
          </a:xfrm>
          <a:prstGeom prst="rect">
            <a:avLst/>
          </a:prstGeom>
          <a:noFill/>
          <a:ln/>
        </p:spPr>
        <p:txBody>
          <a:bodyPr wrap="square" lIns="0" tIns="0" rIns="0" bIns="0" rtlCol="0" anchor="ctr"/>
          <a:lstStyle/>
          <a:p>
            <a:pPr indent="0" marL="0">
              <a:buNone/>
            </a:pPr>
            <a:r>
              <a:rPr lang="en-US" sz="900" b="1" spc="200" kern="0" dirty="0">
                <a:solidFill>
                  <a:srgbClr val="7D6E5C"/>
                </a:solidFill>
                <a:latin typeface="Calibri" pitchFamily="34" charset="0"/>
                <a:ea typeface="Calibri" pitchFamily="34" charset="-122"/>
                <a:cs typeface="Calibri" pitchFamily="34" charset="-120"/>
              </a:rPr>
              <a:t>ROVE HEALTH</a:t>
            </a:r>
            <a:endParaRPr lang="en-US" sz="900" dirty="0"/>
          </a:p>
        </p:txBody>
      </p:sp>
      <p:sp>
        <p:nvSpPr>
          <p:cNvPr id="22" name="Text 19"/>
          <p:cNvSpPr/>
          <p:nvPr/>
        </p:nvSpPr>
        <p:spPr>
          <a:xfrm>
            <a:off x="3809848" y="6473952"/>
            <a:ext cx="4572000" cy="274320"/>
          </a:xfrm>
          <a:prstGeom prst="rect">
            <a:avLst/>
          </a:prstGeom>
          <a:noFill/>
          <a:ln/>
        </p:spPr>
        <p:txBody>
          <a:bodyPr wrap="square" lIns="0" tIns="0" rIns="0" bIns="0" rtlCol="0" anchor="ctr"/>
          <a:lstStyle/>
          <a:p>
            <a:pPr algn="ctr" indent="0" marL="0">
              <a:buNone/>
            </a:pPr>
            <a:r>
              <a:rPr lang="en-US" sz="900" spc="150" kern="0" dirty="0">
                <a:solidFill>
                  <a:srgbClr val="7D6E5C"/>
                </a:solidFill>
                <a:latin typeface="Calibri" pitchFamily="34" charset="0"/>
                <a:ea typeface="Calibri" pitchFamily="34" charset="-122"/>
                <a:cs typeface="Calibri" pitchFamily="34" charset="-120"/>
              </a:rPr>
              <a:t>GENESIS EIR 3.0 — DEEP TECH TRACK</a:t>
            </a:r>
            <a:endParaRPr lang="en-US" sz="900" dirty="0"/>
          </a:p>
        </p:txBody>
      </p:sp>
      <p:sp>
        <p:nvSpPr>
          <p:cNvPr id="23" name="Text 20"/>
          <p:cNvSpPr/>
          <p:nvPr/>
        </p:nvSpPr>
        <p:spPr>
          <a:xfrm>
            <a:off x="10317175" y="6473952"/>
            <a:ext cx="1371600" cy="274320"/>
          </a:xfrm>
          <a:prstGeom prst="rect">
            <a:avLst/>
          </a:prstGeom>
          <a:noFill/>
          <a:ln/>
        </p:spPr>
        <p:txBody>
          <a:bodyPr wrap="square" lIns="0" tIns="0" rIns="0" bIns="0" rtlCol="0" anchor="ctr"/>
          <a:lstStyle/>
          <a:p>
            <a:pPr algn="r" indent="0" marL="0">
              <a:buNone/>
            </a:pPr>
            <a:r>
              <a:rPr lang="en-US" sz="900" dirty="0">
                <a:solidFill>
                  <a:srgbClr val="7D6E5C"/>
                </a:solidFill>
                <a:latin typeface="Courier New" pitchFamily="34" charset="0"/>
                <a:ea typeface="Courier New" pitchFamily="34" charset="-122"/>
                <a:cs typeface="Courier Ne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200" kern="0" dirty="0">
                <a:solidFill>
                  <a:srgbClr val="7D6E5C"/>
                </a:solidFill>
                <a:latin typeface="Calibri" pitchFamily="34" charset="0"/>
                <a:ea typeface="Calibri" pitchFamily="34" charset="-122"/>
                <a:cs typeface="Calibri" pitchFamily="34" charset="-120"/>
              </a:rPr>
              <a:t>VALIDATION</a:t>
            </a:r>
            <a:endParaRPr lang="en-US" sz="1200" dirty="0"/>
          </a:p>
        </p:txBody>
      </p:sp>
      <p:sp>
        <p:nvSpPr>
          <p:cNvPr id="3" name="Text 1"/>
          <p:cNvSpPr/>
          <p:nvPr/>
        </p:nvSpPr>
        <p:spPr>
          <a:xfrm>
            <a:off x="502920" y="786384"/>
            <a:ext cx="9692640" cy="777240"/>
          </a:xfrm>
          <a:prstGeom prst="rect">
            <a:avLst/>
          </a:prstGeom>
          <a:noFill/>
          <a:ln/>
        </p:spPr>
        <p:txBody>
          <a:bodyPr wrap="square" lIns="0" tIns="0" rIns="0" bIns="0" rtlCol="0" anchor="t"/>
          <a:lstStyle/>
          <a:p>
            <a:pPr indent="0" marL="0">
              <a:buNone/>
            </a:pPr>
            <a:r>
              <a:rPr lang="en-US" sz="2600" b="1" dirty="0">
                <a:solidFill>
                  <a:srgbClr val="17140F"/>
                </a:solidFill>
                <a:latin typeface="Calibri" pitchFamily="34" charset="0"/>
                <a:ea typeface="Calibri" pitchFamily="34" charset="-122"/>
                <a:cs typeface="Calibri" pitchFamily="34" charset="-120"/>
              </a:rPr>
              <a:t>Validated against 960 simulated cycles, 8 logging personas</a:t>
            </a:r>
            <a:endParaRPr lang="en-US" sz="2600" dirty="0"/>
          </a:p>
        </p:txBody>
      </p:sp>
      <p:sp>
        <p:nvSpPr>
          <p:cNvPr id="4" name="Text 2"/>
          <p:cNvSpPr/>
          <p:nvPr/>
        </p:nvSpPr>
        <p:spPr>
          <a:xfrm>
            <a:off x="502920" y="1481328"/>
            <a:ext cx="9692640" cy="365760"/>
          </a:xfrm>
          <a:prstGeom prst="rect">
            <a:avLst/>
          </a:prstGeom>
          <a:noFill/>
          <a:ln/>
        </p:spPr>
        <p:txBody>
          <a:bodyPr wrap="square" lIns="0" tIns="0" rIns="0" bIns="0" rtlCol="0" anchor="ctr"/>
          <a:lstStyle/>
          <a:p>
            <a:pPr indent="0" marL="0">
              <a:buNone/>
            </a:pPr>
            <a:r>
              <a:rPr lang="en-US" sz="1250" i="1" dirty="0">
                <a:solidFill>
                  <a:srgbClr val="7D6E5C"/>
                </a:solidFill>
                <a:latin typeface="Cambria" pitchFamily="34" charset="0"/>
                <a:ea typeface="Cambria" pitchFamily="34" charset="-122"/>
                <a:cs typeface="Cambria" pitchFamily="34" charset="-120"/>
              </a:rPr>
              <a:t>Synthetic backtest against a known true ovulation day — a regression guard and sanity check, not yet a clinical study. See roadmap.</a:t>
            </a:r>
            <a:endParaRPr lang="en-US" sz="1250" dirty="0"/>
          </a:p>
        </p:txBody>
      </p:sp>
      <p:sp>
        <p:nvSpPr>
          <p:cNvPr id="5" name="Shape 3"/>
          <p:cNvSpPr/>
          <p:nvPr/>
        </p:nvSpPr>
        <p:spPr>
          <a:xfrm>
            <a:off x="502920" y="2011680"/>
            <a:ext cx="2625014" cy="1417320"/>
          </a:xfrm>
          <a:prstGeom prst="roundRect">
            <a:avLst>
              <a:gd name="adj" fmla="val 5161"/>
            </a:avLst>
          </a:prstGeom>
          <a:solidFill>
            <a:srgbClr val="FDFCFB"/>
          </a:solidFill>
          <a:ln w="12700">
            <a:solidFill>
              <a:srgbClr val="DDD0C1"/>
            </a:solidFill>
            <a:prstDash val="solid"/>
          </a:ln>
          <a:effectLst>
            <a:outerShdw sx="100000" sy="100000" kx="0" ky="0" algn="bl" rotWithShape="0" blurRad="76200" dist="25400" dir="5400000">
              <a:srgbClr val="17140F">
                <a:alpha val="12000"/>
              </a:srgbClr>
            </a:outerShdw>
          </a:effectLst>
        </p:spPr>
      </p:sp>
      <p:sp>
        <p:nvSpPr>
          <p:cNvPr id="6" name="Text 4"/>
          <p:cNvSpPr/>
          <p:nvPr/>
        </p:nvSpPr>
        <p:spPr>
          <a:xfrm>
            <a:off x="704088" y="2176272"/>
            <a:ext cx="2222678" cy="595274"/>
          </a:xfrm>
          <a:prstGeom prst="rect">
            <a:avLst/>
          </a:prstGeom>
          <a:noFill/>
          <a:ln/>
        </p:spPr>
        <p:txBody>
          <a:bodyPr wrap="square" lIns="0" tIns="0" rIns="0" bIns="0" rtlCol="0" anchor="ctr"/>
          <a:lstStyle/>
          <a:p>
            <a:pPr indent="0" marL="0">
              <a:buNone/>
            </a:pPr>
            <a:r>
              <a:rPr lang="en-US" sz="3000" b="1" dirty="0">
                <a:solidFill>
                  <a:srgbClr val="234840"/>
                </a:solidFill>
                <a:latin typeface="Calibri" pitchFamily="34" charset="0"/>
                <a:ea typeface="Calibri" pitchFamily="34" charset="-122"/>
                <a:cs typeface="Calibri" pitchFamily="34" charset="-120"/>
              </a:rPr>
              <a:t>93%</a:t>
            </a:r>
            <a:endParaRPr lang="en-US" sz="3000" dirty="0"/>
          </a:p>
        </p:txBody>
      </p:sp>
      <p:sp>
        <p:nvSpPr>
          <p:cNvPr id="7" name="Text 5"/>
          <p:cNvSpPr/>
          <p:nvPr/>
        </p:nvSpPr>
        <p:spPr>
          <a:xfrm>
            <a:off x="704088" y="2791206"/>
            <a:ext cx="2222678" cy="566928"/>
          </a:xfrm>
          <a:prstGeom prst="rect">
            <a:avLst/>
          </a:prstGeom>
          <a:noFill/>
          <a:ln/>
        </p:spPr>
        <p:txBody>
          <a:bodyPr wrap="square" lIns="0" tIns="0" rIns="0" bIns="0" rtlCol="0" anchor="t"/>
          <a:lstStyle/>
          <a:p>
            <a:pPr indent="0" marL="0">
              <a:lnSpc>
                <a:spcPct val="108000"/>
              </a:lnSpc>
              <a:buNone/>
            </a:pPr>
            <a:r>
              <a:rPr lang="en-US" sz="1150" dirty="0">
                <a:solidFill>
                  <a:srgbClr val="17140F"/>
                </a:solidFill>
                <a:latin typeface="Cambria" pitchFamily="34" charset="0"/>
                <a:ea typeface="Cambria" pitchFamily="34" charset="-122"/>
                <a:cs typeface="Cambria" pitchFamily="34" charset="-120"/>
              </a:rPr>
              <a:t>of BBT confirmations land on the exact true ovulation day, for a diligent dual-signal logger</a:t>
            </a:r>
            <a:endParaRPr lang="en-US" sz="1150" dirty="0"/>
          </a:p>
        </p:txBody>
      </p:sp>
      <p:sp>
        <p:nvSpPr>
          <p:cNvPr id="8" name="Shape 6"/>
          <p:cNvSpPr/>
          <p:nvPr/>
        </p:nvSpPr>
        <p:spPr>
          <a:xfrm>
            <a:off x="3356534" y="2011680"/>
            <a:ext cx="2625014" cy="1417320"/>
          </a:xfrm>
          <a:prstGeom prst="roundRect">
            <a:avLst>
              <a:gd name="adj" fmla="val 5161"/>
            </a:avLst>
          </a:prstGeom>
          <a:solidFill>
            <a:srgbClr val="FDFCFB"/>
          </a:solidFill>
          <a:ln w="12700">
            <a:solidFill>
              <a:srgbClr val="DDD0C1"/>
            </a:solidFill>
            <a:prstDash val="solid"/>
          </a:ln>
          <a:effectLst>
            <a:outerShdw sx="100000" sy="100000" kx="0" ky="0" algn="bl" rotWithShape="0" blurRad="76200" dist="25400" dir="5400000">
              <a:srgbClr val="17140F">
                <a:alpha val="12000"/>
              </a:srgbClr>
            </a:outerShdw>
          </a:effectLst>
        </p:spPr>
      </p:sp>
      <p:sp>
        <p:nvSpPr>
          <p:cNvPr id="9" name="Text 7"/>
          <p:cNvSpPr/>
          <p:nvPr/>
        </p:nvSpPr>
        <p:spPr>
          <a:xfrm>
            <a:off x="3557702" y="2176272"/>
            <a:ext cx="2222678" cy="595274"/>
          </a:xfrm>
          <a:prstGeom prst="rect">
            <a:avLst/>
          </a:prstGeom>
          <a:noFill/>
          <a:ln/>
        </p:spPr>
        <p:txBody>
          <a:bodyPr wrap="square" lIns="0" tIns="0" rIns="0" bIns="0" rtlCol="0" anchor="ctr"/>
          <a:lstStyle/>
          <a:p>
            <a:pPr indent="0" marL="0">
              <a:buNone/>
            </a:pPr>
            <a:r>
              <a:rPr lang="en-US" sz="3000" b="1" dirty="0">
                <a:solidFill>
                  <a:srgbClr val="234840"/>
                </a:solidFill>
                <a:latin typeface="Calibri" pitchFamily="34" charset="0"/>
                <a:ea typeface="Calibri" pitchFamily="34" charset="-122"/>
                <a:cs typeface="Calibri" pitchFamily="34" charset="-120"/>
              </a:rPr>
              <a:t>100%</a:t>
            </a:r>
            <a:endParaRPr lang="en-US" sz="3000" dirty="0"/>
          </a:p>
        </p:txBody>
      </p:sp>
      <p:sp>
        <p:nvSpPr>
          <p:cNvPr id="10" name="Text 8"/>
          <p:cNvSpPr/>
          <p:nvPr/>
        </p:nvSpPr>
        <p:spPr>
          <a:xfrm>
            <a:off x="3557702" y="2791206"/>
            <a:ext cx="2222678" cy="566928"/>
          </a:xfrm>
          <a:prstGeom prst="rect">
            <a:avLst/>
          </a:prstGeom>
          <a:noFill/>
          <a:ln/>
        </p:spPr>
        <p:txBody>
          <a:bodyPr wrap="square" lIns="0" tIns="0" rIns="0" bIns="0" rtlCol="0" anchor="t"/>
          <a:lstStyle/>
          <a:p>
            <a:pPr indent="0" marL="0">
              <a:lnSpc>
                <a:spcPct val="108000"/>
              </a:lnSpc>
              <a:buNone/>
            </a:pPr>
            <a:r>
              <a:rPr lang="en-US" sz="1150" dirty="0">
                <a:solidFill>
                  <a:srgbClr val="17140F"/>
                </a:solidFill>
                <a:latin typeface="Cambria" pitchFamily="34" charset="0"/>
                <a:ea typeface="Cambria" pitchFamily="34" charset="-122"/>
                <a:cs typeface="Cambria" pitchFamily="34" charset="-120"/>
              </a:rPr>
              <a:t>of simulated anovulatory (PCOS-like) cycles correctly flagged — zero false "confirmed" calls</a:t>
            </a:r>
            <a:endParaRPr lang="en-US" sz="1150" dirty="0"/>
          </a:p>
        </p:txBody>
      </p:sp>
      <p:sp>
        <p:nvSpPr>
          <p:cNvPr id="11" name="Shape 9"/>
          <p:cNvSpPr/>
          <p:nvPr/>
        </p:nvSpPr>
        <p:spPr>
          <a:xfrm>
            <a:off x="6210148" y="2011680"/>
            <a:ext cx="2625014" cy="1417320"/>
          </a:xfrm>
          <a:prstGeom prst="roundRect">
            <a:avLst>
              <a:gd name="adj" fmla="val 5161"/>
            </a:avLst>
          </a:prstGeom>
          <a:solidFill>
            <a:srgbClr val="FDFCFB"/>
          </a:solidFill>
          <a:ln w="12700">
            <a:solidFill>
              <a:srgbClr val="DDD0C1"/>
            </a:solidFill>
            <a:prstDash val="solid"/>
          </a:ln>
          <a:effectLst>
            <a:outerShdw sx="100000" sy="100000" kx="0" ky="0" algn="bl" rotWithShape="0" blurRad="76200" dist="25400" dir="5400000">
              <a:srgbClr val="17140F">
                <a:alpha val="12000"/>
              </a:srgbClr>
            </a:outerShdw>
          </a:effectLst>
        </p:spPr>
      </p:sp>
      <p:sp>
        <p:nvSpPr>
          <p:cNvPr id="12" name="Text 10"/>
          <p:cNvSpPr/>
          <p:nvPr/>
        </p:nvSpPr>
        <p:spPr>
          <a:xfrm>
            <a:off x="6411316" y="2176272"/>
            <a:ext cx="2222678" cy="595274"/>
          </a:xfrm>
          <a:prstGeom prst="rect">
            <a:avLst/>
          </a:prstGeom>
          <a:noFill/>
          <a:ln/>
        </p:spPr>
        <p:txBody>
          <a:bodyPr wrap="square" lIns="0" tIns="0" rIns="0" bIns="0" rtlCol="0" anchor="ctr"/>
          <a:lstStyle/>
          <a:p>
            <a:pPr indent="0" marL="0">
              <a:buNone/>
            </a:pPr>
            <a:r>
              <a:rPr lang="en-US" sz="3000" b="1" dirty="0">
                <a:solidFill>
                  <a:srgbClr val="7A4F16"/>
                </a:solidFill>
                <a:latin typeface="Calibri" pitchFamily="34" charset="0"/>
                <a:ea typeface="Calibri" pitchFamily="34" charset="-122"/>
                <a:cs typeface="Calibri" pitchFamily="34" charset="-120"/>
              </a:rPr>
              <a:t>99%</a:t>
            </a:r>
            <a:endParaRPr lang="en-US" sz="3000" dirty="0"/>
          </a:p>
        </p:txBody>
      </p:sp>
      <p:sp>
        <p:nvSpPr>
          <p:cNvPr id="13" name="Text 11"/>
          <p:cNvSpPr/>
          <p:nvPr/>
        </p:nvSpPr>
        <p:spPr>
          <a:xfrm>
            <a:off x="6411316" y="2791206"/>
            <a:ext cx="2222678" cy="566928"/>
          </a:xfrm>
          <a:prstGeom prst="rect">
            <a:avLst/>
          </a:prstGeom>
          <a:noFill/>
          <a:ln/>
        </p:spPr>
        <p:txBody>
          <a:bodyPr wrap="square" lIns="0" tIns="0" rIns="0" bIns="0" rtlCol="0" anchor="t"/>
          <a:lstStyle/>
          <a:p>
            <a:pPr indent="0" marL="0">
              <a:lnSpc>
                <a:spcPct val="108000"/>
              </a:lnSpc>
              <a:buNone/>
            </a:pPr>
            <a:r>
              <a:rPr lang="en-US" sz="1150" dirty="0">
                <a:solidFill>
                  <a:srgbClr val="17140F"/>
                </a:solidFill>
                <a:latin typeface="Cambria" pitchFamily="34" charset="0"/>
                <a:ea typeface="Cambria" pitchFamily="34" charset="-122"/>
                <a:cs typeface="Cambria" pitchFamily="34" charset="-120"/>
              </a:rPr>
              <a:t>the calendar-only fallback still finds true ovulation, even with zero logging</a:t>
            </a:r>
            <a:endParaRPr lang="en-US" sz="1150" dirty="0"/>
          </a:p>
        </p:txBody>
      </p:sp>
      <p:sp>
        <p:nvSpPr>
          <p:cNvPr id="14" name="Shape 12"/>
          <p:cNvSpPr/>
          <p:nvPr/>
        </p:nvSpPr>
        <p:spPr>
          <a:xfrm>
            <a:off x="9063761" y="2011680"/>
            <a:ext cx="2625014" cy="1417320"/>
          </a:xfrm>
          <a:prstGeom prst="roundRect">
            <a:avLst>
              <a:gd name="adj" fmla="val 5161"/>
            </a:avLst>
          </a:prstGeom>
          <a:solidFill>
            <a:srgbClr val="FDFCFB"/>
          </a:solidFill>
          <a:ln w="12700">
            <a:solidFill>
              <a:srgbClr val="DDD0C1"/>
            </a:solidFill>
            <a:prstDash val="solid"/>
          </a:ln>
          <a:effectLst>
            <a:outerShdw sx="100000" sy="100000" kx="0" ky="0" algn="bl" rotWithShape="0" blurRad="76200" dist="25400" dir="5400000">
              <a:srgbClr val="17140F">
                <a:alpha val="12000"/>
              </a:srgbClr>
            </a:outerShdw>
          </a:effectLst>
        </p:spPr>
      </p:sp>
      <p:sp>
        <p:nvSpPr>
          <p:cNvPr id="15" name="Text 13"/>
          <p:cNvSpPr/>
          <p:nvPr/>
        </p:nvSpPr>
        <p:spPr>
          <a:xfrm>
            <a:off x="9264929" y="2176272"/>
            <a:ext cx="2222678" cy="595274"/>
          </a:xfrm>
          <a:prstGeom prst="rect">
            <a:avLst/>
          </a:prstGeom>
          <a:noFill/>
          <a:ln/>
        </p:spPr>
        <p:txBody>
          <a:bodyPr wrap="square" lIns="0" tIns="0" rIns="0" bIns="0" rtlCol="0" anchor="ctr"/>
          <a:lstStyle/>
          <a:p>
            <a:pPr indent="0" marL="0">
              <a:buNone/>
            </a:pPr>
            <a:r>
              <a:rPr lang="en-US" sz="3000" b="1" dirty="0">
                <a:solidFill>
                  <a:srgbClr val="7A4F16"/>
                </a:solidFill>
                <a:latin typeface="Calibri" pitchFamily="34" charset="0"/>
                <a:ea typeface="Calibri" pitchFamily="34" charset="-122"/>
                <a:cs typeface="Calibri" pitchFamily="34" charset="-120"/>
              </a:rPr>
              <a:t>1.3 days</a:t>
            </a:r>
            <a:endParaRPr lang="en-US" sz="3000" dirty="0"/>
          </a:p>
        </p:txBody>
      </p:sp>
      <p:sp>
        <p:nvSpPr>
          <p:cNvPr id="16" name="Text 14"/>
          <p:cNvSpPr/>
          <p:nvPr/>
        </p:nvSpPr>
        <p:spPr>
          <a:xfrm>
            <a:off x="9264929" y="2791206"/>
            <a:ext cx="2222678" cy="566928"/>
          </a:xfrm>
          <a:prstGeom prst="rect">
            <a:avLst/>
          </a:prstGeom>
          <a:noFill/>
          <a:ln/>
        </p:spPr>
        <p:txBody>
          <a:bodyPr wrap="square" lIns="0" tIns="0" rIns="0" bIns="0" rtlCol="0" anchor="t"/>
          <a:lstStyle/>
          <a:p>
            <a:pPr indent="0" marL="0">
              <a:lnSpc>
                <a:spcPct val="108000"/>
              </a:lnSpc>
              <a:buNone/>
            </a:pPr>
            <a:r>
              <a:rPr lang="en-US" sz="1150" dirty="0">
                <a:solidFill>
                  <a:srgbClr val="17140F"/>
                </a:solidFill>
                <a:latin typeface="Cambria" pitchFamily="34" charset="0"/>
                <a:ea typeface="Cambria" pitchFamily="34" charset="-122"/>
                <a:cs typeface="Cambria" pitchFamily="34" charset="-120"/>
              </a:rPr>
              <a:t>average advance warning from a test-strip surge, before ovulation actually happens</a:t>
            </a:r>
            <a:endParaRPr lang="en-US" sz="1150" dirty="0"/>
          </a:p>
        </p:txBody>
      </p:sp>
      <p:sp>
        <p:nvSpPr>
          <p:cNvPr id="17" name="Text 15"/>
          <p:cNvSpPr/>
          <p:nvPr/>
        </p:nvSpPr>
        <p:spPr>
          <a:xfrm>
            <a:off x="502920" y="3703320"/>
            <a:ext cx="7315200" cy="274320"/>
          </a:xfrm>
          <a:prstGeom prst="rect">
            <a:avLst/>
          </a:prstGeom>
          <a:noFill/>
          <a:ln/>
        </p:spPr>
        <p:txBody>
          <a:bodyPr wrap="square" lIns="0" tIns="0" rIns="0" bIns="0" rtlCol="0" anchor="ctr"/>
          <a:lstStyle/>
          <a:p>
            <a:pPr indent="0" marL="0">
              <a:buNone/>
            </a:pPr>
            <a:r>
              <a:rPr lang="en-US" sz="1200" b="1" dirty="0">
                <a:solidFill>
                  <a:srgbClr val="17140F"/>
                </a:solidFill>
                <a:latin typeface="Calibri" pitchFamily="34" charset="0"/>
                <a:ea typeface="Calibri" pitchFamily="34" charset="-122"/>
                <a:cs typeface="Calibri" pitchFamily="34" charset="-120"/>
              </a:rPr>
              <a:t>Share of cycles where each signal reached a read at all, by persona</a:t>
            </a:r>
            <a:endParaRPr lang="en-US" sz="1200" dirty="0"/>
          </a:p>
        </p:txBody>
      </p:sp>
      <p:graphicFrame>
        <p:nvGraphicFramePr>
          <p:cNvPr id="18" name="Chart 0" descr=""/>
          <p:cNvGraphicFramePr/>
          <p:nvPr/>
        </p:nvGraphicFramePr>
        <p:xfrm>
          <a:off x="502920" y="3977640"/>
          <a:ext cx="11185855" cy="233172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p:nvPr/>
        </p:nvSpPr>
        <p:spPr>
          <a:xfrm>
            <a:off x="502920" y="6473952"/>
            <a:ext cx="3657600" cy="274320"/>
          </a:xfrm>
          <a:prstGeom prst="rect">
            <a:avLst/>
          </a:prstGeom>
          <a:noFill/>
          <a:ln/>
        </p:spPr>
        <p:txBody>
          <a:bodyPr wrap="square" lIns="0" tIns="0" rIns="0" bIns="0" rtlCol="0" anchor="ctr"/>
          <a:lstStyle/>
          <a:p>
            <a:pPr indent="0" marL="0">
              <a:buNone/>
            </a:pPr>
            <a:r>
              <a:rPr lang="en-US" sz="900" b="1" spc="200" kern="0" dirty="0">
                <a:solidFill>
                  <a:srgbClr val="7D6E5C"/>
                </a:solidFill>
                <a:latin typeface="Calibri" pitchFamily="34" charset="0"/>
                <a:ea typeface="Calibri" pitchFamily="34" charset="-122"/>
                <a:cs typeface="Calibri" pitchFamily="34" charset="-120"/>
              </a:rPr>
              <a:t>ROVE HEALTH</a:t>
            </a:r>
            <a:endParaRPr lang="en-US" sz="900" dirty="0"/>
          </a:p>
        </p:txBody>
      </p:sp>
      <p:sp>
        <p:nvSpPr>
          <p:cNvPr id="20" name="Text 17"/>
          <p:cNvSpPr/>
          <p:nvPr/>
        </p:nvSpPr>
        <p:spPr>
          <a:xfrm>
            <a:off x="3809848" y="6473952"/>
            <a:ext cx="4572000" cy="274320"/>
          </a:xfrm>
          <a:prstGeom prst="rect">
            <a:avLst/>
          </a:prstGeom>
          <a:noFill/>
          <a:ln/>
        </p:spPr>
        <p:txBody>
          <a:bodyPr wrap="square" lIns="0" tIns="0" rIns="0" bIns="0" rtlCol="0" anchor="ctr"/>
          <a:lstStyle/>
          <a:p>
            <a:pPr algn="ctr" indent="0" marL="0">
              <a:buNone/>
            </a:pPr>
            <a:r>
              <a:rPr lang="en-US" sz="900" spc="150" kern="0" dirty="0">
                <a:solidFill>
                  <a:srgbClr val="7D6E5C"/>
                </a:solidFill>
                <a:latin typeface="Calibri" pitchFamily="34" charset="0"/>
                <a:ea typeface="Calibri" pitchFamily="34" charset="-122"/>
                <a:cs typeface="Calibri" pitchFamily="34" charset="-120"/>
              </a:rPr>
              <a:t>GENESIS EIR 3.0 — DEEP TECH TRACK</a:t>
            </a:r>
            <a:endParaRPr lang="en-US" sz="900" dirty="0"/>
          </a:p>
        </p:txBody>
      </p:sp>
      <p:sp>
        <p:nvSpPr>
          <p:cNvPr id="21" name="Text 18"/>
          <p:cNvSpPr/>
          <p:nvPr/>
        </p:nvSpPr>
        <p:spPr>
          <a:xfrm>
            <a:off x="10317175" y="6473952"/>
            <a:ext cx="1371600" cy="274320"/>
          </a:xfrm>
          <a:prstGeom prst="rect">
            <a:avLst/>
          </a:prstGeom>
          <a:noFill/>
          <a:ln/>
        </p:spPr>
        <p:txBody>
          <a:bodyPr wrap="square" lIns="0" tIns="0" rIns="0" bIns="0" rtlCol="0" anchor="ctr"/>
          <a:lstStyle/>
          <a:p>
            <a:pPr algn="r" indent="0" marL="0">
              <a:buNone/>
            </a:pPr>
            <a:r>
              <a:rPr lang="en-US" sz="900" dirty="0">
                <a:solidFill>
                  <a:srgbClr val="7D6E5C"/>
                </a:solidFill>
                <a:latin typeface="Courier New" pitchFamily="34" charset="0"/>
                <a:ea typeface="Courier New" pitchFamily="34" charset="-122"/>
                <a:cs typeface="Courier Ne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200" kern="0" dirty="0">
                <a:solidFill>
                  <a:srgbClr val="7D6E5C"/>
                </a:solidFill>
                <a:latin typeface="Calibri" pitchFamily="34" charset="0"/>
                <a:ea typeface="Calibri" pitchFamily="34" charset="-122"/>
                <a:cs typeface="Calibri" pitchFamily="34" charset="-120"/>
              </a:rPr>
              <a:t>TECHNOLOGY READINESS &amp; ROADMAP</a:t>
            </a:r>
            <a:endParaRPr lang="en-US" sz="1200" dirty="0"/>
          </a:p>
        </p:txBody>
      </p:sp>
      <p:sp>
        <p:nvSpPr>
          <p:cNvPr id="3" name="Text 1"/>
          <p:cNvSpPr/>
          <p:nvPr/>
        </p:nvSpPr>
        <p:spPr>
          <a:xfrm>
            <a:off x="502920" y="786384"/>
            <a:ext cx="9692640" cy="777240"/>
          </a:xfrm>
          <a:prstGeom prst="rect">
            <a:avLst/>
          </a:prstGeom>
          <a:noFill/>
          <a:ln/>
        </p:spPr>
        <p:txBody>
          <a:bodyPr wrap="square" lIns="0" tIns="0" rIns="0" bIns="0" rtlCol="0" anchor="t"/>
          <a:lstStyle/>
          <a:p>
            <a:pPr indent="0" marL="0">
              <a:buNone/>
            </a:pPr>
            <a:r>
              <a:rPr lang="en-US" sz="2700" b="1" dirty="0">
                <a:solidFill>
                  <a:srgbClr val="17140F"/>
                </a:solidFill>
                <a:latin typeface="Calibri" pitchFamily="34" charset="0"/>
                <a:ea typeface="Calibri" pitchFamily="34" charset="-122"/>
                <a:cs typeface="Calibri" pitchFamily="34" charset="-120"/>
              </a:rPr>
              <a:t>TRL 3–4 today — field-validated with this grant</a:t>
            </a:r>
            <a:endParaRPr lang="en-US" sz="2700" dirty="0"/>
          </a:p>
        </p:txBody>
      </p:sp>
      <p:sp>
        <p:nvSpPr>
          <p:cNvPr id="4" name="Shape 2"/>
          <p:cNvSpPr/>
          <p:nvPr/>
        </p:nvSpPr>
        <p:spPr>
          <a:xfrm>
            <a:off x="10774375" y="685800"/>
            <a:ext cx="914400" cy="914400"/>
          </a:xfrm>
          <a:prstGeom prst="ellipse">
            <a:avLst/>
          </a:prstGeom>
          <a:solidFill>
            <a:srgbClr val="ECE4DA"/>
          </a:solidFill>
          <a:ln/>
        </p:spPr>
      </p:sp>
      <p:pic>
        <p:nvPicPr>
          <p:cNvPr id="5" name="Image 0" descr="preencoded.png">    </p:cNvPr>
          <p:cNvPicPr>
            <a:picLocks noChangeAspect="1"/>
          </p:cNvPicPr>
          <p:nvPr/>
        </p:nvPicPr>
        <p:blipFill>
          <a:blip r:embed="rId1"/>
          <a:stretch>
            <a:fillRect/>
          </a:stretch>
        </p:blipFill>
        <p:spPr>
          <a:xfrm>
            <a:off x="11012119" y="923544"/>
            <a:ext cx="438912" cy="438912"/>
          </a:xfrm>
          <a:prstGeom prst="rect">
            <a:avLst/>
          </a:prstGeom>
        </p:spPr>
      </p:pic>
      <p:sp>
        <p:nvSpPr>
          <p:cNvPr id="6" name="Shape 3"/>
          <p:cNvSpPr/>
          <p:nvPr/>
        </p:nvSpPr>
        <p:spPr>
          <a:xfrm>
            <a:off x="777240" y="2880360"/>
            <a:ext cx="10637215" cy="0"/>
          </a:xfrm>
          <a:prstGeom prst="line">
            <a:avLst/>
          </a:prstGeom>
          <a:noFill/>
          <a:ln w="25400">
            <a:solidFill>
              <a:srgbClr val="DDD0C1"/>
            </a:solidFill>
            <a:prstDash val="solid"/>
          </a:ln>
        </p:spPr>
      </p:sp>
      <p:sp>
        <p:nvSpPr>
          <p:cNvPr id="7" name="Shape 4"/>
          <p:cNvSpPr/>
          <p:nvPr/>
        </p:nvSpPr>
        <p:spPr>
          <a:xfrm>
            <a:off x="676656" y="2779776"/>
            <a:ext cx="201168" cy="201168"/>
          </a:xfrm>
          <a:prstGeom prst="ellipse">
            <a:avLst/>
          </a:prstGeom>
          <a:solidFill>
            <a:srgbClr val="3F8A76"/>
          </a:solidFill>
          <a:ln w="25400">
            <a:solidFill>
              <a:srgbClr val="3F8A76"/>
            </a:solidFill>
            <a:prstDash val="solid"/>
          </a:ln>
        </p:spPr>
      </p:sp>
      <p:sp>
        <p:nvSpPr>
          <p:cNvPr id="8" name="Shape 5"/>
          <p:cNvSpPr/>
          <p:nvPr/>
        </p:nvSpPr>
        <p:spPr>
          <a:xfrm>
            <a:off x="777240" y="2514600"/>
            <a:ext cx="0" cy="265176"/>
          </a:xfrm>
          <a:prstGeom prst="line">
            <a:avLst/>
          </a:prstGeom>
          <a:noFill/>
          <a:ln w="12700">
            <a:solidFill>
              <a:srgbClr val="DDD0C1"/>
            </a:solidFill>
            <a:prstDash val="dash"/>
          </a:ln>
        </p:spPr>
      </p:sp>
      <p:sp>
        <p:nvSpPr>
          <p:cNvPr id="9" name="Text 6"/>
          <p:cNvSpPr/>
          <p:nvPr/>
        </p:nvSpPr>
        <p:spPr>
          <a:xfrm>
            <a:off x="502920" y="1463040"/>
            <a:ext cx="1990283" cy="201168"/>
          </a:xfrm>
          <a:prstGeom prst="rect">
            <a:avLst/>
          </a:prstGeom>
          <a:noFill/>
          <a:ln/>
        </p:spPr>
        <p:txBody>
          <a:bodyPr wrap="square" lIns="0" tIns="0" rIns="0" bIns="0" rtlCol="0" anchor="ctr"/>
          <a:lstStyle/>
          <a:p>
            <a:pPr indent="0" marL="0">
              <a:buNone/>
            </a:pPr>
            <a:r>
              <a:rPr lang="en-US" sz="850" b="1" spc="100" kern="0" dirty="0">
                <a:solidFill>
                  <a:srgbClr val="234840"/>
                </a:solidFill>
                <a:latin typeface="Calibri" pitchFamily="34" charset="0"/>
                <a:ea typeface="Calibri" pitchFamily="34" charset="-122"/>
                <a:cs typeface="Calibri" pitchFamily="34" charset="-120"/>
              </a:rPr>
              <a:t>DONE</a:t>
            </a:r>
            <a:endParaRPr lang="en-US" sz="850" dirty="0"/>
          </a:p>
        </p:txBody>
      </p:sp>
      <p:sp>
        <p:nvSpPr>
          <p:cNvPr id="10" name="Text 7"/>
          <p:cNvSpPr/>
          <p:nvPr/>
        </p:nvSpPr>
        <p:spPr>
          <a:xfrm>
            <a:off x="502920" y="1664208"/>
            <a:ext cx="1990283" cy="502920"/>
          </a:xfrm>
          <a:prstGeom prst="rect">
            <a:avLst/>
          </a:prstGeom>
          <a:noFill/>
          <a:ln/>
        </p:spPr>
        <p:txBody>
          <a:bodyPr wrap="square" lIns="0" tIns="0" rIns="0" bIns="0" rtlCol="0" anchor="t"/>
          <a:lstStyle/>
          <a:p>
            <a:pPr indent="0" marL="0">
              <a:lnSpc>
                <a:spcPct val="105000"/>
              </a:lnSpc>
              <a:buNone/>
            </a:pPr>
            <a:r>
              <a:rPr lang="en-US" sz="1150" b="1" dirty="0">
                <a:solidFill>
                  <a:srgbClr val="17140F"/>
                </a:solidFill>
                <a:latin typeface="Calibri" pitchFamily="34" charset="0"/>
                <a:ea typeface="Calibri" pitchFamily="34" charset="-122"/>
                <a:cs typeface="Calibri" pitchFamily="34" charset="-120"/>
              </a:rPr>
              <a:t>Algorithm implemented &amp; unit-tested</a:t>
            </a:r>
            <a:endParaRPr lang="en-US" sz="1150" dirty="0"/>
          </a:p>
        </p:txBody>
      </p:sp>
      <p:sp>
        <p:nvSpPr>
          <p:cNvPr id="11" name="Text 8"/>
          <p:cNvSpPr/>
          <p:nvPr/>
        </p:nvSpPr>
        <p:spPr>
          <a:xfrm>
            <a:off x="502920" y="2148840"/>
            <a:ext cx="1990283" cy="731520"/>
          </a:xfrm>
          <a:prstGeom prst="rect">
            <a:avLst/>
          </a:prstGeom>
          <a:noFill/>
          <a:ln/>
        </p:spPr>
        <p:txBody>
          <a:bodyPr wrap="square" lIns="0" tIns="0" rIns="0" bIns="0" rtlCol="0" anchor="t"/>
          <a:lstStyle/>
          <a:p>
            <a:pPr indent="0" marL="0">
              <a:lnSpc>
                <a:spcPct val="115000"/>
              </a:lnSpc>
              <a:buNone/>
            </a:pPr>
            <a:r>
              <a:rPr lang="en-US" sz="1000" dirty="0">
                <a:solidFill>
                  <a:srgbClr val="7D6E5C"/>
                </a:solidFill>
                <a:latin typeface="Cambria" pitchFamily="34" charset="0"/>
                <a:ea typeface="Cambria" pitchFamily="34" charset="-122"/>
                <a:cs typeface="Cambria" pitchFamily="34" charset="-120"/>
              </a:rPr>
              <a:t>154 tests across a pure-function engine shared by mobile, backend and web.</a:t>
            </a:r>
            <a:endParaRPr lang="en-US" sz="1000" dirty="0"/>
          </a:p>
        </p:txBody>
      </p:sp>
      <p:sp>
        <p:nvSpPr>
          <p:cNvPr id="12" name="Shape 9"/>
          <p:cNvSpPr/>
          <p:nvPr/>
        </p:nvSpPr>
        <p:spPr>
          <a:xfrm>
            <a:off x="3335960" y="2779776"/>
            <a:ext cx="201168" cy="201168"/>
          </a:xfrm>
          <a:prstGeom prst="ellipse">
            <a:avLst/>
          </a:prstGeom>
          <a:solidFill>
            <a:srgbClr val="3F8A76"/>
          </a:solidFill>
          <a:ln w="25400">
            <a:solidFill>
              <a:srgbClr val="3F8A76"/>
            </a:solidFill>
            <a:prstDash val="solid"/>
          </a:ln>
        </p:spPr>
      </p:sp>
      <p:sp>
        <p:nvSpPr>
          <p:cNvPr id="13" name="Shape 10"/>
          <p:cNvSpPr/>
          <p:nvPr/>
        </p:nvSpPr>
        <p:spPr>
          <a:xfrm>
            <a:off x="3436544" y="2980944"/>
            <a:ext cx="0" cy="219456"/>
          </a:xfrm>
          <a:prstGeom prst="line">
            <a:avLst/>
          </a:prstGeom>
          <a:noFill/>
          <a:ln w="12700">
            <a:solidFill>
              <a:srgbClr val="DDD0C1"/>
            </a:solidFill>
            <a:prstDash val="dash"/>
          </a:ln>
        </p:spPr>
      </p:sp>
      <p:sp>
        <p:nvSpPr>
          <p:cNvPr id="14" name="Text 11"/>
          <p:cNvSpPr/>
          <p:nvPr/>
        </p:nvSpPr>
        <p:spPr>
          <a:xfrm>
            <a:off x="2441402" y="3200400"/>
            <a:ext cx="1990283" cy="201168"/>
          </a:xfrm>
          <a:prstGeom prst="rect">
            <a:avLst/>
          </a:prstGeom>
          <a:noFill/>
          <a:ln/>
        </p:spPr>
        <p:txBody>
          <a:bodyPr wrap="square" lIns="0" tIns="0" rIns="0" bIns="0" rtlCol="0" anchor="ctr"/>
          <a:lstStyle/>
          <a:p>
            <a:pPr indent="0" marL="0">
              <a:buNone/>
            </a:pPr>
            <a:r>
              <a:rPr lang="en-US" sz="850" b="1" spc="100" kern="0" dirty="0">
                <a:solidFill>
                  <a:srgbClr val="234840"/>
                </a:solidFill>
                <a:latin typeface="Calibri" pitchFamily="34" charset="0"/>
                <a:ea typeface="Calibri" pitchFamily="34" charset="-122"/>
                <a:cs typeface="Calibri" pitchFamily="34" charset="-120"/>
              </a:rPr>
              <a:t>DONE</a:t>
            </a:r>
            <a:endParaRPr lang="en-US" sz="850" dirty="0"/>
          </a:p>
        </p:txBody>
      </p:sp>
      <p:sp>
        <p:nvSpPr>
          <p:cNvPr id="15" name="Text 12"/>
          <p:cNvSpPr/>
          <p:nvPr/>
        </p:nvSpPr>
        <p:spPr>
          <a:xfrm>
            <a:off x="2441402" y="3401568"/>
            <a:ext cx="1990283" cy="502920"/>
          </a:xfrm>
          <a:prstGeom prst="rect">
            <a:avLst/>
          </a:prstGeom>
          <a:noFill/>
          <a:ln/>
        </p:spPr>
        <p:txBody>
          <a:bodyPr wrap="square" lIns="0" tIns="0" rIns="0" bIns="0" rtlCol="0" anchor="t"/>
          <a:lstStyle/>
          <a:p>
            <a:pPr indent="0" marL="0">
              <a:lnSpc>
                <a:spcPct val="105000"/>
              </a:lnSpc>
              <a:buNone/>
            </a:pPr>
            <a:r>
              <a:rPr lang="en-US" sz="1150" b="1" dirty="0">
                <a:solidFill>
                  <a:srgbClr val="17140F"/>
                </a:solidFill>
                <a:latin typeface="Calibri" pitchFamily="34" charset="0"/>
                <a:ea typeface="Calibri" pitchFamily="34" charset="-122"/>
                <a:cs typeface="Calibri" pitchFamily="34" charset="-120"/>
              </a:rPr>
              <a:t>Synthetic accuracy backtest</a:t>
            </a:r>
            <a:endParaRPr lang="en-US" sz="1150" dirty="0"/>
          </a:p>
        </p:txBody>
      </p:sp>
      <p:sp>
        <p:nvSpPr>
          <p:cNvPr id="16" name="Text 13"/>
          <p:cNvSpPr/>
          <p:nvPr/>
        </p:nvSpPr>
        <p:spPr>
          <a:xfrm>
            <a:off x="2441402" y="3886200"/>
            <a:ext cx="1990283" cy="731520"/>
          </a:xfrm>
          <a:prstGeom prst="rect">
            <a:avLst/>
          </a:prstGeom>
          <a:noFill/>
          <a:ln/>
        </p:spPr>
        <p:txBody>
          <a:bodyPr wrap="square" lIns="0" tIns="0" rIns="0" bIns="0" rtlCol="0" anchor="t"/>
          <a:lstStyle/>
          <a:p>
            <a:pPr indent="0" marL="0">
              <a:lnSpc>
                <a:spcPct val="115000"/>
              </a:lnSpc>
              <a:buNone/>
            </a:pPr>
            <a:r>
              <a:rPr lang="en-US" sz="1000" dirty="0">
                <a:solidFill>
                  <a:srgbClr val="7D6E5C"/>
                </a:solidFill>
                <a:latin typeface="Cambria" pitchFamily="34" charset="0"/>
                <a:ea typeface="Cambria" pitchFamily="34" charset="-122"/>
                <a:cs typeface="Cambria" pitchFamily="34" charset="-120"/>
              </a:rPr>
              <a:t>960 simulated cycles, 8 logging personas, against a known true ovulation day.</a:t>
            </a:r>
            <a:endParaRPr lang="en-US" sz="1000" dirty="0"/>
          </a:p>
        </p:txBody>
      </p:sp>
      <p:sp>
        <p:nvSpPr>
          <p:cNvPr id="17" name="Shape 14"/>
          <p:cNvSpPr/>
          <p:nvPr/>
        </p:nvSpPr>
        <p:spPr>
          <a:xfrm>
            <a:off x="5995264" y="2779776"/>
            <a:ext cx="201168" cy="201168"/>
          </a:xfrm>
          <a:prstGeom prst="ellipse">
            <a:avLst/>
          </a:prstGeom>
          <a:solidFill>
            <a:srgbClr val="FDFCFB"/>
          </a:solidFill>
          <a:ln w="25400">
            <a:solidFill>
              <a:srgbClr val="7D6E5C"/>
            </a:solidFill>
            <a:prstDash val="solid"/>
          </a:ln>
        </p:spPr>
      </p:sp>
      <p:sp>
        <p:nvSpPr>
          <p:cNvPr id="18" name="Shape 15"/>
          <p:cNvSpPr/>
          <p:nvPr/>
        </p:nvSpPr>
        <p:spPr>
          <a:xfrm>
            <a:off x="6095848" y="2514600"/>
            <a:ext cx="0" cy="265176"/>
          </a:xfrm>
          <a:prstGeom prst="line">
            <a:avLst/>
          </a:prstGeom>
          <a:noFill/>
          <a:ln w="12700">
            <a:solidFill>
              <a:srgbClr val="DDD0C1"/>
            </a:solidFill>
            <a:prstDash val="dash"/>
          </a:ln>
        </p:spPr>
      </p:sp>
      <p:sp>
        <p:nvSpPr>
          <p:cNvPr id="19" name="Text 16"/>
          <p:cNvSpPr/>
          <p:nvPr/>
        </p:nvSpPr>
        <p:spPr>
          <a:xfrm>
            <a:off x="5100706" y="1463040"/>
            <a:ext cx="1990283" cy="201168"/>
          </a:xfrm>
          <a:prstGeom prst="rect">
            <a:avLst/>
          </a:prstGeom>
          <a:noFill/>
          <a:ln/>
        </p:spPr>
        <p:txBody>
          <a:bodyPr wrap="square" lIns="0" tIns="0" rIns="0" bIns="0" rtlCol="0" anchor="ctr"/>
          <a:lstStyle/>
          <a:p>
            <a:pPr indent="0" marL="0">
              <a:buNone/>
            </a:pPr>
            <a:r>
              <a:rPr lang="en-US" sz="850" b="1" spc="100" kern="0" dirty="0">
                <a:solidFill>
                  <a:srgbClr val="7A4F16"/>
                </a:solidFill>
                <a:latin typeface="Calibri" pitchFamily="34" charset="0"/>
                <a:ea typeface="Calibri" pitchFamily="34" charset="-122"/>
                <a:cs typeface="Calibri" pitchFamily="34" charset="-120"/>
              </a:rPr>
              <a:t>GRANT-FUNDED</a:t>
            </a:r>
            <a:endParaRPr lang="en-US" sz="850" dirty="0"/>
          </a:p>
        </p:txBody>
      </p:sp>
      <p:sp>
        <p:nvSpPr>
          <p:cNvPr id="20" name="Text 17"/>
          <p:cNvSpPr/>
          <p:nvPr/>
        </p:nvSpPr>
        <p:spPr>
          <a:xfrm>
            <a:off x="5100706" y="1664208"/>
            <a:ext cx="1990283" cy="502920"/>
          </a:xfrm>
          <a:prstGeom prst="rect">
            <a:avLst/>
          </a:prstGeom>
          <a:noFill/>
          <a:ln/>
        </p:spPr>
        <p:txBody>
          <a:bodyPr wrap="square" lIns="0" tIns="0" rIns="0" bIns="0" rtlCol="0" anchor="t"/>
          <a:lstStyle/>
          <a:p>
            <a:pPr indent="0" marL="0">
              <a:lnSpc>
                <a:spcPct val="105000"/>
              </a:lnSpc>
              <a:buNone/>
            </a:pPr>
            <a:r>
              <a:rPr lang="en-US" sz="1150" b="1" dirty="0">
                <a:solidFill>
                  <a:srgbClr val="17140F"/>
                </a:solidFill>
                <a:latin typeface="Calibri" pitchFamily="34" charset="0"/>
                <a:ea typeface="Calibri" pitchFamily="34" charset="-122"/>
                <a:cs typeface="Calibri" pitchFamily="34" charset="-120"/>
              </a:rPr>
              <a:t>Strip sourcing &amp; camera-vision calibration</a:t>
            </a:r>
            <a:endParaRPr lang="en-US" sz="1150" dirty="0"/>
          </a:p>
        </p:txBody>
      </p:sp>
      <p:sp>
        <p:nvSpPr>
          <p:cNvPr id="21" name="Text 18"/>
          <p:cNvSpPr/>
          <p:nvPr/>
        </p:nvSpPr>
        <p:spPr>
          <a:xfrm>
            <a:off x="5100706" y="2148840"/>
            <a:ext cx="1990283" cy="731520"/>
          </a:xfrm>
          <a:prstGeom prst="rect">
            <a:avLst/>
          </a:prstGeom>
          <a:noFill/>
          <a:ln/>
        </p:spPr>
        <p:txBody>
          <a:bodyPr wrap="square" lIns="0" tIns="0" rIns="0" bIns="0" rtlCol="0" anchor="t"/>
          <a:lstStyle/>
          <a:p>
            <a:pPr indent="0" marL="0">
              <a:lnSpc>
                <a:spcPct val="115000"/>
              </a:lnSpc>
              <a:buNone/>
            </a:pPr>
            <a:r>
              <a:rPr lang="en-US" sz="1000" dirty="0">
                <a:solidFill>
                  <a:srgbClr val="7D6E5C"/>
                </a:solidFill>
                <a:latin typeface="Cambria" pitchFamily="34" charset="0"/>
                <a:ea typeface="Cambria" pitchFamily="34" charset="-122"/>
                <a:cs typeface="Cambria" pitchFamily="34" charset="-120"/>
              </a:rPr>
              <a:t>Reading the physical kit’s backing card programmatically, not a self-reported grade.</a:t>
            </a:r>
            <a:endParaRPr lang="en-US" sz="1000" dirty="0"/>
          </a:p>
        </p:txBody>
      </p:sp>
      <p:sp>
        <p:nvSpPr>
          <p:cNvPr id="22" name="Shape 19"/>
          <p:cNvSpPr/>
          <p:nvPr/>
        </p:nvSpPr>
        <p:spPr>
          <a:xfrm>
            <a:off x="8654567" y="2779776"/>
            <a:ext cx="201168" cy="201168"/>
          </a:xfrm>
          <a:prstGeom prst="ellipse">
            <a:avLst/>
          </a:prstGeom>
          <a:solidFill>
            <a:srgbClr val="FDFCFB"/>
          </a:solidFill>
          <a:ln w="25400">
            <a:solidFill>
              <a:srgbClr val="7D6E5C"/>
            </a:solidFill>
            <a:prstDash val="solid"/>
          </a:ln>
        </p:spPr>
      </p:sp>
      <p:sp>
        <p:nvSpPr>
          <p:cNvPr id="23" name="Shape 20"/>
          <p:cNvSpPr/>
          <p:nvPr/>
        </p:nvSpPr>
        <p:spPr>
          <a:xfrm>
            <a:off x="8755151" y="2980944"/>
            <a:ext cx="0" cy="219456"/>
          </a:xfrm>
          <a:prstGeom prst="line">
            <a:avLst/>
          </a:prstGeom>
          <a:noFill/>
          <a:ln w="12700">
            <a:solidFill>
              <a:srgbClr val="DDD0C1"/>
            </a:solidFill>
            <a:prstDash val="dash"/>
          </a:ln>
        </p:spPr>
      </p:sp>
      <p:sp>
        <p:nvSpPr>
          <p:cNvPr id="24" name="Text 21"/>
          <p:cNvSpPr/>
          <p:nvPr/>
        </p:nvSpPr>
        <p:spPr>
          <a:xfrm>
            <a:off x="7760010" y="3200400"/>
            <a:ext cx="1990283" cy="201168"/>
          </a:xfrm>
          <a:prstGeom prst="rect">
            <a:avLst/>
          </a:prstGeom>
          <a:noFill/>
          <a:ln/>
        </p:spPr>
        <p:txBody>
          <a:bodyPr wrap="square" lIns="0" tIns="0" rIns="0" bIns="0" rtlCol="0" anchor="ctr"/>
          <a:lstStyle/>
          <a:p>
            <a:pPr indent="0" marL="0">
              <a:buNone/>
            </a:pPr>
            <a:r>
              <a:rPr lang="en-US" sz="850" b="1" spc="100" kern="0" dirty="0">
                <a:solidFill>
                  <a:srgbClr val="7A4F16"/>
                </a:solidFill>
                <a:latin typeface="Calibri" pitchFamily="34" charset="0"/>
                <a:ea typeface="Calibri" pitchFamily="34" charset="-122"/>
                <a:cs typeface="Calibri" pitchFamily="34" charset="-120"/>
              </a:rPr>
              <a:t>GRANT-FUNDED</a:t>
            </a:r>
            <a:endParaRPr lang="en-US" sz="850" dirty="0"/>
          </a:p>
        </p:txBody>
      </p:sp>
      <p:sp>
        <p:nvSpPr>
          <p:cNvPr id="25" name="Text 22"/>
          <p:cNvSpPr/>
          <p:nvPr/>
        </p:nvSpPr>
        <p:spPr>
          <a:xfrm>
            <a:off x="7760010" y="3401568"/>
            <a:ext cx="1990283" cy="502920"/>
          </a:xfrm>
          <a:prstGeom prst="rect">
            <a:avLst/>
          </a:prstGeom>
          <a:noFill/>
          <a:ln/>
        </p:spPr>
        <p:txBody>
          <a:bodyPr wrap="square" lIns="0" tIns="0" rIns="0" bIns="0" rtlCol="0" anchor="t"/>
          <a:lstStyle/>
          <a:p>
            <a:pPr indent="0" marL="0">
              <a:lnSpc>
                <a:spcPct val="105000"/>
              </a:lnSpc>
              <a:buNone/>
            </a:pPr>
            <a:r>
              <a:rPr lang="en-US" sz="1150" b="1" dirty="0">
                <a:solidFill>
                  <a:srgbClr val="17140F"/>
                </a:solidFill>
                <a:latin typeface="Calibri" pitchFamily="34" charset="0"/>
                <a:ea typeface="Calibri" pitchFamily="34" charset="-122"/>
                <a:cs typeface="Calibri" pitchFamily="34" charset="-120"/>
              </a:rPr>
              <a:t>Small-cohort field pilot</a:t>
            </a:r>
            <a:endParaRPr lang="en-US" sz="1150" dirty="0"/>
          </a:p>
        </p:txBody>
      </p:sp>
      <p:sp>
        <p:nvSpPr>
          <p:cNvPr id="26" name="Text 23"/>
          <p:cNvSpPr/>
          <p:nvPr/>
        </p:nvSpPr>
        <p:spPr>
          <a:xfrm>
            <a:off x="7760010" y="3886200"/>
            <a:ext cx="1990283" cy="731520"/>
          </a:xfrm>
          <a:prstGeom prst="rect">
            <a:avLst/>
          </a:prstGeom>
          <a:noFill/>
          <a:ln/>
        </p:spPr>
        <p:txBody>
          <a:bodyPr wrap="square" lIns="0" tIns="0" rIns="0" bIns="0" rtlCol="0" anchor="t"/>
          <a:lstStyle/>
          <a:p>
            <a:pPr indent="0" marL="0">
              <a:lnSpc>
                <a:spcPct val="115000"/>
              </a:lnSpc>
              <a:buNone/>
            </a:pPr>
            <a:r>
              <a:rPr lang="en-US" sz="1000" dirty="0">
                <a:solidFill>
                  <a:srgbClr val="7D6E5C"/>
                </a:solidFill>
                <a:latin typeface="Cambria" pitchFamily="34" charset="0"/>
                <a:ea typeface="Cambria" pitchFamily="34" charset="-122"/>
                <a:cs typeface="Cambria" pitchFamily="34" charset="-120"/>
              </a:rPr>
              <a:t>Real logged cycles vs. clinician-confirmed ovulation — Tier-II/III recruitment.</a:t>
            </a:r>
            <a:endParaRPr lang="en-US" sz="1000" dirty="0"/>
          </a:p>
        </p:txBody>
      </p:sp>
      <p:sp>
        <p:nvSpPr>
          <p:cNvPr id="27" name="Shape 24"/>
          <p:cNvSpPr/>
          <p:nvPr/>
        </p:nvSpPr>
        <p:spPr>
          <a:xfrm>
            <a:off x="11313871" y="2779776"/>
            <a:ext cx="201168" cy="201168"/>
          </a:xfrm>
          <a:prstGeom prst="ellipse">
            <a:avLst/>
          </a:prstGeom>
          <a:solidFill>
            <a:srgbClr val="FDFCFB"/>
          </a:solidFill>
          <a:ln w="25400">
            <a:solidFill>
              <a:srgbClr val="7D6E5C"/>
            </a:solidFill>
            <a:prstDash val="solid"/>
          </a:ln>
        </p:spPr>
      </p:sp>
      <p:sp>
        <p:nvSpPr>
          <p:cNvPr id="28" name="Shape 25"/>
          <p:cNvSpPr/>
          <p:nvPr/>
        </p:nvSpPr>
        <p:spPr>
          <a:xfrm>
            <a:off x="11414455" y="2514600"/>
            <a:ext cx="0" cy="265176"/>
          </a:xfrm>
          <a:prstGeom prst="line">
            <a:avLst/>
          </a:prstGeom>
          <a:noFill/>
          <a:ln w="12700">
            <a:solidFill>
              <a:srgbClr val="DDD0C1"/>
            </a:solidFill>
            <a:prstDash val="dash"/>
          </a:ln>
        </p:spPr>
      </p:sp>
      <p:sp>
        <p:nvSpPr>
          <p:cNvPr id="29" name="Text 26"/>
          <p:cNvSpPr/>
          <p:nvPr/>
        </p:nvSpPr>
        <p:spPr>
          <a:xfrm>
            <a:off x="9698492" y="1463040"/>
            <a:ext cx="1990283" cy="201168"/>
          </a:xfrm>
          <a:prstGeom prst="rect">
            <a:avLst/>
          </a:prstGeom>
          <a:noFill/>
          <a:ln/>
        </p:spPr>
        <p:txBody>
          <a:bodyPr wrap="square" lIns="0" tIns="0" rIns="0" bIns="0" rtlCol="0" anchor="ctr"/>
          <a:lstStyle/>
          <a:p>
            <a:pPr indent="0" marL="0">
              <a:buNone/>
            </a:pPr>
            <a:r>
              <a:rPr lang="en-US" sz="850" b="1" spc="100" kern="0" dirty="0">
                <a:solidFill>
                  <a:srgbClr val="7A4F16"/>
                </a:solidFill>
                <a:latin typeface="Calibri" pitchFamily="34" charset="0"/>
                <a:ea typeface="Calibri" pitchFamily="34" charset="-122"/>
                <a:cs typeface="Calibri" pitchFamily="34" charset="-120"/>
              </a:rPr>
              <a:t>GRANT-FUNDED</a:t>
            </a:r>
            <a:endParaRPr lang="en-US" sz="850" dirty="0"/>
          </a:p>
        </p:txBody>
      </p:sp>
      <p:sp>
        <p:nvSpPr>
          <p:cNvPr id="30" name="Text 27"/>
          <p:cNvSpPr/>
          <p:nvPr/>
        </p:nvSpPr>
        <p:spPr>
          <a:xfrm>
            <a:off x="9698492" y="1664208"/>
            <a:ext cx="1990283" cy="502920"/>
          </a:xfrm>
          <a:prstGeom prst="rect">
            <a:avLst/>
          </a:prstGeom>
          <a:noFill/>
          <a:ln/>
        </p:spPr>
        <p:txBody>
          <a:bodyPr wrap="square" lIns="0" tIns="0" rIns="0" bIns="0" rtlCol="0" anchor="t"/>
          <a:lstStyle/>
          <a:p>
            <a:pPr indent="0" marL="0">
              <a:lnSpc>
                <a:spcPct val="105000"/>
              </a:lnSpc>
              <a:buNone/>
            </a:pPr>
            <a:r>
              <a:rPr lang="en-US" sz="1150" b="1" dirty="0">
                <a:solidFill>
                  <a:srgbClr val="17140F"/>
                </a:solidFill>
                <a:latin typeface="Calibri" pitchFamily="34" charset="0"/>
                <a:ea typeface="Calibri" pitchFamily="34" charset="-122"/>
                <a:cs typeface="Calibri" pitchFamily="34" charset="-120"/>
              </a:rPr>
              <a:t>Regulatory pathway scoping</a:t>
            </a:r>
            <a:endParaRPr lang="en-US" sz="1150" dirty="0"/>
          </a:p>
        </p:txBody>
      </p:sp>
      <p:sp>
        <p:nvSpPr>
          <p:cNvPr id="31" name="Text 28"/>
          <p:cNvSpPr/>
          <p:nvPr/>
        </p:nvSpPr>
        <p:spPr>
          <a:xfrm>
            <a:off x="9698492" y="2148840"/>
            <a:ext cx="1990283" cy="731520"/>
          </a:xfrm>
          <a:prstGeom prst="rect">
            <a:avLst/>
          </a:prstGeom>
          <a:noFill/>
          <a:ln/>
        </p:spPr>
        <p:txBody>
          <a:bodyPr wrap="square" lIns="0" tIns="0" rIns="0" bIns="0" rtlCol="0" anchor="t"/>
          <a:lstStyle/>
          <a:p>
            <a:pPr indent="0" marL="0">
              <a:lnSpc>
                <a:spcPct val="115000"/>
              </a:lnSpc>
              <a:buNone/>
            </a:pPr>
            <a:r>
              <a:rPr lang="en-US" sz="1000" dirty="0">
                <a:solidFill>
                  <a:srgbClr val="7D6E5C"/>
                </a:solidFill>
                <a:latin typeface="Cambria" pitchFamily="34" charset="0"/>
                <a:ea typeface="Cambria" pitchFamily="34" charset="-122"/>
                <a:cs typeface="Cambria" pitchFamily="34" charset="-120"/>
              </a:rPr>
              <a:t>Diagnostic-adjacent classification, informed directly by pilot data.</a:t>
            </a:r>
            <a:endParaRPr lang="en-US" sz="1000" dirty="0"/>
          </a:p>
        </p:txBody>
      </p:sp>
      <p:sp>
        <p:nvSpPr>
          <p:cNvPr id="32" name="Text 29"/>
          <p:cNvSpPr/>
          <p:nvPr/>
        </p:nvSpPr>
        <p:spPr>
          <a:xfrm>
            <a:off x="502920" y="6473952"/>
            <a:ext cx="3657600" cy="274320"/>
          </a:xfrm>
          <a:prstGeom prst="rect">
            <a:avLst/>
          </a:prstGeom>
          <a:noFill/>
          <a:ln/>
        </p:spPr>
        <p:txBody>
          <a:bodyPr wrap="square" lIns="0" tIns="0" rIns="0" bIns="0" rtlCol="0" anchor="ctr"/>
          <a:lstStyle/>
          <a:p>
            <a:pPr indent="0" marL="0">
              <a:buNone/>
            </a:pPr>
            <a:r>
              <a:rPr lang="en-US" sz="900" b="1" spc="200" kern="0" dirty="0">
                <a:solidFill>
                  <a:srgbClr val="7D6E5C"/>
                </a:solidFill>
                <a:latin typeface="Calibri" pitchFamily="34" charset="0"/>
                <a:ea typeface="Calibri" pitchFamily="34" charset="-122"/>
                <a:cs typeface="Calibri" pitchFamily="34" charset="-120"/>
              </a:rPr>
              <a:t>ROVE HEALTH</a:t>
            </a:r>
            <a:endParaRPr lang="en-US" sz="900" dirty="0"/>
          </a:p>
        </p:txBody>
      </p:sp>
      <p:sp>
        <p:nvSpPr>
          <p:cNvPr id="33" name="Text 30"/>
          <p:cNvSpPr/>
          <p:nvPr/>
        </p:nvSpPr>
        <p:spPr>
          <a:xfrm>
            <a:off x="3809848" y="6473952"/>
            <a:ext cx="4572000" cy="274320"/>
          </a:xfrm>
          <a:prstGeom prst="rect">
            <a:avLst/>
          </a:prstGeom>
          <a:noFill/>
          <a:ln/>
        </p:spPr>
        <p:txBody>
          <a:bodyPr wrap="square" lIns="0" tIns="0" rIns="0" bIns="0" rtlCol="0" anchor="ctr"/>
          <a:lstStyle/>
          <a:p>
            <a:pPr algn="ctr" indent="0" marL="0">
              <a:buNone/>
            </a:pPr>
            <a:r>
              <a:rPr lang="en-US" sz="900" spc="150" kern="0" dirty="0">
                <a:solidFill>
                  <a:srgbClr val="7D6E5C"/>
                </a:solidFill>
                <a:latin typeface="Calibri" pitchFamily="34" charset="0"/>
                <a:ea typeface="Calibri" pitchFamily="34" charset="-122"/>
                <a:cs typeface="Calibri" pitchFamily="34" charset="-120"/>
              </a:rPr>
              <a:t>GENESIS EIR 3.0 — DEEP TECH TRACK</a:t>
            </a:r>
            <a:endParaRPr lang="en-US" sz="900" dirty="0"/>
          </a:p>
        </p:txBody>
      </p:sp>
      <p:sp>
        <p:nvSpPr>
          <p:cNvPr id="34" name="Text 31"/>
          <p:cNvSpPr/>
          <p:nvPr/>
        </p:nvSpPr>
        <p:spPr>
          <a:xfrm>
            <a:off x="10317175" y="6473952"/>
            <a:ext cx="1371600" cy="274320"/>
          </a:xfrm>
          <a:prstGeom prst="rect">
            <a:avLst/>
          </a:prstGeom>
          <a:noFill/>
          <a:ln/>
        </p:spPr>
        <p:txBody>
          <a:bodyPr wrap="square" lIns="0" tIns="0" rIns="0" bIns="0" rtlCol="0" anchor="ctr"/>
          <a:lstStyle/>
          <a:p>
            <a:pPr algn="r" indent="0" marL="0">
              <a:buNone/>
            </a:pPr>
            <a:r>
              <a:rPr lang="en-US" sz="900" dirty="0">
                <a:solidFill>
                  <a:srgbClr val="7D6E5C"/>
                </a:solidFill>
                <a:latin typeface="Courier New" pitchFamily="34" charset="0"/>
                <a:ea typeface="Courier New" pitchFamily="34" charset="-122"/>
                <a:cs typeface="Courier Ne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200" kern="0" dirty="0">
                <a:solidFill>
                  <a:srgbClr val="7D6E5C"/>
                </a:solidFill>
                <a:latin typeface="Calibri" pitchFamily="34" charset="0"/>
                <a:ea typeface="Calibri" pitchFamily="34" charset="-122"/>
                <a:cs typeface="Calibri" pitchFamily="34" charset="-120"/>
              </a:rPr>
              <a:t>PROGRAM FIT</a:t>
            </a:r>
            <a:endParaRPr lang="en-US" sz="1200" dirty="0"/>
          </a:p>
        </p:txBody>
      </p:sp>
      <p:sp>
        <p:nvSpPr>
          <p:cNvPr id="3" name="Text 1"/>
          <p:cNvSpPr/>
          <p:nvPr/>
        </p:nvSpPr>
        <p:spPr>
          <a:xfrm>
            <a:off x="502920" y="786384"/>
            <a:ext cx="7315200" cy="777240"/>
          </a:xfrm>
          <a:prstGeom prst="rect">
            <a:avLst/>
          </a:prstGeom>
          <a:noFill/>
          <a:ln/>
        </p:spPr>
        <p:txBody>
          <a:bodyPr wrap="square" lIns="0" tIns="0" rIns="0" bIns="0" rtlCol="0" anchor="t"/>
          <a:lstStyle/>
          <a:p>
            <a:pPr indent="0" marL="0">
              <a:buNone/>
            </a:pPr>
            <a:r>
              <a:rPr lang="en-US" sz="3000" b="1" dirty="0">
                <a:solidFill>
                  <a:srgbClr val="17140F"/>
                </a:solidFill>
                <a:latin typeface="Calibri" pitchFamily="34" charset="0"/>
                <a:ea typeface="Calibri" pitchFamily="34" charset="-122"/>
                <a:cs typeface="Calibri" pitchFamily="34" charset="-120"/>
              </a:rPr>
              <a:t>Why GENESIS EIR 3.0</a:t>
            </a:r>
            <a:endParaRPr lang="en-US" sz="3000" dirty="0"/>
          </a:p>
        </p:txBody>
      </p:sp>
      <p:sp>
        <p:nvSpPr>
          <p:cNvPr id="4" name="Shape 2"/>
          <p:cNvSpPr/>
          <p:nvPr/>
        </p:nvSpPr>
        <p:spPr>
          <a:xfrm>
            <a:off x="10774375" y="685800"/>
            <a:ext cx="914400" cy="914400"/>
          </a:xfrm>
          <a:prstGeom prst="ellipse">
            <a:avLst/>
          </a:prstGeom>
          <a:solidFill>
            <a:srgbClr val="ECE4DA"/>
          </a:solidFill>
          <a:ln/>
        </p:spPr>
      </p:sp>
      <p:pic>
        <p:nvPicPr>
          <p:cNvPr id="5" name="Image 0" descr="preencoded.png">    </p:cNvPr>
          <p:cNvPicPr>
            <a:picLocks noChangeAspect="1"/>
          </p:cNvPicPr>
          <p:nvPr/>
        </p:nvPicPr>
        <p:blipFill>
          <a:blip r:embed="rId1"/>
          <a:stretch>
            <a:fillRect/>
          </a:stretch>
        </p:blipFill>
        <p:spPr>
          <a:xfrm>
            <a:off x="11012119" y="923544"/>
            <a:ext cx="438912" cy="438912"/>
          </a:xfrm>
          <a:prstGeom prst="rect">
            <a:avLst/>
          </a:prstGeom>
        </p:spPr>
      </p:pic>
      <p:sp>
        <p:nvSpPr>
          <p:cNvPr id="6" name="Shape 3"/>
          <p:cNvSpPr/>
          <p:nvPr/>
        </p:nvSpPr>
        <p:spPr>
          <a:xfrm>
            <a:off x="502920" y="1965960"/>
            <a:ext cx="384048" cy="384048"/>
          </a:xfrm>
          <a:prstGeom prst="ellipse">
            <a:avLst/>
          </a:prstGeom>
          <a:solidFill>
            <a:srgbClr val="DCEAE5"/>
          </a:solidFill>
          <a:ln/>
        </p:spPr>
      </p:sp>
      <p:pic>
        <p:nvPicPr>
          <p:cNvPr id="7" name="Image 1" descr="preencoded.png">    </p:cNvPr>
          <p:cNvPicPr>
            <a:picLocks noChangeAspect="1"/>
          </p:cNvPicPr>
          <p:nvPr/>
        </p:nvPicPr>
        <p:blipFill>
          <a:blip r:embed="rId2"/>
          <a:stretch>
            <a:fillRect/>
          </a:stretch>
        </p:blipFill>
        <p:spPr>
          <a:xfrm>
            <a:off x="602772" y="2065812"/>
            <a:ext cx="184343" cy="184343"/>
          </a:xfrm>
          <a:prstGeom prst="rect">
            <a:avLst/>
          </a:prstGeom>
        </p:spPr>
      </p:pic>
      <p:sp>
        <p:nvSpPr>
          <p:cNvPr id="8" name="Text 4"/>
          <p:cNvSpPr/>
          <p:nvPr/>
        </p:nvSpPr>
        <p:spPr>
          <a:xfrm>
            <a:off x="1069848" y="1938528"/>
            <a:ext cx="10618927" cy="292608"/>
          </a:xfrm>
          <a:prstGeom prst="rect">
            <a:avLst/>
          </a:prstGeom>
          <a:noFill/>
          <a:ln/>
        </p:spPr>
        <p:txBody>
          <a:bodyPr wrap="square" lIns="0" tIns="0" rIns="0" bIns="0" rtlCol="0" anchor="ctr"/>
          <a:lstStyle/>
          <a:p>
            <a:pPr indent="0" marL="0">
              <a:buNone/>
            </a:pPr>
            <a:r>
              <a:rPr lang="en-US" sz="1450" b="1" dirty="0">
                <a:solidFill>
                  <a:srgbClr val="17140F"/>
                </a:solidFill>
                <a:latin typeface="Calibri" pitchFamily="34" charset="0"/>
                <a:ea typeface="Calibri" pitchFamily="34" charset="-122"/>
                <a:cs typeface="Calibri" pitchFamily="34" charset="-120"/>
              </a:rPr>
              <a:t>Deep Tech / AI-ML / ICT for health</a:t>
            </a:r>
            <a:endParaRPr lang="en-US" sz="1450" dirty="0"/>
          </a:p>
        </p:txBody>
      </p:sp>
      <p:sp>
        <p:nvSpPr>
          <p:cNvPr id="9" name="Text 5"/>
          <p:cNvSpPr/>
          <p:nvPr/>
        </p:nvSpPr>
        <p:spPr>
          <a:xfrm>
            <a:off x="1069848" y="2240280"/>
            <a:ext cx="10362895" cy="502920"/>
          </a:xfrm>
          <a:prstGeom prst="rect">
            <a:avLst/>
          </a:prstGeom>
          <a:noFill/>
          <a:ln/>
        </p:spPr>
        <p:txBody>
          <a:bodyPr wrap="square" lIns="0" tIns="0" rIns="0" bIns="0" rtlCol="0" anchor="t"/>
          <a:lstStyle/>
          <a:p>
            <a:pPr indent="0" marL="0">
              <a:lnSpc>
                <a:spcPct val="120000"/>
              </a:lnSpc>
              <a:buNone/>
            </a:pPr>
            <a:r>
              <a:rPr lang="en-US" sz="1250" dirty="0">
                <a:solidFill>
                  <a:srgbClr val="7D6E5C"/>
                </a:solidFill>
                <a:latin typeface="Cambria" pitchFamily="34" charset="0"/>
                <a:ea typeface="Cambria" pitchFamily="34" charset="-122"/>
                <a:cs typeface="Cambria" pitchFamily="34" charset="-120"/>
              </a:rPr>
              <a:t>A personalized, multi-signal fusion algorithm — not a static rule table or a lookup chart.</a:t>
            </a:r>
            <a:endParaRPr lang="en-US" sz="1250" dirty="0"/>
          </a:p>
        </p:txBody>
      </p:sp>
      <p:sp>
        <p:nvSpPr>
          <p:cNvPr id="10" name="Shape 6"/>
          <p:cNvSpPr/>
          <p:nvPr/>
        </p:nvSpPr>
        <p:spPr>
          <a:xfrm>
            <a:off x="502920" y="2944368"/>
            <a:ext cx="384048" cy="384048"/>
          </a:xfrm>
          <a:prstGeom prst="ellipse">
            <a:avLst/>
          </a:prstGeom>
          <a:solidFill>
            <a:srgbClr val="DCEAE5"/>
          </a:solidFill>
          <a:ln/>
        </p:spPr>
      </p:sp>
      <p:pic>
        <p:nvPicPr>
          <p:cNvPr id="11" name="Image 2" descr="preencoded.png">    </p:cNvPr>
          <p:cNvPicPr>
            <a:picLocks noChangeAspect="1"/>
          </p:cNvPicPr>
          <p:nvPr/>
        </p:nvPicPr>
        <p:blipFill>
          <a:blip r:embed="rId3"/>
          <a:stretch>
            <a:fillRect/>
          </a:stretch>
        </p:blipFill>
        <p:spPr>
          <a:xfrm>
            <a:off x="602772" y="3044220"/>
            <a:ext cx="184343" cy="184343"/>
          </a:xfrm>
          <a:prstGeom prst="rect">
            <a:avLst/>
          </a:prstGeom>
        </p:spPr>
      </p:pic>
      <p:sp>
        <p:nvSpPr>
          <p:cNvPr id="12" name="Text 7"/>
          <p:cNvSpPr/>
          <p:nvPr/>
        </p:nvSpPr>
        <p:spPr>
          <a:xfrm>
            <a:off x="1069848" y="2916936"/>
            <a:ext cx="10618927" cy="292608"/>
          </a:xfrm>
          <a:prstGeom prst="rect">
            <a:avLst/>
          </a:prstGeom>
          <a:noFill/>
          <a:ln/>
        </p:spPr>
        <p:txBody>
          <a:bodyPr wrap="square" lIns="0" tIns="0" rIns="0" bIns="0" rtlCol="0" anchor="ctr"/>
          <a:lstStyle/>
          <a:p>
            <a:pPr indent="0" marL="0">
              <a:buNone/>
            </a:pPr>
            <a:r>
              <a:rPr lang="en-US" sz="1450" b="1" dirty="0">
                <a:solidFill>
                  <a:srgbClr val="17140F"/>
                </a:solidFill>
                <a:latin typeface="Calibri" pitchFamily="34" charset="0"/>
                <a:ea typeface="Calibri" pitchFamily="34" charset="-122"/>
                <a:cs typeface="Calibri" pitchFamily="34" charset="-120"/>
              </a:rPr>
              <a:t>TRL 1–4</a:t>
            </a:r>
            <a:endParaRPr lang="en-US" sz="1450" dirty="0"/>
          </a:p>
        </p:txBody>
      </p:sp>
      <p:sp>
        <p:nvSpPr>
          <p:cNvPr id="13" name="Text 8"/>
          <p:cNvSpPr/>
          <p:nvPr/>
        </p:nvSpPr>
        <p:spPr>
          <a:xfrm>
            <a:off x="1069848" y="3218688"/>
            <a:ext cx="10362895" cy="502920"/>
          </a:xfrm>
          <a:prstGeom prst="rect">
            <a:avLst/>
          </a:prstGeom>
          <a:noFill/>
          <a:ln/>
        </p:spPr>
        <p:txBody>
          <a:bodyPr wrap="square" lIns="0" tIns="0" rIns="0" bIns="0" rtlCol="0" anchor="t"/>
          <a:lstStyle/>
          <a:p>
            <a:pPr indent="0" marL="0">
              <a:lnSpc>
                <a:spcPct val="120000"/>
              </a:lnSpc>
              <a:buNone/>
            </a:pPr>
            <a:r>
              <a:rPr lang="en-US" sz="1250" dirty="0">
                <a:solidFill>
                  <a:srgbClr val="7D6E5C"/>
                </a:solidFill>
                <a:latin typeface="Cambria" pitchFamily="34" charset="0"/>
                <a:ea typeface="Cambria" pitchFamily="34" charset="-122"/>
                <a:cs typeface="Cambria" pitchFamily="34" charset="-120"/>
              </a:rPr>
              <a:t>Algorithm implemented and validated in simulation; camera-vision calibration and a field pilot are the next TRL step, funded by this grant.</a:t>
            </a:r>
            <a:endParaRPr lang="en-US" sz="1250" dirty="0"/>
          </a:p>
        </p:txBody>
      </p:sp>
      <p:sp>
        <p:nvSpPr>
          <p:cNvPr id="14" name="Shape 9"/>
          <p:cNvSpPr/>
          <p:nvPr/>
        </p:nvSpPr>
        <p:spPr>
          <a:xfrm>
            <a:off x="502920" y="3922776"/>
            <a:ext cx="384048" cy="384048"/>
          </a:xfrm>
          <a:prstGeom prst="ellipse">
            <a:avLst/>
          </a:prstGeom>
          <a:solidFill>
            <a:srgbClr val="DCEAE5"/>
          </a:solidFill>
          <a:ln/>
        </p:spPr>
      </p:sp>
      <p:pic>
        <p:nvPicPr>
          <p:cNvPr id="15" name="Image 3" descr="preencoded.png">    </p:cNvPr>
          <p:cNvPicPr>
            <a:picLocks noChangeAspect="1"/>
          </p:cNvPicPr>
          <p:nvPr/>
        </p:nvPicPr>
        <p:blipFill>
          <a:blip r:embed="rId4"/>
          <a:stretch>
            <a:fillRect/>
          </a:stretch>
        </p:blipFill>
        <p:spPr>
          <a:xfrm>
            <a:off x="602772" y="4022628"/>
            <a:ext cx="184343" cy="184343"/>
          </a:xfrm>
          <a:prstGeom prst="rect">
            <a:avLst/>
          </a:prstGeom>
        </p:spPr>
      </p:pic>
      <p:sp>
        <p:nvSpPr>
          <p:cNvPr id="16" name="Text 10"/>
          <p:cNvSpPr/>
          <p:nvPr/>
        </p:nvSpPr>
        <p:spPr>
          <a:xfrm>
            <a:off x="1069848" y="3895344"/>
            <a:ext cx="10618927" cy="292608"/>
          </a:xfrm>
          <a:prstGeom prst="rect">
            <a:avLst/>
          </a:prstGeom>
          <a:noFill/>
          <a:ln/>
        </p:spPr>
        <p:txBody>
          <a:bodyPr wrap="square" lIns="0" tIns="0" rIns="0" bIns="0" rtlCol="0" anchor="ctr"/>
          <a:lstStyle/>
          <a:p>
            <a:pPr indent="0" marL="0">
              <a:buNone/>
            </a:pPr>
            <a:r>
              <a:rPr lang="en-US" sz="1450" b="1" dirty="0">
                <a:solidFill>
                  <a:srgbClr val="17140F"/>
                </a:solidFill>
                <a:latin typeface="Calibri" pitchFamily="34" charset="0"/>
                <a:ea typeface="Calibri" pitchFamily="34" charset="-122"/>
                <a:cs typeface="Calibri" pitchFamily="34" charset="-120"/>
              </a:rPr>
              <a:t>Early-stage innovation, clinician-led</a:t>
            </a:r>
            <a:endParaRPr lang="en-US" sz="1450" dirty="0"/>
          </a:p>
        </p:txBody>
      </p:sp>
      <p:sp>
        <p:nvSpPr>
          <p:cNvPr id="17" name="Text 11"/>
          <p:cNvSpPr/>
          <p:nvPr/>
        </p:nvSpPr>
        <p:spPr>
          <a:xfrm>
            <a:off x="1069848" y="4197096"/>
            <a:ext cx="10362895" cy="502920"/>
          </a:xfrm>
          <a:prstGeom prst="rect">
            <a:avLst/>
          </a:prstGeom>
          <a:noFill/>
          <a:ln/>
        </p:spPr>
        <p:txBody>
          <a:bodyPr wrap="square" lIns="0" tIns="0" rIns="0" bIns="0" rtlCol="0" anchor="t"/>
          <a:lstStyle/>
          <a:p>
            <a:pPr indent="0" marL="0">
              <a:lnSpc>
                <a:spcPct val="120000"/>
              </a:lnSpc>
              <a:buNone/>
            </a:pPr>
            <a:r>
              <a:rPr lang="en-US" sz="1250" dirty="0">
                <a:solidFill>
                  <a:srgbClr val="7D6E5C"/>
                </a:solidFill>
                <a:latin typeface="Cambria" pitchFamily="34" charset="0"/>
                <a:ea typeface="Cambria" pitchFamily="34" charset="-122"/>
                <a:cs typeface="Cambria" pitchFamily="34" charset="-120"/>
              </a:rPr>
              <a:t>A small founding team of two practicing physicians, building the diagnostic layer of an already-operating women’s health platform.</a:t>
            </a:r>
            <a:endParaRPr lang="en-US" sz="1250" dirty="0"/>
          </a:p>
        </p:txBody>
      </p:sp>
      <p:sp>
        <p:nvSpPr>
          <p:cNvPr id="18" name="Shape 12"/>
          <p:cNvSpPr/>
          <p:nvPr/>
        </p:nvSpPr>
        <p:spPr>
          <a:xfrm>
            <a:off x="502920" y="4901184"/>
            <a:ext cx="384048" cy="384048"/>
          </a:xfrm>
          <a:prstGeom prst="ellipse">
            <a:avLst/>
          </a:prstGeom>
          <a:solidFill>
            <a:srgbClr val="DCEAE5"/>
          </a:solidFill>
          <a:ln/>
        </p:spPr>
      </p:sp>
      <p:pic>
        <p:nvPicPr>
          <p:cNvPr id="19" name="Image 4" descr="preencoded.png">    </p:cNvPr>
          <p:cNvPicPr>
            <a:picLocks noChangeAspect="1"/>
          </p:cNvPicPr>
          <p:nvPr/>
        </p:nvPicPr>
        <p:blipFill>
          <a:blip r:embed="rId5"/>
          <a:stretch>
            <a:fillRect/>
          </a:stretch>
        </p:blipFill>
        <p:spPr>
          <a:xfrm>
            <a:off x="602772" y="5001036"/>
            <a:ext cx="184343" cy="184343"/>
          </a:xfrm>
          <a:prstGeom prst="rect">
            <a:avLst/>
          </a:prstGeom>
        </p:spPr>
      </p:pic>
      <p:sp>
        <p:nvSpPr>
          <p:cNvPr id="20" name="Text 13"/>
          <p:cNvSpPr/>
          <p:nvPr/>
        </p:nvSpPr>
        <p:spPr>
          <a:xfrm>
            <a:off x="1069848" y="4873752"/>
            <a:ext cx="10618927" cy="292608"/>
          </a:xfrm>
          <a:prstGeom prst="rect">
            <a:avLst/>
          </a:prstGeom>
          <a:noFill/>
          <a:ln/>
        </p:spPr>
        <p:txBody>
          <a:bodyPr wrap="square" lIns="0" tIns="0" rIns="0" bIns="0" rtlCol="0" anchor="ctr"/>
          <a:lstStyle/>
          <a:p>
            <a:pPr indent="0" marL="0">
              <a:buNone/>
            </a:pPr>
            <a:r>
              <a:rPr lang="en-US" sz="1450" b="1" dirty="0">
                <a:solidFill>
                  <a:srgbClr val="17140F"/>
                </a:solidFill>
                <a:latin typeface="Calibri" pitchFamily="34" charset="0"/>
                <a:ea typeface="Calibri" pitchFamily="34" charset="-122"/>
                <a:cs typeface="Calibri" pitchFamily="34" charset="-120"/>
              </a:rPr>
              <a:t>Built for Tier-II/III reach</a:t>
            </a:r>
            <a:endParaRPr lang="en-US" sz="1450" dirty="0"/>
          </a:p>
        </p:txBody>
      </p:sp>
      <p:sp>
        <p:nvSpPr>
          <p:cNvPr id="21" name="Text 14"/>
          <p:cNvSpPr/>
          <p:nvPr/>
        </p:nvSpPr>
        <p:spPr>
          <a:xfrm>
            <a:off x="1069848" y="5175504"/>
            <a:ext cx="10362895" cy="502920"/>
          </a:xfrm>
          <a:prstGeom prst="rect">
            <a:avLst/>
          </a:prstGeom>
          <a:noFill/>
          <a:ln/>
        </p:spPr>
        <p:txBody>
          <a:bodyPr wrap="square" lIns="0" tIns="0" rIns="0" bIns="0" rtlCol="0" anchor="t"/>
          <a:lstStyle/>
          <a:p>
            <a:pPr indent="0" marL="0">
              <a:lnSpc>
                <a:spcPct val="120000"/>
              </a:lnSpc>
              <a:buNone/>
            </a:pPr>
            <a:r>
              <a:rPr lang="en-US" sz="1250" dirty="0">
                <a:solidFill>
                  <a:srgbClr val="7D6E5C"/>
                </a:solidFill>
                <a:latin typeface="Cambria" pitchFamily="34" charset="0"/>
                <a:ea typeface="Cambria" pitchFamily="34" charset="-122"/>
                <a:cs typeface="Cambria" pitchFamily="34" charset="-120"/>
              </a:rPr>
              <a:t>A strip read by a phone camera is built for exactly the women furthest from a fertility clinic or lab.</a:t>
            </a:r>
            <a:endParaRPr lang="en-US" sz="1250" dirty="0"/>
          </a:p>
        </p:txBody>
      </p:sp>
      <p:sp>
        <p:nvSpPr>
          <p:cNvPr id="22" name="Text 15"/>
          <p:cNvSpPr/>
          <p:nvPr/>
        </p:nvSpPr>
        <p:spPr>
          <a:xfrm>
            <a:off x="502920" y="6473952"/>
            <a:ext cx="3657600" cy="274320"/>
          </a:xfrm>
          <a:prstGeom prst="rect">
            <a:avLst/>
          </a:prstGeom>
          <a:noFill/>
          <a:ln/>
        </p:spPr>
        <p:txBody>
          <a:bodyPr wrap="square" lIns="0" tIns="0" rIns="0" bIns="0" rtlCol="0" anchor="ctr"/>
          <a:lstStyle/>
          <a:p>
            <a:pPr indent="0" marL="0">
              <a:buNone/>
            </a:pPr>
            <a:r>
              <a:rPr lang="en-US" sz="900" b="1" spc="200" kern="0" dirty="0">
                <a:solidFill>
                  <a:srgbClr val="7D6E5C"/>
                </a:solidFill>
                <a:latin typeface="Calibri" pitchFamily="34" charset="0"/>
                <a:ea typeface="Calibri" pitchFamily="34" charset="-122"/>
                <a:cs typeface="Calibri" pitchFamily="34" charset="-120"/>
              </a:rPr>
              <a:t>ROVE HEALTH</a:t>
            </a:r>
            <a:endParaRPr lang="en-US" sz="900" dirty="0"/>
          </a:p>
        </p:txBody>
      </p:sp>
      <p:sp>
        <p:nvSpPr>
          <p:cNvPr id="23" name="Text 16"/>
          <p:cNvSpPr/>
          <p:nvPr/>
        </p:nvSpPr>
        <p:spPr>
          <a:xfrm>
            <a:off x="3809848" y="6473952"/>
            <a:ext cx="4572000" cy="274320"/>
          </a:xfrm>
          <a:prstGeom prst="rect">
            <a:avLst/>
          </a:prstGeom>
          <a:noFill/>
          <a:ln/>
        </p:spPr>
        <p:txBody>
          <a:bodyPr wrap="square" lIns="0" tIns="0" rIns="0" bIns="0" rtlCol="0" anchor="ctr"/>
          <a:lstStyle/>
          <a:p>
            <a:pPr algn="ctr" indent="0" marL="0">
              <a:buNone/>
            </a:pPr>
            <a:r>
              <a:rPr lang="en-US" sz="900" spc="150" kern="0" dirty="0">
                <a:solidFill>
                  <a:srgbClr val="7D6E5C"/>
                </a:solidFill>
                <a:latin typeface="Calibri" pitchFamily="34" charset="0"/>
                <a:ea typeface="Calibri" pitchFamily="34" charset="-122"/>
                <a:cs typeface="Calibri" pitchFamily="34" charset="-120"/>
              </a:rPr>
              <a:t>GENESIS EIR 3.0 — DEEP TECH TRACK</a:t>
            </a:r>
            <a:endParaRPr lang="en-US" sz="900" dirty="0"/>
          </a:p>
        </p:txBody>
      </p:sp>
      <p:sp>
        <p:nvSpPr>
          <p:cNvPr id="24" name="Text 17"/>
          <p:cNvSpPr/>
          <p:nvPr/>
        </p:nvSpPr>
        <p:spPr>
          <a:xfrm>
            <a:off x="10317175" y="6473952"/>
            <a:ext cx="1371600" cy="274320"/>
          </a:xfrm>
          <a:prstGeom prst="rect">
            <a:avLst/>
          </a:prstGeom>
          <a:noFill/>
          <a:ln/>
        </p:spPr>
        <p:txBody>
          <a:bodyPr wrap="square" lIns="0" tIns="0" rIns="0" bIns="0" rtlCol="0" anchor="ctr"/>
          <a:lstStyle/>
          <a:p>
            <a:pPr algn="r" indent="0" marL="0">
              <a:buNone/>
            </a:pPr>
            <a:r>
              <a:rPr lang="en-US" sz="900" dirty="0">
                <a:solidFill>
                  <a:srgbClr val="7D6E5C"/>
                </a:solidFill>
                <a:latin typeface="Courier New" pitchFamily="34" charset="0"/>
                <a:ea typeface="Courier New" pitchFamily="34" charset="-122"/>
                <a:cs typeface="Courier Ne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200" kern="0" dirty="0">
                <a:solidFill>
                  <a:srgbClr val="7D6E5C"/>
                </a:solidFill>
                <a:latin typeface="Calibri" pitchFamily="34" charset="0"/>
                <a:ea typeface="Calibri" pitchFamily="34" charset="-122"/>
                <a:cs typeface="Calibri" pitchFamily="34" charset="-120"/>
              </a:rPr>
              <a:t>WHERE THIS FITS</a:t>
            </a:r>
            <a:endParaRPr lang="en-US" sz="1200" dirty="0"/>
          </a:p>
        </p:txBody>
      </p:sp>
      <p:sp>
        <p:nvSpPr>
          <p:cNvPr id="3" name="Text 1"/>
          <p:cNvSpPr/>
          <p:nvPr/>
        </p:nvSpPr>
        <p:spPr>
          <a:xfrm>
            <a:off x="502920" y="786384"/>
            <a:ext cx="9692640" cy="777240"/>
          </a:xfrm>
          <a:prstGeom prst="rect">
            <a:avLst/>
          </a:prstGeom>
          <a:noFill/>
          <a:ln/>
        </p:spPr>
        <p:txBody>
          <a:bodyPr wrap="square" lIns="0" tIns="0" rIns="0" bIns="0" rtlCol="0" anchor="t"/>
          <a:lstStyle/>
          <a:p>
            <a:pPr indent="0" marL="0">
              <a:buNone/>
            </a:pPr>
            <a:r>
              <a:rPr lang="en-US" sz="2700" b="1" dirty="0">
                <a:solidFill>
                  <a:srgbClr val="17140F"/>
                </a:solidFill>
                <a:latin typeface="Calibri" pitchFamily="34" charset="0"/>
                <a:ea typeface="Calibri" pitchFamily="34" charset="-122"/>
                <a:cs typeface="Calibri" pitchFamily="34" charset="-120"/>
              </a:rPr>
              <a:t>The unlock for an already-live platform</a:t>
            </a:r>
            <a:endParaRPr lang="en-US" sz="2700" dirty="0"/>
          </a:p>
        </p:txBody>
      </p:sp>
      <p:sp>
        <p:nvSpPr>
          <p:cNvPr id="4" name="Shape 2"/>
          <p:cNvSpPr/>
          <p:nvPr/>
        </p:nvSpPr>
        <p:spPr>
          <a:xfrm>
            <a:off x="502920" y="1965960"/>
            <a:ext cx="5074920" cy="749808"/>
          </a:xfrm>
          <a:prstGeom prst="roundRect">
            <a:avLst>
              <a:gd name="adj" fmla="val 8537"/>
            </a:avLst>
          </a:prstGeom>
          <a:solidFill>
            <a:srgbClr val="FDFCFB"/>
          </a:solidFill>
          <a:ln w="12700">
            <a:solidFill>
              <a:srgbClr val="DDD0C1"/>
            </a:solidFill>
            <a:prstDash val="solid"/>
          </a:ln>
        </p:spPr>
      </p:sp>
      <p:sp>
        <p:nvSpPr>
          <p:cNvPr id="5" name="Text 3"/>
          <p:cNvSpPr/>
          <p:nvPr/>
        </p:nvSpPr>
        <p:spPr>
          <a:xfrm>
            <a:off x="731520" y="2039112"/>
            <a:ext cx="1463040" cy="603504"/>
          </a:xfrm>
          <a:prstGeom prst="rect">
            <a:avLst/>
          </a:prstGeom>
          <a:noFill/>
          <a:ln/>
        </p:spPr>
        <p:txBody>
          <a:bodyPr wrap="square" lIns="0" tIns="0" rIns="0" bIns="0" rtlCol="0" anchor="ctr"/>
          <a:lstStyle/>
          <a:p>
            <a:pPr indent="0" marL="0">
              <a:buNone/>
            </a:pPr>
            <a:r>
              <a:rPr lang="en-US" sz="1500" b="1" dirty="0">
                <a:solidFill>
                  <a:srgbClr val="17140F"/>
                </a:solidFill>
                <a:latin typeface="Calibri" pitchFamily="34" charset="0"/>
                <a:ea typeface="Calibri" pitchFamily="34" charset="-122"/>
                <a:cs typeface="Calibri" pitchFamily="34" charset="-120"/>
              </a:rPr>
              <a:t>Track</a:t>
            </a:r>
            <a:endParaRPr lang="en-US" sz="1500" dirty="0"/>
          </a:p>
        </p:txBody>
      </p:sp>
      <p:sp>
        <p:nvSpPr>
          <p:cNvPr id="6" name="Text 4"/>
          <p:cNvSpPr/>
          <p:nvPr/>
        </p:nvSpPr>
        <p:spPr>
          <a:xfrm>
            <a:off x="2103120" y="2039112"/>
            <a:ext cx="2743200" cy="603504"/>
          </a:xfrm>
          <a:prstGeom prst="rect">
            <a:avLst/>
          </a:prstGeom>
          <a:noFill/>
          <a:ln/>
        </p:spPr>
        <p:txBody>
          <a:bodyPr wrap="square" lIns="0" tIns="0" rIns="0" bIns="0" rtlCol="0" anchor="ctr"/>
          <a:lstStyle/>
          <a:p>
            <a:pPr indent="0" marL="0">
              <a:lnSpc>
                <a:spcPct val="110000"/>
              </a:lnSpc>
              <a:buNone/>
            </a:pPr>
            <a:r>
              <a:rPr lang="en-US" sz="1050" dirty="0">
                <a:solidFill>
                  <a:srgbClr val="7D6E5C"/>
                </a:solidFill>
                <a:latin typeface="Cambria" pitchFamily="34" charset="0"/>
                <a:ea typeface="Cambria" pitchFamily="34" charset="-122"/>
                <a:cs typeface="Cambria" pitchFamily="34" charset="-120"/>
              </a:rPr>
              <a:t>Cycle, symptoms, sleep, food, movement</a:t>
            </a:r>
            <a:endParaRPr lang="en-US" sz="1050" dirty="0"/>
          </a:p>
        </p:txBody>
      </p:sp>
      <p:sp>
        <p:nvSpPr>
          <p:cNvPr id="7" name="Text 5"/>
          <p:cNvSpPr/>
          <p:nvPr/>
        </p:nvSpPr>
        <p:spPr>
          <a:xfrm>
            <a:off x="4709160" y="2039112"/>
            <a:ext cx="777240" cy="603504"/>
          </a:xfrm>
          <a:prstGeom prst="rect">
            <a:avLst/>
          </a:prstGeom>
          <a:noFill/>
          <a:ln/>
        </p:spPr>
        <p:txBody>
          <a:bodyPr wrap="square" lIns="0" tIns="0" rIns="0" bIns="0" rtlCol="0" anchor="ctr"/>
          <a:lstStyle/>
          <a:p>
            <a:pPr algn="r" indent="0" marL="0">
              <a:buNone/>
            </a:pPr>
            <a:r>
              <a:rPr lang="en-US" sz="900" b="1" dirty="0">
                <a:solidFill>
                  <a:srgbClr val="234840"/>
                </a:solidFill>
                <a:latin typeface="Calibri" pitchFamily="34" charset="0"/>
                <a:ea typeface="Calibri" pitchFamily="34" charset="-122"/>
                <a:cs typeface="Calibri" pitchFamily="34" charset="-120"/>
              </a:rPr>
              <a:t>LIVE</a:t>
            </a:r>
            <a:endParaRPr lang="en-US" sz="900" dirty="0"/>
          </a:p>
        </p:txBody>
      </p:sp>
      <p:sp>
        <p:nvSpPr>
          <p:cNvPr id="8" name="Shape 6"/>
          <p:cNvSpPr/>
          <p:nvPr/>
        </p:nvSpPr>
        <p:spPr>
          <a:xfrm>
            <a:off x="502920" y="2862072"/>
            <a:ext cx="5074920" cy="749808"/>
          </a:xfrm>
          <a:prstGeom prst="roundRect">
            <a:avLst>
              <a:gd name="adj" fmla="val 8537"/>
            </a:avLst>
          </a:prstGeom>
          <a:solidFill>
            <a:srgbClr val="FDFCFB"/>
          </a:solidFill>
          <a:ln w="12700">
            <a:solidFill>
              <a:srgbClr val="DDD0C1"/>
            </a:solidFill>
            <a:prstDash val="solid"/>
          </a:ln>
        </p:spPr>
      </p:sp>
      <p:sp>
        <p:nvSpPr>
          <p:cNvPr id="9" name="Text 7"/>
          <p:cNvSpPr/>
          <p:nvPr/>
        </p:nvSpPr>
        <p:spPr>
          <a:xfrm>
            <a:off x="731520" y="2935224"/>
            <a:ext cx="1463040" cy="603504"/>
          </a:xfrm>
          <a:prstGeom prst="rect">
            <a:avLst/>
          </a:prstGeom>
          <a:noFill/>
          <a:ln/>
        </p:spPr>
        <p:txBody>
          <a:bodyPr wrap="square" lIns="0" tIns="0" rIns="0" bIns="0" rtlCol="0" anchor="ctr"/>
          <a:lstStyle/>
          <a:p>
            <a:pPr indent="0" marL="0">
              <a:buNone/>
            </a:pPr>
            <a:r>
              <a:rPr lang="en-US" sz="1500" b="1" dirty="0">
                <a:solidFill>
                  <a:srgbClr val="17140F"/>
                </a:solidFill>
                <a:latin typeface="Calibri" pitchFamily="34" charset="0"/>
                <a:ea typeface="Calibri" pitchFamily="34" charset="-122"/>
                <a:cs typeface="Calibri" pitchFamily="34" charset="-120"/>
              </a:rPr>
              <a:t>Understand</a:t>
            </a:r>
            <a:endParaRPr lang="en-US" sz="1500" dirty="0"/>
          </a:p>
        </p:txBody>
      </p:sp>
      <p:sp>
        <p:nvSpPr>
          <p:cNvPr id="10" name="Text 8"/>
          <p:cNvSpPr/>
          <p:nvPr/>
        </p:nvSpPr>
        <p:spPr>
          <a:xfrm>
            <a:off x="2103120" y="2935224"/>
            <a:ext cx="2743200" cy="603504"/>
          </a:xfrm>
          <a:prstGeom prst="rect">
            <a:avLst/>
          </a:prstGeom>
          <a:noFill/>
          <a:ln/>
        </p:spPr>
        <p:txBody>
          <a:bodyPr wrap="square" lIns="0" tIns="0" rIns="0" bIns="0" rtlCol="0" anchor="ctr"/>
          <a:lstStyle/>
          <a:p>
            <a:pPr indent="0" marL="0">
              <a:lnSpc>
                <a:spcPct val="110000"/>
              </a:lnSpc>
              <a:buNone/>
            </a:pPr>
            <a:r>
              <a:rPr lang="en-US" sz="1050" dirty="0">
                <a:solidFill>
                  <a:srgbClr val="7D6E5C"/>
                </a:solidFill>
                <a:latin typeface="Cambria" pitchFamily="34" charset="0"/>
                <a:ea typeface="Cambria" pitchFamily="34" charset="-122"/>
                <a:cs typeface="Cambria" pitchFamily="34" charset="-120"/>
              </a:rPr>
              <a:t>Phase intelligence, doctor-ready health report</a:t>
            </a:r>
            <a:endParaRPr lang="en-US" sz="1050" dirty="0"/>
          </a:p>
        </p:txBody>
      </p:sp>
      <p:sp>
        <p:nvSpPr>
          <p:cNvPr id="11" name="Text 9"/>
          <p:cNvSpPr/>
          <p:nvPr/>
        </p:nvSpPr>
        <p:spPr>
          <a:xfrm>
            <a:off x="4709160" y="2935224"/>
            <a:ext cx="777240" cy="603504"/>
          </a:xfrm>
          <a:prstGeom prst="rect">
            <a:avLst/>
          </a:prstGeom>
          <a:noFill/>
          <a:ln/>
        </p:spPr>
        <p:txBody>
          <a:bodyPr wrap="square" lIns="0" tIns="0" rIns="0" bIns="0" rtlCol="0" anchor="ctr"/>
          <a:lstStyle/>
          <a:p>
            <a:pPr algn="r" indent="0" marL="0">
              <a:buNone/>
            </a:pPr>
            <a:r>
              <a:rPr lang="en-US" sz="900" b="1" dirty="0">
                <a:solidFill>
                  <a:srgbClr val="234840"/>
                </a:solidFill>
                <a:latin typeface="Calibri" pitchFamily="34" charset="0"/>
                <a:ea typeface="Calibri" pitchFamily="34" charset="-122"/>
                <a:cs typeface="Calibri" pitchFamily="34" charset="-120"/>
              </a:rPr>
              <a:t>LIVE</a:t>
            </a:r>
            <a:endParaRPr lang="en-US" sz="900" dirty="0"/>
          </a:p>
        </p:txBody>
      </p:sp>
      <p:sp>
        <p:nvSpPr>
          <p:cNvPr id="12" name="Shape 10"/>
          <p:cNvSpPr/>
          <p:nvPr/>
        </p:nvSpPr>
        <p:spPr>
          <a:xfrm>
            <a:off x="502920" y="3758184"/>
            <a:ext cx="5074920" cy="749808"/>
          </a:xfrm>
          <a:prstGeom prst="roundRect">
            <a:avLst>
              <a:gd name="adj" fmla="val 8537"/>
            </a:avLst>
          </a:prstGeom>
          <a:solidFill>
            <a:srgbClr val="FDFCFB"/>
          </a:solidFill>
          <a:ln w="12700">
            <a:solidFill>
              <a:srgbClr val="DDD0C1"/>
            </a:solidFill>
            <a:prstDash val="solid"/>
          </a:ln>
        </p:spPr>
      </p:sp>
      <p:sp>
        <p:nvSpPr>
          <p:cNvPr id="13" name="Text 11"/>
          <p:cNvSpPr/>
          <p:nvPr/>
        </p:nvSpPr>
        <p:spPr>
          <a:xfrm>
            <a:off x="731520" y="3831336"/>
            <a:ext cx="1463040" cy="603504"/>
          </a:xfrm>
          <a:prstGeom prst="rect">
            <a:avLst/>
          </a:prstGeom>
          <a:noFill/>
          <a:ln/>
        </p:spPr>
        <p:txBody>
          <a:bodyPr wrap="square" lIns="0" tIns="0" rIns="0" bIns="0" rtlCol="0" anchor="ctr"/>
          <a:lstStyle/>
          <a:p>
            <a:pPr indent="0" marL="0">
              <a:buNone/>
            </a:pPr>
            <a:r>
              <a:rPr lang="en-US" sz="1500" b="1" dirty="0">
                <a:solidFill>
                  <a:srgbClr val="17140F"/>
                </a:solidFill>
                <a:latin typeface="Calibri" pitchFamily="34" charset="0"/>
                <a:ea typeface="Calibri" pitchFamily="34" charset="-122"/>
                <a:cs typeface="Calibri" pitchFamily="34" charset="-120"/>
              </a:rPr>
              <a:t>Act</a:t>
            </a:r>
            <a:endParaRPr lang="en-US" sz="1500" dirty="0"/>
          </a:p>
        </p:txBody>
      </p:sp>
      <p:sp>
        <p:nvSpPr>
          <p:cNvPr id="14" name="Text 12"/>
          <p:cNvSpPr/>
          <p:nvPr/>
        </p:nvSpPr>
        <p:spPr>
          <a:xfrm>
            <a:off x="2103120" y="3831336"/>
            <a:ext cx="2743200" cy="603504"/>
          </a:xfrm>
          <a:prstGeom prst="rect">
            <a:avLst/>
          </a:prstGeom>
          <a:noFill/>
          <a:ln/>
        </p:spPr>
        <p:txBody>
          <a:bodyPr wrap="square" lIns="0" tIns="0" rIns="0" bIns="0" rtlCol="0" anchor="ctr"/>
          <a:lstStyle/>
          <a:p>
            <a:pPr indent="0" marL="0">
              <a:lnSpc>
                <a:spcPct val="110000"/>
              </a:lnSpc>
              <a:buNone/>
            </a:pPr>
            <a:r>
              <a:rPr lang="en-US" sz="1050" dirty="0">
                <a:solidFill>
                  <a:srgbClr val="7D6E5C"/>
                </a:solidFill>
                <a:latin typeface="Cambria" pitchFamily="34" charset="0"/>
                <a:ea typeface="Cambria" pitchFamily="34" charset="-122"/>
                <a:cs typeface="Cambria" pitchFamily="34" charset="-120"/>
              </a:rPr>
              <a:t>Phase-matched supplements, AI diet &amp; exercise plans</a:t>
            </a:r>
            <a:endParaRPr lang="en-US" sz="1050" dirty="0"/>
          </a:p>
        </p:txBody>
      </p:sp>
      <p:sp>
        <p:nvSpPr>
          <p:cNvPr id="15" name="Text 13"/>
          <p:cNvSpPr/>
          <p:nvPr/>
        </p:nvSpPr>
        <p:spPr>
          <a:xfrm>
            <a:off x="4709160" y="3831336"/>
            <a:ext cx="777240" cy="603504"/>
          </a:xfrm>
          <a:prstGeom prst="rect">
            <a:avLst/>
          </a:prstGeom>
          <a:noFill/>
          <a:ln/>
        </p:spPr>
        <p:txBody>
          <a:bodyPr wrap="square" lIns="0" tIns="0" rIns="0" bIns="0" rtlCol="0" anchor="ctr"/>
          <a:lstStyle/>
          <a:p>
            <a:pPr algn="r" indent="0" marL="0">
              <a:buNone/>
            </a:pPr>
            <a:r>
              <a:rPr lang="en-US" sz="900" b="1" dirty="0">
                <a:solidFill>
                  <a:srgbClr val="234840"/>
                </a:solidFill>
                <a:latin typeface="Calibri" pitchFamily="34" charset="0"/>
                <a:ea typeface="Calibri" pitchFamily="34" charset="-122"/>
                <a:cs typeface="Calibri" pitchFamily="34" charset="-120"/>
              </a:rPr>
              <a:t>LIVE</a:t>
            </a:r>
            <a:endParaRPr lang="en-US" sz="900" dirty="0"/>
          </a:p>
        </p:txBody>
      </p:sp>
      <p:sp>
        <p:nvSpPr>
          <p:cNvPr id="16" name="Shape 14"/>
          <p:cNvSpPr/>
          <p:nvPr/>
        </p:nvSpPr>
        <p:spPr>
          <a:xfrm>
            <a:off x="502920" y="4654296"/>
            <a:ext cx="5074920" cy="749808"/>
          </a:xfrm>
          <a:prstGeom prst="roundRect">
            <a:avLst>
              <a:gd name="adj" fmla="val 8537"/>
            </a:avLst>
          </a:prstGeom>
          <a:solidFill>
            <a:srgbClr val="DCEAE5"/>
          </a:solidFill>
          <a:ln w="12700">
            <a:solidFill>
              <a:srgbClr val="3F8A76"/>
            </a:solidFill>
            <a:prstDash val="solid"/>
          </a:ln>
        </p:spPr>
      </p:sp>
      <p:sp>
        <p:nvSpPr>
          <p:cNvPr id="17" name="Text 15"/>
          <p:cNvSpPr/>
          <p:nvPr/>
        </p:nvSpPr>
        <p:spPr>
          <a:xfrm>
            <a:off x="731520" y="4727448"/>
            <a:ext cx="1463040" cy="603504"/>
          </a:xfrm>
          <a:prstGeom prst="rect">
            <a:avLst/>
          </a:prstGeom>
          <a:noFill/>
          <a:ln/>
        </p:spPr>
        <p:txBody>
          <a:bodyPr wrap="square" lIns="0" tIns="0" rIns="0" bIns="0" rtlCol="0" anchor="ctr"/>
          <a:lstStyle/>
          <a:p>
            <a:pPr indent="0" marL="0">
              <a:buNone/>
            </a:pPr>
            <a:r>
              <a:rPr lang="en-US" sz="1500" b="1" dirty="0">
                <a:solidFill>
                  <a:srgbClr val="17140F"/>
                </a:solidFill>
                <a:latin typeface="Calibri" pitchFamily="34" charset="0"/>
                <a:ea typeface="Calibri" pitchFamily="34" charset="-122"/>
                <a:cs typeface="Calibri" pitchFamily="34" charset="-120"/>
              </a:rPr>
              <a:t>Test</a:t>
            </a:r>
            <a:endParaRPr lang="en-US" sz="1500" dirty="0"/>
          </a:p>
        </p:txBody>
      </p:sp>
      <p:sp>
        <p:nvSpPr>
          <p:cNvPr id="18" name="Text 16"/>
          <p:cNvSpPr/>
          <p:nvPr/>
        </p:nvSpPr>
        <p:spPr>
          <a:xfrm>
            <a:off x="2103120" y="4727448"/>
            <a:ext cx="2743200" cy="603504"/>
          </a:xfrm>
          <a:prstGeom prst="rect">
            <a:avLst/>
          </a:prstGeom>
          <a:noFill/>
          <a:ln/>
        </p:spPr>
        <p:txBody>
          <a:bodyPr wrap="square" lIns="0" tIns="0" rIns="0" bIns="0" rtlCol="0" anchor="ctr"/>
          <a:lstStyle/>
          <a:p>
            <a:pPr indent="0" marL="0">
              <a:lnSpc>
                <a:spcPct val="110000"/>
              </a:lnSpc>
              <a:buNone/>
            </a:pPr>
            <a:r>
              <a:rPr lang="en-US" sz="1050" dirty="0">
                <a:solidFill>
                  <a:srgbClr val="7D6E5C"/>
                </a:solidFill>
                <a:latin typeface="Cambria" pitchFamily="34" charset="0"/>
                <a:ea typeface="Cambria" pitchFamily="34" charset="-122"/>
                <a:cs typeface="Cambria" pitchFamily="34" charset="-120"/>
              </a:rPr>
              <a:t>At-home strips read by the app — this proposal</a:t>
            </a:r>
            <a:endParaRPr lang="en-US" sz="1050" dirty="0"/>
          </a:p>
        </p:txBody>
      </p:sp>
      <p:sp>
        <p:nvSpPr>
          <p:cNvPr id="19" name="Text 17"/>
          <p:cNvSpPr/>
          <p:nvPr/>
        </p:nvSpPr>
        <p:spPr>
          <a:xfrm>
            <a:off x="4709160" y="4727448"/>
            <a:ext cx="777240" cy="603504"/>
          </a:xfrm>
          <a:prstGeom prst="rect">
            <a:avLst/>
          </a:prstGeom>
          <a:noFill/>
          <a:ln/>
        </p:spPr>
        <p:txBody>
          <a:bodyPr wrap="square" lIns="0" tIns="0" rIns="0" bIns="0" rtlCol="0" anchor="ctr"/>
          <a:lstStyle/>
          <a:p>
            <a:pPr algn="r" indent="0" marL="0">
              <a:buNone/>
            </a:pPr>
            <a:r>
              <a:rPr lang="en-US" sz="900" b="1" dirty="0">
                <a:solidFill>
                  <a:srgbClr val="7A4F16"/>
                </a:solidFill>
                <a:latin typeface="Calibri" pitchFamily="34" charset="0"/>
                <a:ea typeface="Calibri" pitchFamily="34" charset="-122"/>
                <a:cs typeface="Calibri" pitchFamily="34" charset="-120"/>
              </a:rPr>
              <a:t>THIS GRANT</a:t>
            </a:r>
            <a:endParaRPr lang="en-US" sz="900" dirty="0"/>
          </a:p>
        </p:txBody>
      </p:sp>
      <p:sp>
        <p:nvSpPr>
          <p:cNvPr id="20" name="Text 18"/>
          <p:cNvSpPr/>
          <p:nvPr/>
        </p:nvSpPr>
        <p:spPr>
          <a:xfrm>
            <a:off x="6035040" y="1965960"/>
            <a:ext cx="5653735" cy="274320"/>
          </a:xfrm>
          <a:prstGeom prst="rect">
            <a:avLst/>
          </a:prstGeom>
          <a:noFill/>
          <a:ln/>
        </p:spPr>
        <p:txBody>
          <a:bodyPr wrap="square" lIns="0" tIns="0" rIns="0" bIns="0" rtlCol="0" anchor="ctr"/>
          <a:lstStyle/>
          <a:p>
            <a:pPr indent="0" marL="0">
              <a:buNone/>
            </a:pPr>
            <a:r>
              <a:rPr lang="en-US" sz="1100" b="1" spc="130" kern="0" dirty="0">
                <a:solidFill>
                  <a:srgbClr val="7D6E5C"/>
                </a:solidFill>
                <a:latin typeface="Calibri" pitchFamily="34" charset="0"/>
                <a:ea typeface="Calibri" pitchFamily="34" charset="-122"/>
                <a:cs typeface="Calibri" pitchFamily="34" charset="-120"/>
              </a:rPr>
              <a:t>WHY IT MATTERS</a:t>
            </a:r>
            <a:endParaRPr lang="en-US" sz="1100" dirty="0"/>
          </a:p>
        </p:txBody>
      </p:sp>
      <p:sp>
        <p:nvSpPr>
          <p:cNvPr id="21" name="Text 19"/>
          <p:cNvSpPr/>
          <p:nvPr/>
        </p:nvSpPr>
        <p:spPr>
          <a:xfrm>
            <a:off x="6035040" y="2286000"/>
            <a:ext cx="5653735" cy="1645920"/>
          </a:xfrm>
          <a:prstGeom prst="rect">
            <a:avLst/>
          </a:prstGeom>
          <a:noFill/>
          <a:ln/>
        </p:spPr>
        <p:txBody>
          <a:bodyPr wrap="square" lIns="0" tIns="0" rIns="0" bIns="0" rtlCol="0" anchor="t"/>
          <a:lstStyle/>
          <a:p>
            <a:pPr indent="0" marL="0">
              <a:lnSpc>
                <a:spcPct val="130000"/>
              </a:lnSpc>
              <a:buNone/>
            </a:pPr>
            <a:r>
              <a:rPr lang="en-US" sz="1250" dirty="0">
                <a:solidFill>
                  <a:srgbClr val="17140F"/>
                </a:solidFill>
                <a:latin typeface="Cambria" pitchFamily="34" charset="0"/>
                <a:ea typeface="Cambria" pitchFamily="34" charset="-122"/>
                <a:cs typeface="Cambria" pitchFamily="34" charset="-120"/>
              </a:rPr>
              <a:t>Testing turns "based on what she logged" into "based on what we measured" — it raises the credibility of every recommendation above it, and it is a consumable with natural repeat purchase. It is the piece an app-only or supplement-only competitor cannot easily reach.</a:t>
            </a:r>
            <a:endParaRPr lang="en-US" sz="1250" dirty="0"/>
          </a:p>
        </p:txBody>
      </p:sp>
      <p:sp>
        <p:nvSpPr>
          <p:cNvPr id="22" name="Shape 20"/>
          <p:cNvSpPr/>
          <p:nvPr/>
        </p:nvSpPr>
        <p:spPr>
          <a:xfrm>
            <a:off x="6035040" y="4160520"/>
            <a:ext cx="5653735" cy="0"/>
          </a:xfrm>
          <a:prstGeom prst="line">
            <a:avLst/>
          </a:prstGeom>
          <a:noFill/>
          <a:ln w="12700">
            <a:solidFill>
              <a:srgbClr val="DDD0C1"/>
            </a:solidFill>
            <a:prstDash val="solid"/>
          </a:ln>
        </p:spPr>
      </p:sp>
      <p:sp>
        <p:nvSpPr>
          <p:cNvPr id="23" name="Text 21"/>
          <p:cNvSpPr/>
          <p:nvPr/>
        </p:nvSpPr>
        <p:spPr>
          <a:xfrm>
            <a:off x="6035040" y="4343400"/>
            <a:ext cx="5653735" cy="274320"/>
          </a:xfrm>
          <a:prstGeom prst="rect">
            <a:avLst/>
          </a:prstGeom>
          <a:noFill/>
          <a:ln/>
        </p:spPr>
        <p:txBody>
          <a:bodyPr wrap="square" lIns="0" tIns="0" rIns="0" bIns="0" rtlCol="0" anchor="ctr"/>
          <a:lstStyle/>
          <a:p>
            <a:pPr indent="0" marL="0">
              <a:buNone/>
            </a:pPr>
            <a:r>
              <a:rPr lang="en-US" sz="1100" b="1" spc="130" kern="0" dirty="0">
                <a:solidFill>
                  <a:srgbClr val="7D6E5C"/>
                </a:solidFill>
                <a:latin typeface="Calibri" pitchFamily="34" charset="0"/>
                <a:ea typeface="Calibri" pitchFamily="34" charset="-122"/>
                <a:cs typeface="Calibri" pitchFamily="34" charset="-120"/>
              </a:rPr>
              <a:t>MARKET CONTEXT</a:t>
            </a:r>
            <a:endParaRPr lang="en-US" sz="1100" dirty="0"/>
          </a:p>
        </p:txBody>
      </p:sp>
      <p:sp>
        <p:nvSpPr>
          <p:cNvPr id="24" name="Text 22"/>
          <p:cNvSpPr/>
          <p:nvPr/>
        </p:nvSpPr>
        <p:spPr>
          <a:xfrm>
            <a:off x="6035040" y="4663440"/>
            <a:ext cx="5653735" cy="1188720"/>
          </a:xfrm>
          <a:prstGeom prst="rect">
            <a:avLst/>
          </a:prstGeom>
          <a:noFill/>
          <a:ln/>
        </p:spPr>
        <p:txBody>
          <a:bodyPr wrap="square" lIns="0" tIns="0" rIns="0" bIns="0" rtlCol="0" anchor="t"/>
          <a:lstStyle/>
          <a:p>
            <a:pPr indent="0" marL="0">
              <a:lnSpc>
                <a:spcPct val="130000"/>
              </a:lnSpc>
              <a:buNone/>
            </a:pPr>
            <a:r>
              <a:rPr lang="en-US" sz="1250" dirty="0">
                <a:solidFill>
                  <a:srgbClr val="17140F"/>
                </a:solidFill>
                <a:latin typeface="Cambria" pitchFamily="34" charset="0"/>
                <a:ea typeface="Cambria" pitchFamily="34" charset="-122"/>
                <a:cs typeface="Cambria" pitchFamily="34" charset="-120"/>
              </a:rPr>
              <a:t>India’s women’s health apps and at-home diagnostics remain nascent relative to the underlying need — roughly 1 in 5 women affected by PCOS, and the average diagnosis still measured in years.</a:t>
            </a:r>
            <a:endParaRPr lang="en-US" sz="1250" dirty="0"/>
          </a:p>
        </p:txBody>
      </p:sp>
      <p:sp>
        <p:nvSpPr>
          <p:cNvPr id="25" name="Text 23"/>
          <p:cNvSpPr/>
          <p:nvPr/>
        </p:nvSpPr>
        <p:spPr>
          <a:xfrm>
            <a:off x="502920" y="6473952"/>
            <a:ext cx="3657600" cy="274320"/>
          </a:xfrm>
          <a:prstGeom prst="rect">
            <a:avLst/>
          </a:prstGeom>
          <a:noFill/>
          <a:ln/>
        </p:spPr>
        <p:txBody>
          <a:bodyPr wrap="square" lIns="0" tIns="0" rIns="0" bIns="0" rtlCol="0" anchor="ctr"/>
          <a:lstStyle/>
          <a:p>
            <a:pPr indent="0" marL="0">
              <a:buNone/>
            </a:pPr>
            <a:r>
              <a:rPr lang="en-US" sz="900" b="1" spc="200" kern="0" dirty="0">
                <a:solidFill>
                  <a:srgbClr val="7D6E5C"/>
                </a:solidFill>
                <a:latin typeface="Calibri" pitchFamily="34" charset="0"/>
                <a:ea typeface="Calibri" pitchFamily="34" charset="-122"/>
                <a:cs typeface="Calibri" pitchFamily="34" charset="-120"/>
              </a:rPr>
              <a:t>ROVE HEALTH</a:t>
            </a:r>
            <a:endParaRPr lang="en-US" sz="900" dirty="0"/>
          </a:p>
        </p:txBody>
      </p:sp>
      <p:sp>
        <p:nvSpPr>
          <p:cNvPr id="26" name="Text 24"/>
          <p:cNvSpPr/>
          <p:nvPr/>
        </p:nvSpPr>
        <p:spPr>
          <a:xfrm>
            <a:off x="3809848" y="6473952"/>
            <a:ext cx="4572000" cy="274320"/>
          </a:xfrm>
          <a:prstGeom prst="rect">
            <a:avLst/>
          </a:prstGeom>
          <a:noFill/>
          <a:ln/>
        </p:spPr>
        <p:txBody>
          <a:bodyPr wrap="square" lIns="0" tIns="0" rIns="0" bIns="0" rtlCol="0" anchor="ctr"/>
          <a:lstStyle/>
          <a:p>
            <a:pPr algn="ctr" indent="0" marL="0">
              <a:buNone/>
            </a:pPr>
            <a:r>
              <a:rPr lang="en-US" sz="900" spc="150" kern="0" dirty="0">
                <a:solidFill>
                  <a:srgbClr val="7D6E5C"/>
                </a:solidFill>
                <a:latin typeface="Calibri" pitchFamily="34" charset="0"/>
                <a:ea typeface="Calibri" pitchFamily="34" charset="-122"/>
                <a:cs typeface="Calibri" pitchFamily="34" charset="-120"/>
              </a:rPr>
              <a:t>GENESIS EIR 3.0 — DEEP TECH TRACK</a:t>
            </a:r>
            <a:endParaRPr lang="en-US" sz="900" dirty="0"/>
          </a:p>
        </p:txBody>
      </p:sp>
      <p:sp>
        <p:nvSpPr>
          <p:cNvPr id="27" name="Text 25"/>
          <p:cNvSpPr/>
          <p:nvPr/>
        </p:nvSpPr>
        <p:spPr>
          <a:xfrm>
            <a:off x="10317175" y="6473952"/>
            <a:ext cx="1371600" cy="274320"/>
          </a:xfrm>
          <a:prstGeom prst="rect">
            <a:avLst/>
          </a:prstGeom>
          <a:noFill/>
          <a:ln/>
        </p:spPr>
        <p:txBody>
          <a:bodyPr wrap="square" lIns="0" tIns="0" rIns="0" bIns="0" rtlCol="0" anchor="ctr"/>
          <a:lstStyle/>
          <a:p>
            <a:pPr algn="r" indent="0" marL="0">
              <a:buNone/>
            </a:pPr>
            <a:r>
              <a:rPr lang="en-US" sz="900" dirty="0">
                <a:solidFill>
                  <a:srgbClr val="7D6E5C"/>
                </a:solidFill>
                <a:latin typeface="Courier New" pitchFamily="34" charset="0"/>
                <a:ea typeface="Courier New" pitchFamily="34" charset="-122"/>
                <a:cs typeface="Courier Ne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200" kern="0" dirty="0">
                <a:solidFill>
                  <a:srgbClr val="7D6E5C"/>
                </a:solidFill>
                <a:latin typeface="Calibri" pitchFamily="34" charset="0"/>
                <a:ea typeface="Calibri" pitchFamily="34" charset="-122"/>
                <a:cs typeface="Calibri" pitchFamily="34" charset="-120"/>
              </a:rPr>
              <a:t>TEAM</a:t>
            </a:r>
            <a:endParaRPr lang="en-US" sz="1200" dirty="0"/>
          </a:p>
        </p:txBody>
      </p:sp>
      <p:sp>
        <p:nvSpPr>
          <p:cNvPr id="3" name="Text 1"/>
          <p:cNvSpPr/>
          <p:nvPr/>
        </p:nvSpPr>
        <p:spPr>
          <a:xfrm>
            <a:off x="502920" y="786384"/>
            <a:ext cx="9692640" cy="777240"/>
          </a:xfrm>
          <a:prstGeom prst="rect">
            <a:avLst/>
          </a:prstGeom>
          <a:noFill/>
          <a:ln/>
        </p:spPr>
        <p:txBody>
          <a:bodyPr wrap="square" lIns="0" tIns="0" rIns="0" bIns="0" rtlCol="0" anchor="t"/>
          <a:lstStyle/>
          <a:p>
            <a:pPr indent="0" marL="0">
              <a:buNone/>
            </a:pPr>
            <a:r>
              <a:rPr lang="en-US" sz="2700" b="1" dirty="0">
                <a:solidFill>
                  <a:srgbClr val="17140F"/>
                </a:solidFill>
                <a:latin typeface="Calibri" pitchFamily="34" charset="0"/>
                <a:ea typeface="Calibri" pitchFamily="34" charset="-122"/>
                <a:cs typeface="Calibri" pitchFamily="34" charset="-120"/>
              </a:rPr>
              <a:t>Two practising doctors, building the product they wished they had</a:t>
            </a:r>
            <a:endParaRPr lang="en-US" sz="2700" dirty="0"/>
          </a:p>
        </p:txBody>
      </p:sp>
      <p:sp>
        <p:nvSpPr>
          <p:cNvPr id="4" name="Shape 2"/>
          <p:cNvSpPr/>
          <p:nvPr/>
        </p:nvSpPr>
        <p:spPr>
          <a:xfrm>
            <a:off x="10774375" y="685800"/>
            <a:ext cx="914400" cy="914400"/>
          </a:xfrm>
          <a:prstGeom prst="ellipse">
            <a:avLst/>
          </a:prstGeom>
          <a:solidFill>
            <a:srgbClr val="ECE4DA"/>
          </a:solidFill>
          <a:ln/>
        </p:spPr>
      </p:sp>
      <p:pic>
        <p:nvPicPr>
          <p:cNvPr id="5" name="Image 0" descr="preencoded.png">    </p:cNvPr>
          <p:cNvPicPr>
            <a:picLocks noChangeAspect="1"/>
          </p:cNvPicPr>
          <p:nvPr/>
        </p:nvPicPr>
        <p:blipFill>
          <a:blip r:embed="rId1"/>
          <a:stretch>
            <a:fillRect/>
          </a:stretch>
        </p:blipFill>
        <p:spPr>
          <a:xfrm>
            <a:off x="11012119" y="923544"/>
            <a:ext cx="438912" cy="438912"/>
          </a:xfrm>
          <a:prstGeom prst="rect">
            <a:avLst/>
          </a:prstGeom>
        </p:spPr>
      </p:pic>
      <p:sp>
        <p:nvSpPr>
          <p:cNvPr id="6" name="Shape 3"/>
          <p:cNvSpPr/>
          <p:nvPr/>
        </p:nvSpPr>
        <p:spPr>
          <a:xfrm>
            <a:off x="502920" y="2011680"/>
            <a:ext cx="5120640" cy="1417320"/>
          </a:xfrm>
          <a:prstGeom prst="roundRect">
            <a:avLst>
              <a:gd name="adj" fmla="val 5806"/>
            </a:avLst>
          </a:prstGeom>
          <a:solidFill>
            <a:srgbClr val="FDFCFB"/>
          </a:solidFill>
          <a:ln w="12700">
            <a:solidFill>
              <a:srgbClr val="DDD0C1"/>
            </a:solidFill>
            <a:prstDash val="solid"/>
          </a:ln>
        </p:spPr>
      </p:sp>
      <p:sp>
        <p:nvSpPr>
          <p:cNvPr id="7" name="Shape 4"/>
          <p:cNvSpPr/>
          <p:nvPr/>
        </p:nvSpPr>
        <p:spPr>
          <a:xfrm>
            <a:off x="777240" y="2286000"/>
            <a:ext cx="822960" cy="822960"/>
          </a:xfrm>
          <a:prstGeom prst="ellipse">
            <a:avLst/>
          </a:prstGeom>
          <a:solidFill>
            <a:srgbClr val="3F8A76"/>
          </a:solidFill>
          <a:ln/>
        </p:spPr>
      </p:sp>
      <p:sp>
        <p:nvSpPr>
          <p:cNvPr id="8" name="Text 5"/>
          <p:cNvSpPr/>
          <p:nvPr/>
        </p:nvSpPr>
        <p:spPr>
          <a:xfrm>
            <a:off x="777240" y="2286000"/>
            <a:ext cx="822960" cy="822960"/>
          </a:xfrm>
          <a:prstGeom prst="rect">
            <a:avLst/>
          </a:prstGeom>
          <a:noFill/>
          <a:ln/>
        </p:spPr>
        <p:txBody>
          <a:bodyPr wrap="square" lIns="0" tIns="0" rIns="0" bIns="0" rtlCol="0" anchor="ctr"/>
          <a:lstStyle/>
          <a:p>
            <a:pPr algn="ctr" indent="0" marL="0">
              <a:buNone/>
            </a:pPr>
            <a:r>
              <a:rPr lang="en-US" sz="2000" b="1" dirty="0">
                <a:solidFill>
                  <a:srgbClr val="FAF9F6"/>
                </a:solidFill>
                <a:latin typeface="Calibri" pitchFamily="34" charset="0"/>
                <a:ea typeface="Calibri" pitchFamily="34" charset="-122"/>
                <a:cs typeface="Calibri" pitchFamily="34" charset="-120"/>
              </a:rPr>
              <a:t>AO</a:t>
            </a:r>
            <a:endParaRPr lang="en-US" sz="2000" dirty="0"/>
          </a:p>
        </p:txBody>
      </p:sp>
      <p:sp>
        <p:nvSpPr>
          <p:cNvPr id="9" name="Text 6"/>
          <p:cNvSpPr/>
          <p:nvPr/>
        </p:nvSpPr>
        <p:spPr>
          <a:xfrm>
            <a:off x="1783080" y="2212848"/>
            <a:ext cx="3566160" cy="365760"/>
          </a:xfrm>
          <a:prstGeom prst="rect">
            <a:avLst/>
          </a:prstGeom>
          <a:noFill/>
          <a:ln/>
        </p:spPr>
        <p:txBody>
          <a:bodyPr wrap="square" lIns="0" tIns="0" rIns="0" bIns="0" rtlCol="0" anchor="ctr"/>
          <a:lstStyle/>
          <a:p>
            <a:pPr indent="0" marL="0">
              <a:buNone/>
            </a:pPr>
            <a:r>
              <a:rPr lang="en-US" sz="1600" b="1" dirty="0">
                <a:solidFill>
                  <a:srgbClr val="17140F"/>
                </a:solidFill>
                <a:latin typeface="Calibri" pitchFamily="34" charset="0"/>
                <a:ea typeface="Calibri" pitchFamily="34" charset="-122"/>
                <a:cs typeface="Calibri" pitchFamily="34" charset="-120"/>
              </a:rPr>
              <a:t>Dr. Aditya Oswal</a:t>
            </a:r>
            <a:endParaRPr lang="en-US" sz="1600" dirty="0"/>
          </a:p>
        </p:txBody>
      </p:sp>
      <p:sp>
        <p:nvSpPr>
          <p:cNvPr id="10" name="Text 7"/>
          <p:cNvSpPr/>
          <p:nvPr/>
        </p:nvSpPr>
        <p:spPr>
          <a:xfrm>
            <a:off x="1783080" y="2560320"/>
            <a:ext cx="3566160" cy="548640"/>
          </a:xfrm>
          <a:prstGeom prst="rect">
            <a:avLst/>
          </a:prstGeom>
          <a:noFill/>
          <a:ln/>
        </p:spPr>
        <p:txBody>
          <a:bodyPr wrap="square" lIns="0" tIns="0" rIns="0" bIns="0" rtlCol="0" anchor="t"/>
          <a:lstStyle/>
          <a:p>
            <a:pPr indent="0" marL="0">
              <a:lnSpc>
                <a:spcPct val="115000"/>
              </a:lnSpc>
              <a:buNone/>
            </a:pPr>
            <a:r>
              <a:rPr lang="en-US" sz="1200" dirty="0">
                <a:solidFill>
                  <a:srgbClr val="7D6E5C"/>
                </a:solidFill>
                <a:latin typeface="Cambria" pitchFamily="34" charset="0"/>
                <a:ea typeface="Cambria" pitchFamily="34" charset="-122"/>
                <a:cs typeface="Cambria" pitchFamily="34" charset="-120"/>
              </a:rPr>
              <a:t>Co-founder · Practising Physician, Mumbai</a:t>
            </a:r>
            <a:endParaRPr lang="en-US" sz="1200" dirty="0"/>
          </a:p>
        </p:txBody>
      </p:sp>
      <p:sp>
        <p:nvSpPr>
          <p:cNvPr id="11" name="Shape 8"/>
          <p:cNvSpPr/>
          <p:nvPr/>
        </p:nvSpPr>
        <p:spPr>
          <a:xfrm>
            <a:off x="5989320" y="2011680"/>
            <a:ext cx="5120640" cy="1417320"/>
          </a:xfrm>
          <a:prstGeom prst="roundRect">
            <a:avLst>
              <a:gd name="adj" fmla="val 5806"/>
            </a:avLst>
          </a:prstGeom>
          <a:solidFill>
            <a:srgbClr val="FDFCFB"/>
          </a:solidFill>
          <a:ln w="12700">
            <a:solidFill>
              <a:srgbClr val="DDD0C1"/>
            </a:solidFill>
            <a:prstDash val="solid"/>
          </a:ln>
        </p:spPr>
      </p:sp>
      <p:sp>
        <p:nvSpPr>
          <p:cNvPr id="12" name="Shape 9"/>
          <p:cNvSpPr/>
          <p:nvPr/>
        </p:nvSpPr>
        <p:spPr>
          <a:xfrm>
            <a:off x="6263640" y="2286000"/>
            <a:ext cx="822960" cy="822960"/>
          </a:xfrm>
          <a:prstGeom prst="ellipse">
            <a:avLst/>
          </a:prstGeom>
          <a:solidFill>
            <a:srgbClr val="3F8A76"/>
          </a:solidFill>
          <a:ln/>
        </p:spPr>
      </p:sp>
      <p:sp>
        <p:nvSpPr>
          <p:cNvPr id="13" name="Text 10"/>
          <p:cNvSpPr/>
          <p:nvPr/>
        </p:nvSpPr>
        <p:spPr>
          <a:xfrm>
            <a:off x="6263640" y="2286000"/>
            <a:ext cx="822960" cy="822960"/>
          </a:xfrm>
          <a:prstGeom prst="rect">
            <a:avLst/>
          </a:prstGeom>
          <a:noFill/>
          <a:ln/>
        </p:spPr>
        <p:txBody>
          <a:bodyPr wrap="square" lIns="0" tIns="0" rIns="0" bIns="0" rtlCol="0" anchor="ctr"/>
          <a:lstStyle/>
          <a:p>
            <a:pPr algn="ctr" indent="0" marL="0">
              <a:buNone/>
            </a:pPr>
            <a:r>
              <a:rPr lang="en-US" sz="2000" b="1" dirty="0">
                <a:solidFill>
                  <a:srgbClr val="FAF9F6"/>
                </a:solidFill>
                <a:latin typeface="Calibri" pitchFamily="34" charset="0"/>
                <a:ea typeface="Calibri" pitchFamily="34" charset="-122"/>
                <a:cs typeface="Calibri" pitchFamily="34" charset="-120"/>
              </a:rPr>
              <a:t>CK</a:t>
            </a:r>
            <a:endParaRPr lang="en-US" sz="2000" dirty="0"/>
          </a:p>
        </p:txBody>
      </p:sp>
      <p:sp>
        <p:nvSpPr>
          <p:cNvPr id="14" name="Text 11"/>
          <p:cNvSpPr/>
          <p:nvPr/>
        </p:nvSpPr>
        <p:spPr>
          <a:xfrm>
            <a:off x="7269480" y="2212848"/>
            <a:ext cx="3566160" cy="365760"/>
          </a:xfrm>
          <a:prstGeom prst="rect">
            <a:avLst/>
          </a:prstGeom>
          <a:noFill/>
          <a:ln/>
        </p:spPr>
        <p:txBody>
          <a:bodyPr wrap="square" lIns="0" tIns="0" rIns="0" bIns="0" rtlCol="0" anchor="ctr"/>
          <a:lstStyle/>
          <a:p>
            <a:pPr indent="0" marL="0">
              <a:buNone/>
            </a:pPr>
            <a:r>
              <a:rPr lang="en-US" sz="1600" b="1" dirty="0">
                <a:solidFill>
                  <a:srgbClr val="17140F"/>
                </a:solidFill>
                <a:latin typeface="Calibri" pitchFamily="34" charset="0"/>
                <a:ea typeface="Calibri" pitchFamily="34" charset="-122"/>
                <a:cs typeface="Calibri" pitchFamily="34" charset="-120"/>
              </a:rPr>
              <a:t>Dr. Chaitanya Kalra</a:t>
            </a:r>
            <a:endParaRPr lang="en-US" sz="1600" dirty="0"/>
          </a:p>
        </p:txBody>
      </p:sp>
      <p:sp>
        <p:nvSpPr>
          <p:cNvPr id="15" name="Text 12"/>
          <p:cNvSpPr/>
          <p:nvPr/>
        </p:nvSpPr>
        <p:spPr>
          <a:xfrm>
            <a:off x="7269480" y="2560320"/>
            <a:ext cx="3566160" cy="548640"/>
          </a:xfrm>
          <a:prstGeom prst="rect">
            <a:avLst/>
          </a:prstGeom>
          <a:noFill/>
          <a:ln/>
        </p:spPr>
        <p:txBody>
          <a:bodyPr wrap="square" lIns="0" tIns="0" rIns="0" bIns="0" rtlCol="0" anchor="t"/>
          <a:lstStyle/>
          <a:p>
            <a:pPr indent="0" marL="0">
              <a:lnSpc>
                <a:spcPct val="115000"/>
              </a:lnSpc>
              <a:buNone/>
            </a:pPr>
            <a:r>
              <a:rPr lang="en-US" sz="1200" dirty="0">
                <a:solidFill>
                  <a:srgbClr val="7D6E5C"/>
                </a:solidFill>
                <a:latin typeface="Cambria" pitchFamily="34" charset="0"/>
                <a:ea typeface="Cambria" pitchFamily="34" charset="-122"/>
                <a:cs typeface="Cambria" pitchFamily="34" charset="-120"/>
              </a:rPr>
              <a:t>Co-founder · Practising Physician, Mumbai</a:t>
            </a:r>
            <a:endParaRPr lang="en-US" sz="1200" dirty="0"/>
          </a:p>
        </p:txBody>
      </p:sp>
      <p:sp>
        <p:nvSpPr>
          <p:cNvPr id="16" name="Text 13"/>
          <p:cNvSpPr/>
          <p:nvPr/>
        </p:nvSpPr>
        <p:spPr>
          <a:xfrm>
            <a:off x="502920" y="3977640"/>
            <a:ext cx="11185855" cy="1463040"/>
          </a:xfrm>
          <a:prstGeom prst="rect">
            <a:avLst/>
          </a:prstGeom>
          <a:noFill/>
          <a:ln/>
        </p:spPr>
        <p:txBody>
          <a:bodyPr wrap="square" lIns="0" tIns="0" rIns="0" bIns="0" rtlCol="0" anchor="t"/>
          <a:lstStyle/>
          <a:p>
            <a:pPr indent="0" marL="0">
              <a:lnSpc>
                <a:spcPct val="135000"/>
              </a:lnSpc>
              <a:buNone/>
            </a:pPr>
            <a:r>
              <a:rPr lang="en-US" sz="1450" i="1" dirty="0">
                <a:solidFill>
                  <a:srgbClr val="17140F"/>
                </a:solidFill>
                <a:latin typeface="Cambria" pitchFamily="34" charset="0"/>
                <a:ea typeface="Cambria" pitchFamily="34" charset="-122"/>
                <a:cs typeface="Cambria" pitchFamily="34" charset="-120"/>
              </a:rPr>
              <a:t>The clinical practice and the product decisions come from the same two people who sit across the desk from these patients. Every threshold in this algorithm — the surge-jump grade, the coverline offset, the anovulatory grace period — is a clinical judgment call made explicit in code, not a marketing claim.</a:t>
            </a:r>
            <a:endParaRPr lang="en-US" sz="1450" dirty="0"/>
          </a:p>
        </p:txBody>
      </p:sp>
      <p:sp>
        <p:nvSpPr>
          <p:cNvPr id="17" name="Text 14"/>
          <p:cNvSpPr/>
          <p:nvPr/>
        </p:nvSpPr>
        <p:spPr>
          <a:xfrm>
            <a:off x="502920" y="6473952"/>
            <a:ext cx="3657600" cy="274320"/>
          </a:xfrm>
          <a:prstGeom prst="rect">
            <a:avLst/>
          </a:prstGeom>
          <a:noFill/>
          <a:ln/>
        </p:spPr>
        <p:txBody>
          <a:bodyPr wrap="square" lIns="0" tIns="0" rIns="0" bIns="0" rtlCol="0" anchor="ctr"/>
          <a:lstStyle/>
          <a:p>
            <a:pPr indent="0" marL="0">
              <a:buNone/>
            </a:pPr>
            <a:r>
              <a:rPr lang="en-US" sz="900" b="1" spc="200" kern="0" dirty="0">
                <a:solidFill>
                  <a:srgbClr val="7D6E5C"/>
                </a:solidFill>
                <a:latin typeface="Calibri" pitchFamily="34" charset="0"/>
                <a:ea typeface="Calibri" pitchFamily="34" charset="-122"/>
                <a:cs typeface="Calibri" pitchFamily="34" charset="-120"/>
              </a:rPr>
              <a:t>ROVE HEALTH</a:t>
            </a:r>
            <a:endParaRPr lang="en-US" sz="900" dirty="0"/>
          </a:p>
        </p:txBody>
      </p:sp>
      <p:sp>
        <p:nvSpPr>
          <p:cNvPr id="18" name="Text 15"/>
          <p:cNvSpPr/>
          <p:nvPr/>
        </p:nvSpPr>
        <p:spPr>
          <a:xfrm>
            <a:off x="3809848" y="6473952"/>
            <a:ext cx="4572000" cy="274320"/>
          </a:xfrm>
          <a:prstGeom prst="rect">
            <a:avLst/>
          </a:prstGeom>
          <a:noFill/>
          <a:ln/>
        </p:spPr>
        <p:txBody>
          <a:bodyPr wrap="square" lIns="0" tIns="0" rIns="0" bIns="0" rtlCol="0" anchor="ctr"/>
          <a:lstStyle/>
          <a:p>
            <a:pPr algn="ctr" indent="0" marL="0">
              <a:buNone/>
            </a:pPr>
            <a:r>
              <a:rPr lang="en-US" sz="900" spc="150" kern="0" dirty="0">
                <a:solidFill>
                  <a:srgbClr val="7D6E5C"/>
                </a:solidFill>
                <a:latin typeface="Calibri" pitchFamily="34" charset="0"/>
                <a:ea typeface="Calibri" pitchFamily="34" charset="-122"/>
                <a:cs typeface="Calibri" pitchFamily="34" charset="-120"/>
              </a:rPr>
              <a:t>GENESIS EIR 3.0 — DEEP TECH TRACK</a:t>
            </a:r>
            <a:endParaRPr lang="en-US" sz="900" dirty="0"/>
          </a:p>
        </p:txBody>
      </p:sp>
      <p:sp>
        <p:nvSpPr>
          <p:cNvPr id="19" name="Text 16"/>
          <p:cNvSpPr/>
          <p:nvPr/>
        </p:nvSpPr>
        <p:spPr>
          <a:xfrm>
            <a:off x="10317175" y="6473952"/>
            <a:ext cx="1371600" cy="274320"/>
          </a:xfrm>
          <a:prstGeom prst="rect">
            <a:avLst/>
          </a:prstGeom>
          <a:noFill/>
          <a:ln/>
        </p:spPr>
        <p:txBody>
          <a:bodyPr wrap="square" lIns="0" tIns="0" rIns="0" bIns="0" rtlCol="0" anchor="ctr"/>
          <a:lstStyle/>
          <a:p>
            <a:pPr algn="r" indent="0" marL="0">
              <a:buNone/>
            </a:pPr>
            <a:r>
              <a:rPr lang="en-US" sz="900" dirty="0">
                <a:solidFill>
                  <a:srgbClr val="7D6E5C"/>
                </a:solidFill>
                <a:latin typeface="Courier New" pitchFamily="34" charset="0"/>
                <a:ea typeface="Courier New" pitchFamily="34" charset="-122"/>
                <a:cs typeface="Courier Ne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140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200" kern="0" dirty="0">
                <a:solidFill>
                  <a:srgbClr val="C6862A"/>
                </a:solidFill>
                <a:latin typeface="Calibri" pitchFamily="34" charset="0"/>
                <a:ea typeface="Calibri" pitchFamily="34" charset="-122"/>
                <a:cs typeface="Calibri" pitchFamily="34" charset="-120"/>
              </a:rPr>
              <a:t>THE ASK</a:t>
            </a:r>
            <a:endParaRPr lang="en-US" sz="1200" dirty="0"/>
          </a:p>
        </p:txBody>
      </p:sp>
      <p:sp>
        <p:nvSpPr>
          <p:cNvPr id="3" name="Text 1"/>
          <p:cNvSpPr/>
          <p:nvPr/>
        </p:nvSpPr>
        <p:spPr>
          <a:xfrm>
            <a:off x="502920" y="786384"/>
            <a:ext cx="8229600" cy="777240"/>
          </a:xfrm>
          <a:prstGeom prst="rect">
            <a:avLst/>
          </a:prstGeom>
          <a:noFill/>
          <a:ln/>
        </p:spPr>
        <p:txBody>
          <a:bodyPr wrap="square" lIns="0" tIns="0" rIns="0" bIns="0" rtlCol="0" anchor="t"/>
          <a:lstStyle/>
          <a:p>
            <a:pPr indent="0" marL="0">
              <a:buNone/>
            </a:pPr>
            <a:r>
              <a:rPr lang="en-US" sz="3000" b="1" dirty="0">
                <a:solidFill>
                  <a:srgbClr val="FAF9F6"/>
                </a:solidFill>
                <a:latin typeface="Calibri" pitchFamily="34" charset="0"/>
                <a:ea typeface="Calibri" pitchFamily="34" charset="-122"/>
                <a:cs typeface="Calibri" pitchFamily="34" charset="-120"/>
              </a:rPr>
              <a:t>What this grant funds</a:t>
            </a:r>
            <a:endParaRPr lang="en-US" sz="3000" dirty="0"/>
          </a:p>
        </p:txBody>
      </p:sp>
      <p:sp>
        <p:nvSpPr>
          <p:cNvPr id="4" name="Shape 2"/>
          <p:cNvSpPr/>
          <p:nvPr/>
        </p:nvSpPr>
        <p:spPr>
          <a:xfrm>
            <a:off x="10774375" y="685800"/>
            <a:ext cx="914400" cy="914400"/>
          </a:xfrm>
          <a:prstGeom prst="ellipse">
            <a:avLst/>
          </a:prstGeom>
          <a:solidFill>
            <a:srgbClr val="3F8A76"/>
          </a:solidFill>
          <a:ln/>
        </p:spPr>
      </p:sp>
      <p:pic>
        <p:nvPicPr>
          <p:cNvPr id="5" name="Image 0" descr="preencoded.png">    </p:cNvPr>
          <p:cNvPicPr>
            <a:picLocks noChangeAspect="1"/>
          </p:cNvPicPr>
          <p:nvPr/>
        </p:nvPicPr>
        <p:blipFill>
          <a:blip r:embed="rId1"/>
          <a:stretch>
            <a:fillRect/>
          </a:stretch>
        </p:blipFill>
        <p:spPr>
          <a:xfrm>
            <a:off x="11012119" y="923544"/>
            <a:ext cx="438912" cy="438912"/>
          </a:xfrm>
          <a:prstGeom prst="rect">
            <a:avLst/>
          </a:prstGeom>
        </p:spPr>
      </p:pic>
      <p:sp>
        <p:nvSpPr>
          <p:cNvPr id="6" name="Shape 3"/>
          <p:cNvSpPr/>
          <p:nvPr/>
        </p:nvSpPr>
        <p:spPr>
          <a:xfrm>
            <a:off x="502920" y="2057400"/>
            <a:ext cx="5455768" cy="1417320"/>
          </a:xfrm>
          <a:prstGeom prst="roundRect">
            <a:avLst>
              <a:gd name="adj" fmla="val 5161"/>
            </a:avLst>
          </a:prstGeom>
          <a:solidFill>
            <a:srgbClr val="211C15"/>
          </a:solidFill>
          <a:ln w="12700">
            <a:solidFill>
              <a:srgbClr val="3A3122"/>
            </a:solidFill>
            <a:prstDash val="solid"/>
          </a:ln>
        </p:spPr>
      </p:sp>
      <p:sp>
        <p:nvSpPr>
          <p:cNvPr id="7" name="Text 4"/>
          <p:cNvSpPr/>
          <p:nvPr/>
        </p:nvSpPr>
        <p:spPr>
          <a:xfrm>
            <a:off x="731520" y="2221992"/>
            <a:ext cx="4998568" cy="457200"/>
          </a:xfrm>
          <a:prstGeom prst="rect">
            <a:avLst/>
          </a:prstGeom>
          <a:noFill/>
          <a:ln/>
        </p:spPr>
        <p:txBody>
          <a:bodyPr wrap="square" lIns="0" tIns="0" rIns="0" bIns="0" rtlCol="0" anchor="t"/>
          <a:lstStyle/>
          <a:p>
            <a:pPr indent="0" marL="0">
              <a:buNone/>
            </a:pPr>
            <a:r>
              <a:rPr lang="en-US" sz="1350" b="1" dirty="0">
                <a:solidFill>
                  <a:srgbClr val="FAF9F6"/>
                </a:solidFill>
                <a:latin typeface="Calibri" pitchFamily="34" charset="0"/>
                <a:ea typeface="Calibri" pitchFamily="34" charset="-122"/>
                <a:cs typeface="Calibri" pitchFamily="34" charset="-120"/>
              </a:rPr>
              <a:t>Strip sourcing &amp; camera-vision calibration</a:t>
            </a:r>
            <a:endParaRPr lang="en-US" sz="1350" dirty="0"/>
          </a:p>
        </p:txBody>
      </p:sp>
      <p:sp>
        <p:nvSpPr>
          <p:cNvPr id="8" name="Text 5"/>
          <p:cNvSpPr/>
          <p:nvPr/>
        </p:nvSpPr>
        <p:spPr>
          <a:xfrm>
            <a:off x="731520" y="2651760"/>
            <a:ext cx="4998568" cy="731520"/>
          </a:xfrm>
          <a:prstGeom prst="rect">
            <a:avLst/>
          </a:prstGeom>
          <a:noFill/>
          <a:ln/>
        </p:spPr>
        <p:txBody>
          <a:bodyPr wrap="square" lIns="0" tIns="0" rIns="0" bIns="0" rtlCol="0" anchor="t"/>
          <a:lstStyle/>
          <a:p>
            <a:pPr indent="0" marL="0">
              <a:lnSpc>
                <a:spcPct val="120000"/>
              </a:lnSpc>
              <a:buNone/>
            </a:pPr>
            <a:r>
              <a:rPr lang="en-US" sz="1100" dirty="0">
                <a:solidFill>
                  <a:srgbClr val="CABAA9"/>
                </a:solidFill>
                <a:latin typeface="Cambria" pitchFamily="34" charset="0"/>
                <a:ea typeface="Cambria" pitchFamily="34" charset="-122"/>
                <a:cs typeface="Cambria" pitchFamily="34" charset="-120"/>
              </a:rPr>
              <a:t>Reading the physical kit’s backing card programmatically, matched against the algorithm’s band levels.</a:t>
            </a:r>
            <a:endParaRPr lang="en-US" sz="1100" dirty="0"/>
          </a:p>
        </p:txBody>
      </p:sp>
      <p:sp>
        <p:nvSpPr>
          <p:cNvPr id="9" name="Shape 6"/>
          <p:cNvSpPr/>
          <p:nvPr/>
        </p:nvSpPr>
        <p:spPr>
          <a:xfrm>
            <a:off x="6233008" y="2057400"/>
            <a:ext cx="5455768" cy="1417320"/>
          </a:xfrm>
          <a:prstGeom prst="roundRect">
            <a:avLst>
              <a:gd name="adj" fmla="val 5161"/>
            </a:avLst>
          </a:prstGeom>
          <a:solidFill>
            <a:srgbClr val="211C15"/>
          </a:solidFill>
          <a:ln w="12700">
            <a:solidFill>
              <a:srgbClr val="3A3122"/>
            </a:solidFill>
            <a:prstDash val="solid"/>
          </a:ln>
        </p:spPr>
      </p:sp>
      <p:sp>
        <p:nvSpPr>
          <p:cNvPr id="10" name="Text 7"/>
          <p:cNvSpPr/>
          <p:nvPr/>
        </p:nvSpPr>
        <p:spPr>
          <a:xfrm>
            <a:off x="6461608" y="2221992"/>
            <a:ext cx="4998568" cy="457200"/>
          </a:xfrm>
          <a:prstGeom prst="rect">
            <a:avLst/>
          </a:prstGeom>
          <a:noFill/>
          <a:ln/>
        </p:spPr>
        <p:txBody>
          <a:bodyPr wrap="square" lIns="0" tIns="0" rIns="0" bIns="0" rtlCol="0" anchor="t"/>
          <a:lstStyle/>
          <a:p>
            <a:pPr indent="0" marL="0">
              <a:buNone/>
            </a:pPr>
            <a:r>
              <a:rPr lang="en-US" sz="1350" b="1" dirty="0">
                <a:solidFill>
                  <a:srgbClr val="FAF9F6"/>
                </a:solidFill>
                <a:latin typeface="Calibri" pitchFamily="34" charset="0"/>
                <a:ea typeface="Calibri" pitchFamily="34" charset="-122"/>
                <a:cs typeface="Calibri" pitchFamily="34" charset="-120"/>
              </a:rPr>
              <a:t>Small-cohort field validation</a:t>
            </a:r>
            <a:endParaRPr lang="en-US" sz="1350" dirty="0"/>
          </a:p>
        </p:txBody>
      </p:sp>
      <p:sp>
        <p:nvSpPr>
          <p:cNvPr id="11" name="Text 8"/>
          <p:cNvSpPr/>
          <p:nvPr/>
        </p:nvSpPr>
        <p:spPr>
          <a:xfrm>
            <a:off x="6461608" y="2651760"/>
            <a:ext cx="4998568" cy="731520"/>
          </a:xfrm>
          <a:prstGeom prst="rect">
            <a:avLst/>
          </a:prstGeom>
          <a:noFill/>
          <a:ln/>
        </p:spPr>
        <p:txBody>
          <a:bodyPr wrap="square" lIns="0" tIns="0" rIns="0" bIns="0" rtlCol="0" anchor="t"/>
          <a:lstStyle/>
          <a:p>
            <a:pPr indent="0" marL="0">
              <a:lnSpc>
                <a:spcPct val="120000"/>
              </a:lnSpc>
              <a:buNone/>
            </a:pPr>
            <a:r>
              <a:rPr lang="en-US" sz="1100" dirty="0">
                <a:solidFill>
                  <a:srgbClr val="CABAA9"/>
                </a:solidFill>
                <a:latin typeface="Cambria" pitchFamily="34" charset="0"/>
                <a:ea typeface="Cambria" pitchFamily="34" charset="-122"/>
                <a:cs typeface="Cambria" pitchFamily="34" charset="-120"/>
              </a:rPr>
              <a:t>Tier-II/III recruitment; real logged cycles measured against clinician-confirmed ovulation.</a:t>
            </a:r>
            <a:endParaRPr lang="en-US" sz="1100" dirty="0"/>
          </a:p>
        </p:txBody>
      </p:sp>
      <p:sp>
        <p:nvSpPr>
          <p:cNvPr id="12" name="Shape 9"/>
          <p:cNvSpPr/>
          <p:nvPr/>
        </p:nvSpPr>
        <p:spPr>
          <a:xfrm>
            <a:off x="502920" y="3657600"/>
            <a:ext cx="5455768" cy="1417320"/>
          </a:xfrm>
          <a:prstGeom prst="roundRect">
            <a:avLst>
              <a:gd name="adj" fmla="val 5161"/>
            </a:avLst>
          </a:prstGeom>
          <a:solidFill>
            <a:srgbClr val="211C15"/>
          </a:solidFill>
          <a:ln w="12700">
            <a:solidFill>
              <a:srgbClr val="3A3122"/>
            </a:solidFill>
            <a:prstDash val="solid"/>
          </a:ln>
        </p:spPr>
      </p:sp>
      <p:sp>
        <p:nvSpPr>
          <p:cNvPr id="13" name="Text 10"/>
          <p:cNvSpPr/>
          <p:nvPr/>
        </p:nvSpPr>
        <p:spPr>
          <a:xfrm>
            <a:off x="731520" y="3822192"/>
            <a:ext cx="4998568" cy="457200"/>
          </a:xfrm>
          <a:prstGeom prst="rect">
            <a:avLst/>
          </a:prstGeom>
          <a:noFill/>
          <a:ln/>
        </p:spPr>
        <p:txBody>
          <a:bodyPr wrap="square" lIns="0" tIns="0" rIns="0" bIns="0" rtlCol="0" anchor="t"/>
          <a:lstStyle/>
          <a:p>
            <a:pPr indent="0" marL="0">
              <a:buNone/>
            </a:pPr>
            <a:r>
              <a:rPr lang="en-US" sz="1350" b="1" dirty="0">
                <a:solidFill>
                  <a:srgbClr val="FAF9F6"/>
                </a:solidFill>
                <a:latin typeface="Calibri" pitchFamily="34" charset="0"/>
                <a:ea typeface="Calibri" pitchFamily="34" charset="-122"/>
                <a:cs typeface="Calibri" pitchFamily="34" charset="-120"/>
              </a:rPr>
              <a:t>Regulatory &amp; compliance consultation</a:t>
            </a:r>
            <a:endParaRPr lang="en-US" sz="1350" dirty="0"/>
          </a:p>
        </p:txBody>
      </p:sp>
      <p:sp>
        <p:nvSpPr>
          <p:cNvPr id="14" name="Text 11"/>
          <p:cNvSpPr/>
          <p:nvPr/>
        </p:nvSpPr>
        <p:spPr>
          <a:xfrm>
            <a:off x="731520" y="4251960"/>
            <a:ext cx="4998568" cy="731520"/>
          </a:xfrm>
          <a:prstGeom prst="rect">
            <a:avLst/>
          </a:prstGeom>
          <a:noFill/>
          <a:ln/>
        </p:spPr>
        <p:txBody>
          <a:bodyPr wrap="square" lIns="0" tIns="0" rIns="0" bIns="0" rtlCol="0" anchor="t"/>
          <a:lstStyle/>
          <a:p>
            <a:pPr indent="0" marL="0">
              <a:lnSpc>
                <a:spcPct val="120000"/>
              </a:lnSpc>
              <a:buNone/>
            </a:pPr>
            <a:r>
              <a:rPr lang="en-US" sz="1100" dirty="0">
                <a:solidFill>
                  <a:srgbClr val="CABAA9"/>
                </a:solidFill>
                <a:latin typeface="Cambria" pitchFamily="34" charset="0"/>
                <a:ea typeface="Cambria" pitchFamily="34" charset="-122"/>
                <a:cs typeface="Cambria" pitchFamily="34" charset="-120"/>
              </a:rPr>
              <a:t>Scoping the diagnostic-adjacent approval pathway before wider rollout.</a:t>
            </a:r>
            <a:endParaRPr lang="en-US" sz="1100" dirty="0"/>
          </a:p>
        </p:txBody>
      </p:sp>
      <p:sp>
        <p:nvSpPr>
          <p:cNvPr id="15" name="Shape 12"/>
          <p:cNvSpPr/>
          <p:nvPr/>
        </p:nvSpPr>
        <p:spPr>
          <a:xfrm>
            <a:off x="6233008" y="3657600"/>
            <a:ext cx="5455768" cy="1417320"/>
          </a:xfrm>
          <a:prstGeom prst="roundRect">
            <a:avLst>
              <a:gd name="adj" fmla="val 5161"/>
            </a:avLst>
          </a:prstGeom>
          <a:solidFill>
            <a:srgbClr val="211C15"/>
          </a:solidFill>
          <a:ln w="12700">
            <a:solidFill>
              <a:srgbClr val="3A3122"/>
            </a:solidFill>
            <a:prstDash val="solid"/>
          </a:ln>
        </p:spPr>
      </p:sp>
      <p:sp>
        <p:nvSpPr>
          <p:cNvPr id="16" name="Text 13"/>
          <p:cNvSpPr/>
          <p:nvPr/>
        </p:nvSpPr>
        <p:spPr>
          <a:xfrm>
            <a:off x="6461608" y="3822192"/>
            <a:ext cx="4998568" cy="457200"/>
          </a:xfrm>
          <a:prstGeom prst="rect">
            <a:avLst/>
          </a:prstGeom>
          <a:noFill/>
          <a:ln/>
        </p:spPr>
        <p:txBody>
          <a:bodyPr wrap="square" lIns="0" tIns="0" rIns="0" bIns="0" rtlCol="0" anchor="t"/>
          <a:lstStyle/>
          <a:p>
            <a:pPr indent="0" marL="0">
              <a:buNone/>
            </a:pPr>
            <a:r>
              <a:rPr lang="en-US" sz="1350" b="1" dirty="0">
                <a:solidFill>
                  <a:srgbClr val="FAF9F6"/>
                </a:solidFill>
                <a:latin typeface="Calibri" pitchFamily="34" charset="0"/>
                <a:ea typeface="Calibri" pitchFamily="34" charset="-122"/>
                <a:cs typeface="Calibri" pitchFamily="34" charset="-120"/>
              </a:rPr>
              <a:t>Mentorship-supported iteration</a:t>
            </a:r>
            <a:endParaRPr lang="en-US" sz="1350" dirty="0"/>
          </a:p>
        </p:txBody>
      </p:sp>
      <p:sp>
        <p:nvSpPr>
          <p:cNvPr id="17" name="Text 14"/>
          <p:cNvSpPr/>
          <p:nvPr/>
        </p:nvSpPr>
        <p:spPr>
          <a:xfrm>
            <a:off x="6461608" y="4251960"/>
            <a:ext cx="4998568" cy="731520"/>
          </a:xfrm>
          <a:prstGeom prst="rect">
            <a:avLst/>
          </a:prstGeom>
          <a:noFill/>
          <a:ln/>
        </p:spPr>
        <p:txBody>
          <a:bodyPr wrap="square" lIns="0" tIns="0" rIns="0" bIns="0" rtlCol="0" anchor="t"/>
          <a:lstStyle/>
          <a:p>
            <a:pPr indent="0" marL="0">
              <a:lnSpc>
                <a:spcPct val="120000"/>
              </a:lnSpc>
              <a:buNone/>
            </a:pPr>
            <a:r>
              <a:rPr lang="en-US" sz="1100" dirty="0">
                <a:solidFill>
                  <a:srgbClr val="CABAA9"/>
                </a:solidFill>
                <a:latin typeface="Cambria" pitchFamily="34" charset="0"/>
                <a:ea typeface="Cambria" pitchFamily="34" charset="-122"/>
                <a:cs typeface="Cambria" pitchFamily="34" charset="-120"/>
              </a:rPr>
              <a:t>Via AIC — SMU Technology Business Incubator, our preferred incubator partner.</a:t>
            </a:r>
            <a:endParaRPr lang="en-US" sz="1100" dirty="0"/>
          </a:p>
        </p:txBody>
      </p:sp>
      <p:sp>
        <p:nvSpPr>
          <p:cNvPr id="18" name="Text 15"/>
          <p:cNvSpPr/>
          <p:nvPr/>
        </p:nvSpPr>
        <p:spPr>
          <a:xfrm>
            <a:off x="502920" y="6263640"/>
            <a:ext cx="7315200" cy="274320"/>
          </a:xfrm>
          <a:prstGeom prst="rect">
            <a:avLst/>
          </a:prstGeom>
          <a:noFill/>
          <a:ln/>
        </p:spPr>
        <p:txBody>
          <a:bodyPr wrap="square" lIns="0" tIns="0" rIns="0" bIns="0" rtlCol="0" anchor="ctr"/>
          <a:lstStyle/>
          <a:p>
            <a:pPr indent="0" marL="0">
              <a:buNone/>
            </a:pPr>
            <a:r>
              <a:rPr lang="en-US" sz="1000" dirty="0">
                <a:solidFill>
                  <a:srgbClr val="7D6E5C"/>
                </a:solidFill>
                <a:latin typeface="Courier New" pitchFamily="34" charset="0"/>
                <a:ea typeface="Courier New" pitchFamily="34" charset="-122"/>
                <a:cs typeface="Courier New" pitchFamily="34" charset="-120"/>
              </a:rPr>
              <a:t>Rove Health · team@rovehealth.in · rovehealth.in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Rove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Semi-Quantitative Ovulation Diagnostics — GENESIS EIR 3.0</dc:title>
  <dc:subject>PptxGenJS Presentation</dc:subject>
  <dc:creator>Rove Health</dc:creator>
  <cp:lastModifiedBy>Rove Health</cp:lastModifiedBy>
  <cp:revision>1</cp:revision>
  <dcterms:created xsi:type="dcterms:W3CDTF">2026-08-18T16:22:54Z</dcterms:created>
  <dcterms:modified xsi:type="dcterms:W3CDTF">2026-08-18T16:22:54Z</dcterms:modified>
</cp:coreProperties>
</file>