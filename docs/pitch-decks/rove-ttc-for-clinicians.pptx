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BBT (°C)</c:v>
                </c:pt>
              </c:strCache>
            </c:strRef>
          </c:tx>
          <c:spPr>
            <a:solidFill>
              <a:srgbClr val="5F7268"/>
            </a:solidFill>
            <a:ln w="31750" cap="flat">
              <a:solidFill>
                <a:srgbClr val="5F72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5F7268"/>
              </a:solidFill>
              <a:ln w="9525" cap="flat">
                <a:solidFill>
                  <a:srgbClr val="5F72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D1</c:v>
                  </c:pt>
                  <c:pt idx="1">
                    <c:v>D5</c:v>
                  </c:pt>
                  <c:pt idx="2">
                    <c:v>D9</c:v>
                  </c:pt>
                  <c:pt idx="3">
                    <c:v>D13</c:v>
                  </c:pt>
                  <c:pt idx="4">
                    <c:v>D15</c:v>
                  </c:pt>
                  <c:pt idx="5">
                    <c:v>D17</c:v>
                  </c:pt>
                  <c:pt idx="6">
                    <c:v>D19</c:v>
                  </c:pt>
                  <c:pt idx="7">
                    <c:v>D23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36.3</c:v>
                </c:pt>
                <c:pt idx="1">
                  <c:v>36.32</c:v>
                </c:pt>
                <c:pt idx="2">
                  <c:v>36.31</c:v>
                </c:pt>
                <c:pt idx="3">
                  <c:v>36.35</c:v>
                </c:pt>
                <c:pt idx="4">
                  <c:v>36.34</c:v>
                </c:pt>
                <c:pt idx="5">
                  <c:v>36.62</c:v>
                </c:pt>
                <c:pt idx="6">
                  <c:v>36.68</c:v>
                </c:pt>
                <c:pt idx="7">
                  <c:v>36.66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7F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.8"/>
          <c:min val="36.2"/>
        </c:scaling>
        <c:delete val="0"/>
        <c:axPos val="l"/>
        <c:majorGridlines>
          <c:spPr>
            <a:ln w="9525" cap="flat">
              <a:solidFill>
                <a:srgbClr val="E4E0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7F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5F726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8A7F72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Rove TTC Mode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fertility-tracking layer built for clinical handoff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engine, the report, the evidence, and what's still being built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Aditya Oswal  &amp;  Dr. Chaitanya Kalra  ·  Rove Health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between two appointments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8FA3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“Track it and come back.”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60720" y="16916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advice, with no structured way to do the tracking.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8A7F7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743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calendar apps assume 28 days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60720" y="27432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quietly apply that assumption to cycles that don’t run on it.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8FA3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794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without basis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60720" y="37947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predicted date is shown with confidence the underlying data never earned.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8A7F7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846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 to bring 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48463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arrives at her appointment with a memory of the last few weeks, not a log of them.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inputs, logged as they actually happen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1B1B1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8FA3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LH ovulation strips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band read, 0–4 (no line → darker than control), with test time and cycle day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1B1B1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057400"/>
            <a:ext cx="502920" cy="502920"/>
          </a:xfrm>
          <a:prstGeom prst="ellipse">
            <a:avLst/>
          </a:prstGeom>
          <a:solidFill>
            <a:srgbClr val="8FA39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Basal body temperature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6517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reading, plus wake time and sleep — both used to validate the reading itself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1B1B1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8FA3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Cervical mucus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type, appearance, and sensation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1B1B1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023360"/>
            <a:ext cx="502920" cy="502920"/>
          </a:xfrm>
          <a:prstGeom prst="ellipse">
            <a:avLst/>
          </a:prstGeom>
          <a:solidFill>
            <a:srgbClr val="8FA3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Disruptor tags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46177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Illness, alcohol, and NSAID / painkiller use — logged, never inferred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LOGIC, NOT A BLACK BOX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signals, an explicit priority — not an average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8FA396">
              <a:alpha val="12000"/>
            </a:srgbClr>
          </a:solidFill>
          <a:ln w="12700">
            <a:solidFill>
              <a:srgbClr val="8FA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72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LH surge  —  predicts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roughly 24–36 hours before ovulation.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72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BBT sustained rise  —  confirms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coverline-and-rise rule, applied after the fact (Sensiplan / TCOYF protocols) — the exact rule is on the next slide.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737360"/>
            <a:ext cx="55778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they agree → confidence: High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disagree → BBT’s date wins, confidence drops to Medium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971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 mucus alone can nudge confidence — it never confirms on its own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3520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estimate is labeled with its confidence and method — shown to the patient, not hidden.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three slides show the exact rules underneath — the actual thresholds coded into the engine, not a paraphrase.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BBT confirmation, precisely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1B1B1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3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coverline = highest of last 6 baseline readings  +  0.15°C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 between Sensiplan's ≥0.2°C threshold and TCOYF's ≥0.3°F (≈0.17°C) — not an arbitrary round number.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26261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346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6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rise confirmed = 3 readings ≥ coverline, within 5 calendar days  →  ovulation = rise start − 1 day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reading is excluded from baseline or rise detection if: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365760" cy="365760"/>
          </a:xfrm>
          <a:prstGeom prst="ellipse">
            <a:avLst/>
          </a:prstGeom>
          <a:solidFill>
            <a:srgbClr val="8A7F7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913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with an Alcohol or Illness tag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365760" cy="365760"/>
          </a:xfrm>
          <a:prstGeom prst="ellipse">
            <a:avLst/>
          </a:prstGeom>
          <a:solidFill>
            <a:srgbClr val="8A7F7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3708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under 4 hours (240 min)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365760" cy="365760"/>
          </a:xfrm>
          <a:prstGeom prst="ellipse">
            <a:avLst/>
          </a:prstGeom>
          <a:solidFill>
            <a:srgbClr val="8A7F7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828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time &gt; 90 min off her rolling average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3886200"/>
            <a:ext cx="46634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4114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 range enforced: 34–40°C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45720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outside this range are rejected outright, not averaged in.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LH surge detection, precisely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1B1B1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3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 baseline = median of her lowest third of all logged LH band readings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≥ 3 readings across her cycles; below that, a fixed floor (band 3 of 5) is used instead.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26261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346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6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surge = band ≥ floor  AND  band ≥ baseline + 2 grades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8FA396">
              <a:alpha val="12000"/>
            </a:srgbClr>
          </a:solidFill>
          <a:ln w="12700">
            <a:solidFill>
              <a:srgbClr val="8FA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49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72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personalize the baseline at all?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Persistently elevated LH is a hallmark of PCOS — a single population cutoff would either miss her surge or flag noise as one. Multiple peaks in a single cycle (common in PCOS) resolve to the latest date, not the first.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fertile window: sized to her, not the textbook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1B1B1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3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= 5 days + ⌈σ⌉      after = 1 day + ⌈σ/2⌉      (σ = her own cycle-length SD)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on purpose — sperm can survive several days, the egg roughly 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own recent cycle lengths, if ≥3 exist. Otherwise a population default of 4 days.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8803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429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never goes below 1.5 days, even for a very regular cycle.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28803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26261F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Refusal point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3429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&gt; 5 days → no window is drawn. Messaging switches to “test daily” instead of a guessed range.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range applied to every patient is a modeling choice, not a fact about her body. This is why it isn't one.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single-signal tracker vs. a combined-signal engine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53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single-signal tracker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Shows only what one OPK strip, or one BBT chart, says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Same window width for every user, every cycle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No confidence or method shown alongside the estimate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Nothing structured to hand a clinician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1B1B18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A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Rove's combined engine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5146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Reconciles LH + BBT with a stated priority when they disagree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32461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Window width adapts to her own cycle-length variability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9776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Every estimate carries a confidence level and a method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47091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 90-day structured report exports directly for a visit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TEXTBOOK CYCLES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patients hardest to serve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6F4EE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8A7F7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Anovulation flagged sooner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94960" y="196596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high-no-peak LH readings trigger a flag for PCOS patients, vs. 4 otherwise.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611880"/>
            <a:ext cx="502920" cy="502920"/>
          </a:xfrm>
          <a:prstGeom prst="ellipse">
            <a:avLst/>
          </a:prstGeom>
          <a:solidFill>
            <a:srgbClr val="8A7F7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3832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population cutoff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338328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baseline is personalized per patient — see slide 6 — rather than one number applied to everyone.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6F4EE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029200"/>
            <a:ext cx="502920" cy="502920"/>
          </a:xfrm>
          <a:prstGeom prst="ellipse">
            <a:avLst/>
          </a:prstGeom>
          <a:solidFill>
            <a:srgbClr val="8A7F7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8006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NSAID timing surfaced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94960" y="480060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Painkiller use logged within 3 days of the estimated ovulation window is flagged as worth discussing — a real, logged factor, never inferred.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estimate is versioned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26261F"/>
          </a:solidFill>
          <a:ln w="12700">
            <a:solidFill>
              <a:srgbClr val="8A7F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1B1B1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488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algorithm_version: "2026.08.16-lh-mucus-exclusions"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 tag is saved alongside every ovulation estimate — not just the estimate itself.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algorithm changes next month, this cycle's historical estimate keeps reading the way it did when it was made — it never silently updates to a new definition.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the moment you compare a report from March against one from October.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lands on your desk: the Health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9050">
            <a:solidFill>
              <a:srgbClr val="E4E0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REPORT  ·  90-DAY WINDOW  ·  82% DAYS LOGGED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267712"/>
            <a:ext cx="10424160" cy="0"/>
          </a:xfrm>
          <a:prstGeom prst="line">
            <a:avLst/>
          </a:prstGeom>
          <a:noFill/>
          <a:ln w="12700">
            <a:solidFill>
              <a:srgbClr val="E4E0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STATS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29 days  ·  range 26–34  ·  variation 6.1 days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3484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CYCLE SUMMARY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3484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 3 – Jul 31   Confirmed Jul 17   Combined   High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34840" y="3017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3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 4 – Jul 2    Anovulatory pattern   —   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3520440"/>
            <a:ext cx="10424160" cy="0"/>
          </a:xfrm>
          <a:prstGeom prst="line">
            <a:avLst/>
          </a:prstGeom>
          <a:noFill/>
          <a:ln w="12700">
            <a:solidFill>
              <a:srgbClr val="E4E0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BBT / OPK  ·  MOST RECENT CYCLE</a:t>
            </a:r>
            <a:endParaRPr lang="en-US" sz="10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777240" y="3931920"/>
          <a:ext cx="539496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640080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FLAGS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0080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Cycle-length SD ≥ 7 days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prior window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00684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(separate page)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006840" y="3931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Patient-facing guidance — kept apart from the flags above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sample — not a real patient record.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earns clinical trust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8FA3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Computed on-device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estimate is generated on her phone; nothing is uploaded to a third party or an AI service to produce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148840"/>
            <a:ext cx="502920" cy="502920"/>
          </a:xfrm>
          <a:prstGeom prst="ellipse">
            <a:avLst/>
          </a:prstGeom>
          <a:solidFill>
            <a:srgbClr val="8FA396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calls itself diagnostic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states plainly: “this is an estimate, not something observed.”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148840"/>
            <a:ext cx="502920" cy="502920"/>
          </a:xfrm>
          <a:prstGeom prst="ellipse">
            <a:avLst/>
          </a:prstGeom>
          <a:solidFill>
            <a:srgbClr val="8FA396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5820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back to you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58200" y="35204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recurring pattern is framed as something to raise with her doctor — not something the app resolves for her.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DATA-SECURITY QUESTION YOU'LL ASK ANYWAY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privacy, specifically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6F4EE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8FA3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Per-user database access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257800" y="1965960"/>
            <a:ext cx="6172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TTC table enforces row-level security in Postgres — a query can only ever return rows where auth.uid() matches that record's own user, at the database layer, not just in app code.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8FA39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4747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leaves the phone by default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257800" y="3474720"/>
            <a:ext cx="6172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Report is generated on-device and handed off through the phone's own share sheet — the app itself does not upload it anywhere.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6F4EE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257800"/>
            <a:ext cx="502920" cy="502920"/>
          </a:xfrm>
          <a:prstGeom prst="ellipse">
            <a:avLst/>
          </a:prstGeom>
          <a:solidFill>
            <a:srgbClr val="8FA3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9834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in transit and at rest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257800" y="4983480"/>
            <a:ext cx="6172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Rove's stated privacy policy. Noted here as documented policy, not an independent third-party security audit.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PLAINLY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still being validated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26261F"/>
          </a:solidFill>
          <a:ln w="12700">
            <a:solidFill>
              <a:srgbClr val="8A7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848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LH strip's band-to-concentration grading is still being confirmed against real kits.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it as provisional — not yet a finished clinical instrument.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26261F"/>
          </a:solidFill>
          <a:ln w="12700">
            <a:solidFill>
              <a:srgbClr val="8A7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8404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test start day defaults to cycle day 10 in the app today.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start day, based on her own cycle history, is planned but not yet built.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5212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footnote we'd rather you not see. Rove's products are built the same way — stating the limits of the evidence on the page, rather than rounding up.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self-read band to a measured concentration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B889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Camera-read LH / FSH strips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technical plan exists for the phone's camera to read hormone strips directly — a dedicated readings table, on-device plus server-side image reading, and a weighted multi-signal engine that gives the strip reading real weight alongside BBT and mucus.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8FA396">
              <a:alpha val="12000"/>
            </a:srgbClr>
          </a:solidFill>
          <a:ln w="12700">
            <a:solidFill>
              <a:srgbClr val="8FA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1605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72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clinically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5720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graded band read is still a self-read judgment call. A measured concentration turns inference into measurement — raising the confidence ceiling on every estimate built on top of 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ROOM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your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8FA39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can arrive with 90 days of structured data instead of a memory of the last few weeks.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8A7F7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2004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 anovulatory pattern, or a NSAID-timing issue, can surface between visits — not only at the next one.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8FA396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4805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sharpen clinical judgment, not replace it — every output is an estimate for you to weigh, not a verdict.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645920"/>
            <a:ext cx="5029200" cy="5029200"/>
          </a:xfrm>
          <a:prstGeom prst="ellipse">
            <a:avLst/>
          </a:prstGeom>
          <a:solidFill>
            <a:srgbClr val="5F726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FIND THE RIGHT FIT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work together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26261F"/>
          </a:solidFill>
          <a:ln w="12700">
            <a:solidFill>
              <a:srgbClr val="8A7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 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patients who are actively trying to conceive, as a structured way to track between visits.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26261F"/>
          </a:solidFill>
          <a:ln w="12700">
            <a:solidFill>
              <a:srgbClr val="8A7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pilot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28346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small patient cohort, and see the Health Report land in real appointments.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96596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26261F"/>
          </a:solidFill>
          <a:ln w="12700">
            <a:solidFill>
              <a:srgbClr val="8A7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formally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0" y="28346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or IVF-center partnership, with structured data handoff built around your workflow.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Aditya Oswal  &amp;  Dr. Chaitanya Kalra  ·  Rove Health  ·  team@rovehealth.in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Rove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Rove TTC Mode for Clinicians</dc:title>
  <dc:subject>PptxGenJS Presentation</dc:subject>
  <dc:creator>Rove Health</dc:creator>
  <cp:lastModifiedBy>Rove Health</cp:lastModifiedBy>
  <cp:revision>1</cp:revision>
  <dcterms:created xsi:type="dcterms:W3CDTF">2026-08-16T17:32:25Z</dcterms:created>
  <dcterms:modified xsi:type="dcterms:W3CDTF">2026-08-16T17:32:25Z</dcterms:modified>
</cp:coreProperties>
</file>